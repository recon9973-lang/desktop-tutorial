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577501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4173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80">
                <a:solidFill>
                  <a:srgbClr val="2997FF"/>
                </a:solidFill>
                <a:latin typeface="Pretendard"/>
              </a:rPr>
              <a:t>MARKETING WRITING · GEO / AEO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110578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spc="-40">
                <a:solidFill>
                  <a:srgbClr val="F5F5F7"/>
                </a:solidFill>
                <a:latin typeface="Pretendard"/>
              </a:rPr>
              <a:t>AI가 인용하는
</a:t>
            </a:r>
            <a:r>
              <a:rPr sz="4600" b="1" spc="-40">
                <a:solidFill>
                  <a:srgbClr val="F5F5F7"/>
                </a:solidFill>
                <a:latin typeface="Pretendard"/>
              </a:rPr>
              <a:t>마케팅 글쓰기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1A1A6"/>
                </a:solidFill>
                <a:latin typeface="Pretendard"/>
              </a:rPr>
              <a:t>검색의 주체가 사람에서 AI로 이동했습니다. 이제 우리의 글은 ‘클릭’이 아니라 </a:t>
            </a:r>
            <a:r>
              <a:rPr sz="1500" b="1">
                <a:solidFill>
                  <a:srgbClr val="F5F5F7"/>
                </a:solidFill>
                <a:latin typeface="Pretendard"/>
              </a:rPr>
              <a:t>생성형 AI가 답변의 근거로 인용하도록</a:t>
            </a:r>
            <a:r>
              <a:rPr sz="1500" b="0">
                <a:solidFill>
                  <a:srgbClr val="A1A1A6"/>
                </a:solidFill>
                <a:latin typeface="Pretendard"/>
              </a:rPr>
              <a:t> 설계되어야 합니다. 마케팅 실무자를 위한 12장의 실전 명세서.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70916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09160"/>
            <a:ext cx="17647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For. 마케팅 실무자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8024" y="4709160"/>
            <a:ext cx="3026664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78024" y="4709160"/>
            <a:ext cx="30266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2997FF"/>
                </a:solidFill>
                <a:latin typeface="Pretendard"/>
              </a:rPr>
              <a:t>12 Slides · High Density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50992" y="4709160"/>
            <a:ext cx="2290572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0992" y="4709160"/>
            <a:ext cx="22905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2997FF"/>
                </a:solidFill>
                <a:latin typeface="Pretendard"/>
              </a:rPr>
              <a:t>19:9 · Pretendard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066CC"/>
                </a:solidFill>
                <a:latin typeface="Pretendard"/>
              </a:rPr>
              <a:t>01.  </a:t>
            </a:r>
            <a:r>
              <a:rPr sz="1000" b="1">
                <a:solidFill>
                  <a:srgbClr val="6E6E73"/>
                </a:solidFill>
                <a:latin typeface="Pretendard"/>
              </a:rPr>
              <a:t>Overview · 패러다임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6E6E73"/>
                </a:solidFill>
                <a:latin typeface="Pretendard"/>
              </a:rPr>
              <a:t>[ Page 01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066CC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1D1D1F"/>
                </a:solidFill>
                <a:latin typeface="Pretendard"/>
              </a:rPr>
              <a:t>검색은 ‘파란 링크 10개’에서 ‘하나의 AI 답변’으로 압축되었습니다. 이제 노출 기준은 키워드 빈도가 아니라 </a:t>
            </a:r>
            <a:r>
              <a:rPr sz="2200" b="1" spc="-30">
                <a:solidFill>
                  <a:srgbClr val="0066CC"/>
                </a:solidFill>
                <a:latin typeface="Pretendard"/>
              </a:rPr>
              <a:t>AI가 신뢰하고 인용하는 정보의 밀도</a:t>
            </a:r>
            <a:r>
              <a:rPr sz="2200" b="1" spc="-30">
                <a:solidFill>
                  <a:srgbClr val="1D1D1F"/>
                </a:solidFill>
                <a:latin typeface="Pretendard"/>
              </a:rPr>
              <a:t>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675120" cy="2322576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2468880"/>
                <a:gridCol w="283464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Legacy SEO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AI 검색 (GEO/AEO)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평가 단위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페이지·키워드 빈도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문장·문단 임베딩(의미 벡터)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노출 형태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검색결과 목록 클릭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답변 본문 + 출처 인용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승리 조건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순위 상위 진입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‘인용되는 출처’가 되는 것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핵심 자산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키워드·백링크 수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전문성·구조·신뢰(E-E-A-T)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16368" y="2103120"/>
            <a:ext cx="4108399" cy="27432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7536" y="2249424"/>
            <a:ext cx="37060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6E6E73"/>
                </a:solidFill>
                <a:latin typeface="Pretendard"/>
              </a:rPr>
              <a:t>정보 탐색 경로의 무게중심 이동 (개념도)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7536" y="2578608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전통 검색 클릭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53144" y="2596896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53144" y="2596896"/>
            <a:ext cx="862772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6E6E73"/>
                </a:solidFill>
                <a:latin typeface="Pretendard"/>
              </a:rPr>
              <a:t>감소세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2999232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AI 답변 내 소비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3017520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53144" y="3017520"/>
            <a:ext cx="1907182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급상승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3419856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‘출처 클릭’ 가치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3438144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3144" y="3438144"/>
            <a:ext cx="1634727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고가치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D1D1F"/>
                </a:solidFill>
                <a:latin typeface="Pretendard"/>
              </a:rPr>
              <a:t>본문 분석. </a:t>
            </a:r>
            <a:r>
              <a:rPr sz="950" b="0">
                <a:solidFill>
                  <a:srgbClr val="6E6E73"/>
                </a:solidFill>
                <a:latin typeface="Pretendard"/>
              </a:rPr>
              <a:t>사용자는 ‘검색’ 대신 ‘질문’을 합니다. AI는 여러 출처를 종합해 답을 만들고 근거를 인용 링크로 노출합니다. 즉 </a:t>
            </a:r>
            <a:r>
              <a:rPr sz="950" b="1">
                <a:solidFill>
                  <a:srgbClr val="1D1D1F"/>
                </a:solidFill>
                <a:latin typeface="Pretendard"/>
              </a:rPr>
              <a:t>인용되지 못한 콘텐츠는 존재하지 않는 것</a:t>
            </a:r>
            <a:r>
              <a:rPr sz="950" b="0">
                <a:solidFill>
                  <a:srgbClr val="6E6E73"/>
                </a:solidFill>
                <a:latin typeface="Pretendard"/>
              </a:rPr>
              <a:t>과 같습니다. 목표는 ‘상위 노출’에서 ‘AI의 1차 인용 출처’로 재정의됩니다.</a:t>
            </a:r>
            <a:r>
              <a:rPr sz="950" b="1">
                <a:solidFill>
                  <a:srgbClr val="0066CC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066CC"/>
                </a:solidFill>
                <a:latin typeface="Pretendard"/>
              </a:rPr>
              <a:t>02.  </a:t>
            </a:r>
            <a:r>
              <a:rPr sz="1000" b="1">
                <a:solidFill>
                  <a:srgbClr val="6E6E73"/>
                </a:solidFill>
                <a:latin typeface="Pretendard"/>
              </a:rPr>
              <a:t>How It Works · AI의 평가 메커니즘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6E6E73"/>
                </a:solidFill>
                <a:latin typeface="Pretendard"/>
              </a:rPr>
              <a:t>[ Page 02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066CC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1D1D1F"/>
                </a:solidFill>
                <a:latin typeface="Pretendard"/>
              </a:rPr>
              <a:t>AI는 글을 ‘문장 단위로 벡터화(임베딩)’해 이해합니다. 따라서 </a:t>
            </a:r>
            <a:r>
              <a:rPr sz="2200" b="1" spc="-30">
                <a:solidFill>
                  <a:srgbClr val="0066CC"/>
                </a:solidFill>
                <a:latin typeface="Pretendard"/>
              </a:rPr>
              <a:t>신뢰도 · 구조적 명료성 · 추출 가능성</a:t>
            </a:r>
            <a:r>
              <a:rPr sz="2200" b="1" spc="-30">
                <a:solidFill>
                  <a:srgbClr val="1D1D1F"/>
                </a:solidFill>
                <a:latin typeface="Pretendard"/>
              </a:rPr>
              <a:t> 3가지를 충족하는 문장이 인용됩니다.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210312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1773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1D1D1F"/>
                </a:solidFill>
                <a:latin typeface="Pretendard"/>
              </a:rPr>
              <a:t>신뢰도 (Trust)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77393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출처·저자·데이터가 명시된 문장. 모델은 검증 가능한 주장을 우선 채택합니다.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2103120"/>
            <a:ext cx="210312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70048"/>
            <a:ext cx="1773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1D1D1F"/>
                </a:solidFill>
                <a:latin typeface="Pretendard"/>
              </a:rPr>
              <a:t>명료성 (Clarity)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99232"/>
            <a:ext cx="177393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제목·표·리스트로 의미 경계가 또렷한 구조. 파편이 아닌 ‘완결된 답’.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2103120"/>
            <a:ext cx="210312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0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670048"/>
            <a:ext cx="1773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1D1D1F"/>
                </a:solidFill>
                <a:latin typeface="Pretendard"/>
              </a:rPr>
              <a:t>추출성 (Extract)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99232"/>
            <a:ext cx="177393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앞뒤 맥락 없이도 단독 인용 가능한 자기완결형 문장.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16368" y="2103120"/>
            <a:ext cx="4108399" cy="27432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17536" y="2249424"/>
            <a:ext cx="37060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6E6E73"/>
                </a:solidFill>
                <a:latin typeface="Pretendard"/>
              </a:rPr>
              <a:t>인용 선택 가중치 (Retrieval 우선순위)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2578608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의미밀도·전문성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2596896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53144" y="2596896"/>
            <a:ext cx="2088818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9.2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999232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구조화 정도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53144" y="3017520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53144" y="3017520"/>
            <a:ext cx="1952591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8.6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3419856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출처·신뢰 신호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53144" y="3438144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53144" y="3438144"/>
            <a:ext cx="1816364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8.0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84048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키워드 단순빈도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53144" y="3858768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53144" y="3858768"/>
            <a:ext cx="544909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6E6E73"/>
                </a:solidFill>
                <a:latin typeface="Pretendard"/>
              </a:rPr>
              <a:t>2.4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D1D1F"/>
                </a:solidFill>
                <a:latin typeface="Pretendard"/>
              </a:rPr>
              <a:t>핵심 정의 — 임베딩(Embedding). </a:t>
            </a:r>
            <a:r>
              <a:rPr sz="950" b="0">
                <a:solidFill>
                  <a:srgbClr val="6E6E73"/>
                </a:solidFill>
                <a:latin typeface="Pretendard"/>
              </a:rPr>
              <a:t>단어·문장을 의미 벡터로 변환한 표현입니다. 키워드를 ‘몇 번’ 썼는지가 아니라 </a:t>
            </a:r>
            <a:r>
              <a:rPr sz="950" b="1">
                <a:solidFill>
                  <a:srgbClr val="1D1D1F"/>
                </a:solidFill>
                <a:latin typeface="Pretendard"/>
              </a:rPr>
              <a:t>주제에 대해 얼마나 깊고 일관된 의미를 담았는지</a:t>
            </a:r>
            <a:r>
              <a:rPr sz="950" b="0">
                <a:solidFill>
                  <a:srgbClr val="6E6E73"/>
                </a:solidFill>
                <a:latin typeface="Pretendard"/>
              </a:rPr>
              <a:t>가 평가됩니다. 그래서 반복형 글은 인용에서 탈락합니다.</a:t>
            </a:r>
            <a:r>
              <a:rPr sz="950" b="1">
                <a:solidFill>
                  <a:srgbClr val="0066CC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997FF"/>
                </a:solidFill>
                <a:latin typeface="Pretendard"/>
              </a:rPr>
              <a:t>03.  </a:t>
            </a:r>
            <a:r>
              <a:rPr sz="1000" b="1">
                <a:solidFill>
                  <a:srgbClr val="A1A1A6"/>
                </a:solidFill>
                <a:latin typeface="Pretendard"/>
              </a:rPr>
              <a:t>Structure · 역피라미드 즉답형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A1A1A6"/>
                </a:solidFill>
                <a:latin typeface="Pretendard"/>
              </a:rPr>
              <a:t>[ Page 03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3A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997FF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F5F5F7"/>
                </a:solidFill>
                <a:latin typeface="Pretendard"/>
              </a:rPr>
              <a:t>결론을 맨 앞에 두는 </a:t>
            </a:r>
            <a:r>
              <a:rPr sz="2200" b="1" spc="-30">
                <a:solidFill>
                  <a:srgbClr val="2997FF"/>
                </a:solidFill>
                <a:latin typeface="Pretendard"/>
              </a:rPr>
              <a:t>역피라미드(즉답형) 구조</a:t>
            </a:r>
            <a:r>
              <a:rPr sz="2200" b="1" spc="-30">
                <a:solidFill>
                  <a:srgbClr val="F5F5F7"/>
                </a:solidFill>
                <a:latin typeface="Pretendard"/>
              </a:rPr>
              <a:t>를 쓰세요. AI는 첫 문단에서 답을 찾아 그 문장을 그대로 인용합니다.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3236976" cy="2286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9424"/>
            <a:ext cx="2871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A1A1A6"/>
                </a:solidFill>
                <a:latin typeface="Pretendard"/>
              </a:rPr>
              <a:t>✕ 지루한 서론형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78608"/>
            <a:ext cx="287121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1A1A6"/>
                </a:solidFill>
                <a:latin typeface="Pretendard"/>
              </a:rPr>
              <a:t>“SEO는 매우 복잡하며 알고리즘·경쟁도·환경 등 변수에 따라 결과가 판이하게 달라질 수 있어 단정하기 어렵지만…”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2103120"/>
            <a:ext cx="3236976" cy="2286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249424"/>
            <a:ext cx="2871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2997FF"/>
                </a:solidFill>
                <a:latin typeface="Pretendard"/>
              </a:rPr>
              <a:t>✓ 즉답·수치화형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2578608"/>
            <a:ext cx="287121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1A1A6"/>
                </a:solidFill>
                <a:latin typeface="Pretendard"/>
              </a:rPr>
              <a:t>“SEO 효과는 일반적으로 3~6개월 후 나타납니다.” 신규 사이트는 6~12개월, 기존 사이트 개선은 2~4개월 내 확인됩니다.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516368" y="2103120"/>
          <a:ext cx="3931920" cy="2286000"/>
        </p:xfrm>
        <a:graphic>
          <a:graphicData uri="http://schemas.openxmlformats.org/drawingml/2006/table">
            <a:tbl>
              <a:tblPr firstRow="0" bandRow="0"/>
              <a:tblGrid>
                <a:gridCol w="1417320"/>
                <a:gridCol w="25146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A1A1A6"/>
                          </a:solidFill>
                          <a:latin typeface="Pretendard"/>
                        </a:rPr>
                        <a:t>작성 원칙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A1A1A6"/>
                          </a:solidFill>
                          <a:latin typeface="Pretendard"/>
                        </a:rPr>
                        <a:t>실행 지침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F5F5F7"/>
                          </a:solidFill>
                          <a:latin typeface="Pretendard"/>
                        </a:rPr>
                        <a:t>완결 문장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1A1A6"/>
                          </a:solidFill>
                          <a:latin typeface="Pretendard"/>
                        </a:rPr>
                        <a:t>첫 문장에 주어+목적어+서술어 모두 담아 단독 인용 가능하게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F5F5F7"/>
                          </a:solidFill>
                          <a:latin typeface="Pretendard"/>
                        </a:rPr>
                        <a:t>정량 데이터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1A1A6"/>
                          </a:solidFill>
                          <a:latin typeface="Pretendard"/>
                        </a:rPr>
                        <a:t>‘빠르게’ 대신 ‘평균 3개월’, ‘약 30%’로 명시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F5F5F7"/>
                          </a:solidFill>
                          <a:latin typeface="Pretendard"/>
                        </a:rPr>
                        <a:t>확정 어미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1A1A6"/>
                          </a:solidFill>
                          <a:latin typeface="Pretendard"/>
                        </a:rPr>
                        <a:t>추측형 배제, ‘~입니다/~습니다’ 단정형 종결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3A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F5F5F7"/>
                </a:solidFill>
                <a:latin typeface="Pretendard"/>
              </a:rPr>
              <a:t>구조 공식 — 결론 → 본문 → 배경. </a:t>
            </a:r>
            <a:r>
              <a:rPr sz="950" b="0">
                <a:solidFill>
                  <a:srgbClr val="A1A1A6"/>
                </a:solidFill>
                <a:latin typeface="Pretendard"/>
              </a:rPr>
              <a:t>첫 문장·첫 단어를 핵심 키워드로 명료하게 시작하세요. AI는 ‘질문에 대한 직접적인 답 한 문장’을 가장 선호하며, 서론이 길수록 추출 대상에서 멀어집니다.</a:t>
            </a:r>
            <a:r>
              <a:rPr sz="950" b="1">
                <a:solidFill>
                  <a:srgbClr val="2997FF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066CC"/>
                </a:solidFill>
                <a:latin typeface="Pretendard"/>
              </a:rPr>
              <a:t>04.  </a:t>
            </a:r>
            <a:r>
              <a:rPr sz="1000" b="1">
                <a:solidFill>
                  <a:srgbClr val="6E6E73"/>
                </a:solidFill>
                <a:latin typeface="Pretendard"/>
              </a:rPr>
              <a:t>Format · 대화형 Q&amp;A ·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6E6E73"/>
                </a:solidFill>
                <a:latin typeface="Pretendard"/>
              </a:rPr>
              <a:t>[ Page 04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066CC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1D1D1F"/>
                </a:solidFill>
                <a:latin typeface="Pretendard"/>
              </a:rPr>
              <a:t>실제 고객의 자연어 질문을 </a:t>
            </a:r>
            <a:r>
              <a:rPr sz="2200" b="1" spc="-30">
                <a:solidFill>
                  <a:srgbClr val="0066CC"/>
                </a:solidFill>
                <a:latin typeface="Pretendard"/>
              </a:rPr>
              <a:t>소제목(H3)으로 삼고</a:t>
            </a:r>
            <a:r>
              <a:rPr sz="2200" b="1" spc="-30">
                <a:solidFill>
                  <a:srgbClr val="1D1D1F"/>
                </a:solidFill>
                <a:latin typeface="Pretendard"/>
              </a:rPr>
              <a:t> 바로 아래 답을 배치하세요. 한 주제에 5~7개 질문을 묶으면 ‘권위 허브’가 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5669280" cy="2276856"/>
        </p:xfrm>
        <a:graphic>
          <a:graphicData uri="http://schemas.openxmlformats.org/drawingml/2006/table">
            <a:tbl>
              <a:tblPr firstRow="0" bandRow="0"/>
              <a:tblGrid>
                <a:gridCol w="640080"/>
                <a:gridCol w="3657600"/>
                <a:gridCol w="13716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#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연관 질문(H3) 예시 — “마케팅 자동화”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Q1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마케팅 자동화란 무엇인가요?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정의 확보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Q2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도구 비용은 얼마인가요?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구매 의도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Q3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선택 기준은 무엇인가요?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비교 인용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Q4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구축 기간은 얼마나 걸리나요?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실무 디테일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Q5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ROI는 어떻게 측정하나요?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의사결정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16368" y="2103120"/>
            <a:ext cx="4108399" cy="27432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7536" y="2249424"/>
            <a:ext cx="37060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6E6E73"/>
                </a:solidFill>
                <a:latin typeface="Pretendard"/>
              </a:rPr>
              <a:t>질문 묶음 개수 → 권위 허브 인식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7536" y="2578608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1~2개 단편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53144" y="2596896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53144" y="2596896"/>
            <a:ext cx="681136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6E6E73"/>
                </a:solidFill>
                <a:latin typeface="Pretendard"/>
              </a:rPr>
              <a:t>파편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2999232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3~4개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3017520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53144" y="3017520"/>
            <a:ext cx="1362273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보통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3419856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5~7개 클러스터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3438144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3144" y="3438144"/>
            <a:ext cx="2156932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Authority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D1D1F"/>
                </a:solidFill>
                <a:latin typeface="Pretendard"/>
              </a:rPr>
              <a:t>왜 효과적인가. </a:t>
            </a:r>
            <a:r>
              <a:rPr sz="950" b="0">
                <a:solidFill>
                  <a:srgbClr val="6E6E73"/>
                </a:solidFill>
                <a:latin typeface="Pretendard"/>
              </a:rPr>
              <a:t>AI 검색 사용자는 구어체 긴 질문을 입력합니다. AI는 답의 출처를 매칭해야 하므로 </a:t>
            </a:r>
            <a:r>
              <a:rPr sz="950" b="1">
                <a:solidFill>
                  <a:srgbClr val="1D1D1F"/>
                </a:solidFill>
                <a:latin typeface="Pretendard"/>
              </a:rPr>
              <a:t>이미 질의응답으로 정돈된 콘텐츠</a:t>
            </a:r>
            <a:r>
              <a:rPr sz="950" b="0">
                <a:solidFill>
                  <a:srgbClr val="6E6E73"/>
                </a:solidFill>
                <a:latin typeface="Pretendard"/>
              </a:rPr>
              <a:t>를 훨씬 높게 인용합니다. FAQ 스키마 마크업을 더하면 매칭 효율이 올라갑니다.</a:t>
            </a:r>
            <a:r>
              <a:rPr sz="950" b="1">
                <a:solidFill>
                  <a:srgbClr val="0066CC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066CC"/>
                </a:solidFill>
                <a:latin typeface="Pretendard"/>
              </a:rPr>
              <a:t>05.  </a:t>
            </a:r>
            <a:r>
              <a:rPr sz="1000" b="1">
                <a:solidFill>
                  <a:srgbClr val="6E6E73"/>
                </a:solidFill>
                <a:latin typeface="Pretendard"/>
              </a:rPr>
              <a:t>Sentence Craft · 인용되는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6E6E73"/>
                </a:solidFill>
                <a:latin typeface="Pretendard"/>
              </a:rPr>
              <a:t>[ Page 05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066CC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1D1D1F"/>
                </a:solidFill>
                <a:latin typeface="Pretendard"/>
              </a:rPr>
              <a:t>AI가 복사해 붙일 수 있는 문장은 </a:t>
            </a:r>
            <a:r>
              <a:rPr sz="2200" b="1" spc="-30">
                <a:solidFill>
                  <a:srgbClr val="0066CC"/>
                </a:solidFill>
                <a:latin typeface="Pretendard"/>
              </a:rPr>
              <a:t>‘맥락 없이도 홀로 완결되는’</a:t>
            </a:r>
            <a:r>
              <a:rPr sz="2200" b="1" spc="-30">
                <a:solidFill>
                  <a:srgbClr val="1D1D1F"/>
                </a:solidFill>
                <a:latin typeface="Pretendard"/>
              </a:rPr>
              <a:t> 문장입니다. 대명사·생략을 줄이고 주체와 수치를 문장 안에 담으세요.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3236976" cy="219456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9424"/>
            <a:ext cx="2871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6E6E73"/>
                </a:solidFill>
                <a:latin typeface="Pretendard"/>
              </a:rPr>
              <a:t>✕ 맥락 의존 (인용 불가)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78608"/>
            <a:ext cx="28712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“그것은 보통 그 정도면 충분히 빠른 편이고, 위에서 말한 방식대로 하면 대체로 잘 됩니다.”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2103120"/>
            <a:ext cx="3236976" cy="219456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249424"/>
            <a:ext cx="2871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0066CC"/>
                </a:solidFill>
                <a:latin typeface="Pretendard"/>
              </a:rPr>
              <a:t>✓ 자기완결 (인용 가능)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2578608"/>
            <a:ext cx="28712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“병원 블로그 콘텐츠는 발행 후 평균 4~8주에 검색 유입이 발생하며, 정보성 글이 후기성 글보다 인용률이 높습니다.”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516368" y="2103120"/>
          <a:ext cx="3749040" cy="2359152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100584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인용 가능 문장 체크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필수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주어(무엇이)가 문장 안에 있는가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필수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구체 수치·기간·범위가 있는가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필수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‘이것/그것/위 내용’ 대명사를 뺐는가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필수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한 문장 = 하나의 사실인가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권장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D1D1F"/>
                </a:solidFill>
                <a:latin typeface="Pretendard"/>
              </a:rPr>
              <a:t>설계 원칙. </a:t>
            </a:r>
            <a:r>
              <a:rPr sz="950" b="0">
                <a:solidFill>
                  <a:srgbClr val="6E6E73"/>
                </a:solidFill>
                <a:latin typeface="Pretendard"/>
              </a:rPr>
              <a:t>AI는 문단에서 ‘인용 스니펫’을 잘라냅니다. 잘린 문장이 단독으로 말이 되어야 인용됩니다. </a:t>
            </a:r>
            <a:r>
              <a:rPr sz="950" b="1">
                <a:solidFill>
                  <a:srgbClr val="1D1D1F"/>
                </a:solidFill>
                <a:latin typeface="Pretendard"/>
              </a:rPr>
              <a:t>정의문·수치문·단계문</a:t>
            </a:r>
            <a:r>
              <a:rPr sz="950" b="0">
                <a:solidFill>
                  <a:srgbClr val="6E6E73"/>
                </a:solidFill>
                <a:latin typeface="Pretendard"/>
              </a:rPr>
              <a:t>이 가장 잘 추출되며, 한 문장에 여러 주장을 욱여넣으면 정확도가 떨어집니다.</a:t>
            </a:r>
            <a:r>
              <a:rPr sz="950" b="1">
                <a:solidFill>
                  <a:srgbClr val="0066CC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997FF"/>
                </a:solidFill>
                <a:latin typeface="Pretendard"/>
              </a:rPr>
              <a:t>06.  </a:t>
            </a:r>
            <a:r>
              <a:rPr sz="1000" b="1">
                <a:solidFill>
                  <a:srgbClr val="A1A1A6"/>
                </a:solidFill>
                <a:latin typeface="Pretendard"/>
              </a:rPr>
              <a:t>Evidence · 데이터 · 출처 · 통계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A1A1A6"/>
                </a:solidFill>
                <a:latin typeface="Pretendard"/>
              </a:rPr>
              <a:t>[ Page 06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3A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997FF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F5F5F7"/>
                </a:solidFill>
                <a:latin typeface="Pretendard"/>
              </a:rPr>
              <a:t>AI는 </a:t>
            </a:r>
            <a:r>
              <a:rPr sz="2200" b="1" spc="-30">
                <a:solidFill>
                  <a:srgbClr val="2997FF"/>
                </a:solidFill>
                <a:latin typeface="Pretendard"/>
              </a:rPr>
              <a:t>숫자·출처·인용을 신뢰의 증거</a:t>
            </a:r>
            <a:r>
              <a:rPr sz="2200" b="1" spc="-30">
                <a:solidFill>
                  <a:srgbClr val="F5F5F7"/>
                </a:solidFill>
                <a:latin typeface="Pretendard"/>
              </a:rPr>
              <a:t>로 읽습니다. 주장 뒤에는 반드시 통계·표·출처를 붙여 ‘검증 가능한 문장’으로 만드세요.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spc="-30">
                <a:solidFill>
                  <a:srgbClr val="2997FF"/>
                </a:solidFill>
                <a:latin typeface="Pretendard"/>
              </a:rPr>
              <a:t>+40%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5234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통계·인용 추가 시 생성형 답변 내 가시성 상승 (GEO 연구 보고 범위·예시)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1488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spc="-30">
                <a:solidFill>
                  <a:srgbClr val="2997FF"/>
                </a:solidFill>
                <a:latin typeface="Pretendard"/>
              </a:rPr>
              <a:t>3종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75234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가장 잘 인용되는 근거: ①통계 ②전문가 인용 ③1차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21488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spc="-30">
                <a:solidFill>
                  <a:srgbClr val="2997FF"/>
                </a:solidFill>
                <a:latin typeface="Pretendard"/>
              </a:rPr>
              <a:t>1차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275234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자체 실측·조사 데이터는 인터넷에 없어 인용 우선순위 최상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3401568"/>
          <a:ext cx="7315200" cy="1463040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3017520"/>
                <a:gridCol w="31089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A1A1A6"/>
                          </a:solidFill>
                          <a:latin typeface="Pretendard"/>
                        </a:rPr>
                        <a:t>근거 유형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A1A1A6"/>
                          </a:solidFill>
                          <a:latin typeface="Pretendard"/>
                        </a:rPr>
                        <a:t>약한 표현 (지양)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A1A1A6"/>
                          </a:solidFill>
                          <a:latin typeface="Pretendard"/>
                        </a:rPr>
                        <a:t>강한 표현 (지향)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F5F5F7"/>
                          </a:solidFill>
                          <a:latin typeface="Pretendard"/>
                        </a:rPr>
                        <a:t>속도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1A1A6"/>
                          </a:solidFill>
                          <a:latin typeface="Pretendard"/>
                        </a:rPr>
                        <a:t>“금방 효과 납니다”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997FF"/>
                          </a:solidFill>
                          <a:latin typeface="Pretendard"/>
                        </a:rPr>
                        <a:t>“평균 3개월 내 유입 발생”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F5F5F7"/>
                          </a:solidFill>
                          <a:latin typeface="Pretendard"/>
                        </a:rPr>
                        <a:t>규모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1A1A6"/>
                          </a:solidFill>
                          <a:latin typeface="Pretendard"/>
                        </a:rPr>
                        <a:t>“많은 고객이 만족”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997FF"/>
                          </a:solidFill>
                          <a:latin typeface="Pretendard"/>
                        </a:rPr>
                        <a:t>“재방문율 30% 개선(자체 집계)”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F5F5F7"/>
                          </a:solidFill>
                          <a:latin typeface="Pretendard"/>
                        </a:rPr>
                        <a:t>출처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1A1A6"/>
                          </a:solidFill>
                          <a:latin typeface="Pretendard"/>
                        </a:rPr>
                        <a:t>출처 없음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997FF"/>
                          </a:solidFill>
                          <a:latin typeface="Pretendard"/>
                        </a:rPr>
                        <a:t>기관·연도 명시 + 표 첨부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3A3A3D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3A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F5F5F7"/>
                </a:solidFill>
                <a:latin typeface="Pretendard"/>
              </a:rPr>
              <a:t>주의. </a:t>
            </a:r>
            <a:r>
              <a:rPr sz="950" b="0">
                <a:solidFill>
                  <a:srgbClr val="A1A1A6"/>
                </a:solidFill>
                <a:latin typeface="Pretendard"/>
              </a:rPr>
              <a:t>수치는 반드시 출처·연도와 함께 제시하고, 미확인 숫자는 ‘자체 집계·추정치’로 표기하세요. 근거 없는 과장은 신뢰성 점수를 깎습니다. 외부 권위 매체의 브랜드 인용을 확보하는 것도 핵심 자산입니다.</a:t>
            </a:r>
            <a:r>
              <a:rPr sz="950" b="1">
                <a:solidFill>
                  <a:srgbClr val="2997FF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066CC"/>
                </a:solidFill>
                <a:latin typeface="Pretendard"/>
              </a:rPr>
              <a:t>07.  </a:t>
            </a:r>
            <a:r>
              <a:rPr sz="1000" b="1">
                <a:solidFill>
                  <a:srgbClr val="6E6E73"/>
                </a:solidFill>
                <a:latin typeface="Pretendard"/>
              </a:rPr>
              <a:t>Authority · E-E-A-T 강화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6E6E73"/>
                </a:solidFill>
                <a:latin typeface="Pretendard"/>
              </a:rPr>
              <a:t>[ Page 07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066CC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1D1D1F"/>
                </a:solidFill>
                <a:latin typeface="Pretendard"/>
              </a:rPr>
              <a:t>AI는 Google의 </a:t>
            </a:r>
            <a:r>
              <a:rPr sz="2200" b="1" spc="-30">
                <a:solidFill>
                  <a:srgbClr val="0066CC"/>
                </a:solidFill>
                <a:latin typeface="Pretendard"/>
              </a:rPr>
              <a:t>E-E-A-T</a:t>
            </a:r>
            <a:r>
              <a:rPr sz="2200" b="1" spc="-30">
                <a:solidFill>
                  <a:srgbClr val="1D1D1F"/>
                </a:solidFill>
                <a:latin typeface="Pretendard"/>
              </a:rPr>
              <a:t>를 신뢰 검증 표준으로 따릅니다. 경험·전문성·권위·신뢰를 글 곳곳에 ‘증거’로 심으세요.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324612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1D1D1F"/>
                </a:solidFill>
                <a:latin typeface="Pretendard"/>
              </a:rPr>
              <a:t>Experience · 경험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직접 촬영·자체 테스트 후기. “3개월간 직접 집행해보니…”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95928" y="2103120"/>
            <a:ext cx="324612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67004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1D1D1F"/>
                </a:solidFill>
                <a:latin typeface="Pretendard"/>
              </a:rPr>
              <a:t>Expertise · 전문성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99923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통계·출처·용어 정의·프로세스 공개. (YMYL은 요건 엄격)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66160"/>
            <a:ext cx="324612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730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3308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1D1D1F"/>
                </a:solidFill>
                <a:latin typeface="Pretendard"/>
              </a:rPr>
              <a:t>Authority · 권위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6227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백링크·언론 언급·브랜드 검색량 등 외부 평판 신호.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95928" y="3566160"/>
            <a:ext cx="324612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60520" y="3730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13308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1D1D1F"/>
                </a:solidFill>
                <a:latin typeface="Pretendard"/>
              </a:rPr>
              <a:t>Trust · 신뢰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46227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실패 사례·개선 과정의 솔직한 공개가 홍보성 글보다 높게 평가.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2103120"/>
            <a:ext cx="4108399" cy="27432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7536" y="2249424"/>
            <a:ext cx="37060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6E6E73"/>
                </a:solidFill>
                <a:latin typeface="Pretendard"/>
              </a:rPr>
              <a:t>신호 유형별 인용 기여도 (개념)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2578608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1차 경험·실측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2596896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53144" y="2596896"/>
            <a:ext cx="2043409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최상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999232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전문 데이터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53144" y="3017520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53144" y="3017520"/>
            <a:ext cx="1861773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6" y="3419856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외부 언급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53144" y="3438144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53144" y="3438144"/>
            <a:ext cx="1680136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536" y="384048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한계 공개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53144" y="3858768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53144" y="3858768"/>
            <a:ext cx="1543909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중상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D1D1F"/>
                </a:solidFill>
                <a:latin typeface="Pretendard"/>
              </a:rPr>
              <a:t>실전 표현 패턴. </a:t>
            </a:r>
            <a:r>
              <a:rPr sz="950" b="0">
                <a:solidFill>
                  <a:srgbClr val="6E6E73"/>
                </a:solidFill>
                <a:latin typeface="Pretendard"/>
              </a:rPr>
              <a:t>“실제 집행 결과로 검증하니”, “저자: ○○ 10년 경력”처럼 경험·저자 정보를 본문에 명시하세요. 특히 완벽한 성공담보다 </a:t>
            </a:r>
            <a:r>
              <a:rPr sz="950" b="1">
                <a:solidFill>
                  <a:srgbClr val="1D1D1F"/>
                </a:solidFill>
                <a:latin typeface="Pretendard"/>
              </a:rPr>
              <a:t>‘실패 사례 + 교훈’</a:t>
            </a:r>
            <a:r>
              <a:rPr sz="950" b="0">
                <a:solidFill>
                  <a:srgbClr val="6E6E73"/>
                </a:solidFill>
                <a:latin typeface="Pretendard"/>
              </a:rPr>
              <a:t>이 인용률에서 압도적으로 유리합니다.</a:t>
            </a:r>
            <a:r>
              <a:rPr sz="950" b="1">
                <a:solidFill>
                  <a:srgbClr val="0066CC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066CC"/>
                </a:solidFill>
                <a:latin typeface="Pretendard"/>
              </a:rPr>
              <a:t>08.  </a:t>
            </a:r>
            <a:r>
              <a:rPr sz="1000" b="1">
                <a:solidFill>
                  <a:srgbClr val="6E6E73"/>
                </a:solidFill>
                <a:latin typeface="Pretendard"/>
              </a:rPr>
              <a:t>Topic Authority · 주제 일관성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6E6E73"/>
                </a:solidFill>
                <a:latin typeface="Pretendard"/>
              </a:rPr>
              <a:t>[ Page 08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066CC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1D1D1F"/>
                </a:solidFill>
                <a:latin typeface="Pretendard"/>
              </a:rPr>
              <a:t>무분별한 다작보다 </a:t>
            </a:r>
            <a:r>
              <a:rPr sz="2200" b="1" spc="-30">
                <a:solidFill>
                  <a:srgbClr val="0066CC"/>
                </a:solidFill>
                <a:latin typeface="Pretendard"/>
              </a:rPr>
              <a:t>‘카테고리 킬러’ 심층 허브</a:t>
            </a:r>
            <a:r>
              <a:rPr sz="2200" b="1" spc="-30">
                <a:solidFill>
                  <a:srgbClr val="1D1D1F"/>
                </a:solidFill>
                <a:latin typeface="Pretendard"/>
              </a:rPr>
              <a:t>를 구축하세요. AI는 한 주제에 집중된 도메인을 ‘전문가 그룹’으로 매핑합니다.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3236976" cy="173736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9424"/>
            <a:ext cx="2871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6E6E73"/>
                </a:solidFill>
                <a:latin typeface="Pretendard"/>
              </a:rPr>
              <a:t>✕ 잡화점형 (정체성 하락)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78608"/>
            <a:ext cx="28712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마케팅·패션·요리·재테크 혼재 → 도메인 주제 점수 하락, 어떤 카테고리에서도 우선 인용 실패.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2103120"/>
            <a:ext cx="3236976" cy="173736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249424"/>
            <a:ext cx="2871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0066CC"/>
                </a:solidFill>
                <a:latin typeface="Pretendard"/>
              </a:rPr>
              <a:t>✓ 심층 허브형 (전문가 매핑)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2578608"/>
            <a:ext cx="28712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Pretendard"/>
              </a:rPr>
              <a:t>기둥 글(Pillar) + 세부 글(Cluster)을 촘촘히 연결 → 주제 권위 집중, 인용 우선순위 상승.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77639"/>
            <a:ext cx="181051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977639"/>
            <a:ext cx="18105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Pillar: AEO 완전정복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3977639"/>
            <a:ext cx="113842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3977639"/>
            <a:ext cx="11384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→ FAQ 작성법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5324" y="3977639"/>
            <a:ext cx="113842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5324" y="3977639"/>
            <a:ext cx="11384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→ 스키마 마크업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3977639"/>
            <a:ext cx="94640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977639"/>
            <a:ext cx="94640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→ 인용 측정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9611" y="3977639"/>
            <a:ext cx="12344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9611" y="3977639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E6E73"/>
                </a:solidFill>
                <a:latin typeface="Pretendard"/>
              </a:rPr>
              <a:t>→ 내부 링크 연결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2103120"/>
            <a:ext cx="4108399" cy="27432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7536" y="2249424"/>
            <a:ext cx="37060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6E6E73"/>
                </a:solidFill>
                <a:latin typeface="Pretendard"/>
              </a:rPr>
              <a:t>‘2080 법칙’ — 전략 전환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2578608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월 20개 단순 포스팅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2596896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53144" y="2596896"/>
            <a:ext cx="794659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6E6E73"/>
                </a:solidFill>
                <a:latin typeface="Pretendard"/>
              </a:rPr>
              <a:t>기여 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999232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분기 5개 심층 리포트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53144" y="3017520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53144" y="3017520"/>
            <a:ext cx="1998000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성과 80%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D1D1F"/>
                </a:solidFill>
                <a:latin typeface="Pretendard"/>
              </a:rPr>
              <a:t>실행 원칙. </a:t>
            </a:r>
            <a:r>
              <a:rPr sz="950" b="0">
                <a:solidFill>
                  <a:srgbClr val="6E6E73"/>
                </a:solidFill>
                <a:latin typeface="Pretendard"/>
              </a:rPr>
              <a:t>20%의 잘 기획된 심층 콘텐츠가 성과의 80%를 만듭니다. 하나의 핵심 주제를 </a:t>
            </a:r>
            <a:r>
              <a:rPr sz="950" b="1">
                <a:solidFill>
                  <a:srgbClr val="1D1D1F"/>
                </a:solidFill>
                <a:latin typeface="Pretendard"/>
              </a:rPr>
              <a:t>기둥 글–세부 글 구조로 깊게 파고</a:t>
            </a:r>
            <a:r>
              <a:rPr sz="950" b="0">
                <a:solidFill>
                  <a:srgbClr val="6E6E73"/>
                </a:solidFill>
                <a:latin typeface="Pretendard"/>
              </a:rPr>
              <a:t> 내부 링크로 묶어 ‘이 도메인=이 주제 전문가’ 신호를 일관되게 보내세요.</a:t>
            </a:r>
            <a:r>
              <a:rPr sz="950" b="1">
                <a:solidFill>
                  <a:srgbClr val="0066CC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997FF"/>
                </a:solidFill>
                <a:latin typeface="Pretendard"/>
              </a:rPr>
              <a:t>09.  </a:t>
            </a:r>
            <a:r>
              <a:rPr sz="1000" b="1">
                <a:solidFill>
                  <a:srgbClr val="A1A1A6"/>
                </a:solidFill>
                <a:latin typeface="Pretendard"/>
              </a:rPr>
              <a:t>Originality · 고유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A1A1A6"/>
                </a:solidFill>
                <a:latin typeface="Pretendard"/>
              </a:rPr>
              <a:t>[ Page 09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3A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997FF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F5F5F7"/>
                </a:solidFill>
                <a:latin typeface="Pretendard"/>
              </a:rPr>
              <a:t>AI는 흔한 정보보다 </a:t>
            </a:r>
            <a:r>
              <a:rPr sz="2200" b="1" spc="-30">
                <a:solidFill>
                  <a:srgbClr val="2997FF"/>
                </a:solidFill>
                <a:latin typeface="Pretendard"/>
              </a:rPr>
              <a:t>새로운 관점과 고유 프레임워크</a:t>
            </a:r>
            <a:r>
              <a:rPr sz="2200" b="1" spc="-30">
                <a:solidFill>
                  <a:srgbClr val="F5F5F7"/>
                </a:solidFill>
                <a:latin typeface="Pretendard"/>
              </a:rPr>
              <a:t>를 학습·인용하려 합니다. ‘이름 붙은 모델’과 ‘반대 관점’을 만드세요.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2103120" cy="274320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72729"/>
                </a:solidFill>
                <a:latin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1773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F5F5F7"/>
                </a:solidFill>
                <a:latin typeface="Pretendard"/>
              </a:rPr>
              <a:t>체계화 · 명명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77393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‘3단계 모델’, ‘5대 원칙’처럼 숫자를 붙인 고유 프레임워크로 명명.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2103120"/>
            <a:ext cx="2103120" cy="274320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72729"/>
                </a:solidFill>
                <a:latin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70048"/>
            <a:ext cx="1773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F5F5F7"/>
                </a:solidFill>
                <a:latin typeface="Pretendard"/>
              </a:rPr>
              <a:t>인사이트 결합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99232"/>
            <a:ext cx="177393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현장 업계 데이터 + 자사 고유의 경험적 자산을 결합해 독자성 확보.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2103120"/>
            <a:ext cx="2103120" cy="274320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0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72729"/>
                </a:solidFill>
                <a:latin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670048"/>
            <a:ext cx="1773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F5F5F7"/>
                </a:solidFill>
                <a:latin typeface="Pretendard"/>
              </a:rPr>
              <a:t>반대 관점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99232"/>
            <a:ext cx="177393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“시장은 A라 하지만, 검증 결과는 B” — 통념을 뒤집는 통찰 제시.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16368" y="2103120"/>
            <a:ext cx="4108399" cy="2743200"/>
          </a:xfrm>
          <a:prstGeom prst="roundRect">
            <a:avLst>
              <a:gd name="adj" fmla="val 6000"/>
            </a:avLst>
          </a:prstGeom>
          <a:solidFill>
            <a:srgbClr val="2A2A2C"/>
          </a:solidFill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17536" y="2249424"/>
            <a:ext cx="37060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A1A1A6"/>
                </a:solidFill>
                <a:latin typeface="Pretendard"/>
              </a:rPr>
              <a:t>유형별 ‘인용 신선도’ 점수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2578608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5F5F7"/>
                </a:solidFill>
                <a:latin typeface="Pretendard"/>
              </a:rPr>
              <a:t>통념 재정리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2596896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3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53144" y="2596896"/>
            <a:ext cx="771954" cy="274320"/>
          </a:xfrm>
          <a:prstGeom prst="roundRect">
            <a:avLst>
              <a:gd name="adj" fmla="val 40000"/>
            </a:avLst>
          </a:prstGeom>
          <a:solidFill>
            <a:srgbClr val="3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6E6E73"/>
                </a:solidFill>
                <a:latin typeface="Pretendard"/>
              </a:rPr>
              <a:t>낮음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999232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5F5F7"/>
                </a:solidFill>
                <a:latin typeface="Pretendard"/>
              </a:rPr>
              <a:t>사례+데이터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53144" y="3017520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3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53144" y="3017520"/>
            <a:ext cx="1589318" cy="274320"/>
          </a:xfrm>
          <a:prstGeom prst="roundRect">
            <a:avLst>
              <a:gd name="adj" fmla="val 4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272729"/>
                </a:solidFill>
                <a:latin typeface="Pretendard"/>
              </a:rPr>
              <a:t>높음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3419856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5F5F7"/>
                </a:solidFill>
                <a:latin typeface="Pretendard"/>
              </a:rPr>
              <a:t>고유 프레임워크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53144" y="3438144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3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53144" y="3438144"/>
            <a:ext cx="2179636" cy="274320"/>
          </a:xfrm>
          <a:prstGeom prst="roundRect">
            <a:avLst>
              <a:gd name="adj" fmla="val 4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272729"/>
                </a:solidFill>
                <a:latin typeface="Pretendard"/>
              </a:rPr>
              <a:t>최상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3A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F5F5F7"/>
                </a:solidFill>
                <a:latin typeface="Pretendard"/>
              </a:rPr>
              <a:t>왜 인용되는가. </a:t>
            </a:r>
            <a:r>
              <a:rPr sz="950" b="0">
                <a:solidFill>
                  <a:srgbClr val="A1A1A6"/>
                </a:solidFill>
                <a:latin typeface="Pretendard"/>
              </a:rPr>
              <a:t>뻔한 정보는 다른 출처와 차별화되지 않아 AI가 굳이 우리를 인용할 이유가 없습니다. </a:t>
            </a:r>
            <a:r>
              <a:rPr sz="950" b="1">
                <a:solidFill>
                  <a:srgbClr val="F5F5F7"/>
                </a:solidFill>
                <a:latin typeface="Pretendard"/>
              </a:rPr>
              <a:t>우리만의 이름·숫자·관점</a:t>
            </a:r>
            <a:r>
              <a:rPr sz="950" b="0">
                <a:solidFill>
                  <a:srgbClr val="A1A1A6"/>
                </a:solidFill>
                <a:latin typeface="Pretendard"/>
              </a:rPr>
              <a:t>이 붙은 정보는 ‘대체 불가능한 출처’가 되어 반복 인용됩니다.</a:t>
            </a:r>
            <a:r>
              <a:rPr sz="950" b="1">
                <a:solidFill>
                  <a:srgbClr val="2997FF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066CC"/>
                </a:solidFill>
                <a:latin typeface="Pretendard"/>
              </a:rPr>
              <a:t>10.  </a:t>
            </a:r>
            <a:r>
              <a:rPr sz="1000" b="1">
                <a:solidFill>
                  <a:srgbClr val="6E6E73"/>
                </a:solidFill>
                <a:latin typeface="Pretendard"/>
              </a:rPr>
              <a:t>The Do’s · 반드시 지킬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6E6E73"/>
                </a:solidFill>
                <a:latin typeface="Pretendard"/>
              </a:rPr>
              <a:t>[ Page 10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066CC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1D1D1F"/>
                </a:solidFill>
                <a:latin typeface="Pretendard"/>
              </a:rPr>
              <a:t>의미 밀도 · 즉답 구조 · 검증 가능한 근거 — 이 셋을 </a:t>
            </a:r>
            <a:r>
              <a:rPr sz="2200" b="1" spc="-30">
                <a:solidFill>
                  <a:srgbClr val="0066CC"/>
                </a:solidFill>
                <a:latin typeface="Pretendard"/>
              </a:rPr>
              <a:t>예외 없이 엄수</a:t>
            </a:r>
            <a:r>
              <a:rPr sz="2200" b="1" spc="-30">
                <a:solidFill>
                  <a:srgbClr val="1D1D1F"/>
                </a:solidFill>
                <a:latin typeface="Pretendard"/>
              </a:rPr>
              <a:t>하면 인용 확률이 구조적으로 올라갑니다.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64240" cy="2596896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1828800"/>
                <a:gridCol w="2926080"/>
                <a:gridCol w="39319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권장 실행 (Do)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연동 원칙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기대 효과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중요도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✓ 결론을 첫 문장에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역피라미드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스니펫 추출 적중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██████████ 100%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✓ 질문을 소제목으로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Q&amp;A·FAQ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질의 매칭률 상승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█████████░ 95%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✓ 수치+출처 명시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E-E-A-T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신뢰 신호 강화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█████████░ 92%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✓ 표·리스트로 구조화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명료성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빠른 파싱·추출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████████░░ 88%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✓ 고유 프레임워크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독창성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대체 불가 출처화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████████░░ 85%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D1D1F"/>
                </a:solidFill>
                <a:latin typeface="Pretendard"/>
              </a:rPr>
              <a:t>구현 가이드. </a:t>
            </a:r>
            <a:r>
              <a:rPr sz="950" b="0">
                <a:solidFill>
                  <a:srgbClr val="6E6E73"/>
                </a:solidFill>
                <a:latin typeface="Pretendard"/>
              </a:rPr>
              <a:t>모든 글은 ‘이 문장만 떼어내도 답이 되는가?’를 자가 점검하세요. 한 페이지에 </a:t>
            </a:r>
            <a:r>
              <a:rPr sz="950" b="1">
                <a:solidFill>
                  <a:srgbClr val="1D1D1F"/>
                </a:solidFill>
                <a:latin typeface="Pretendard"/>
              </a:rPr>
              <a:t>경영진용 요약 + 실무진용 상세 방법론</a:t>
            </a:r>
            <a:r>
              <a:rPr sz="950" b="0">
                <a:solidFill>
                  <a:srgbClr val="6E6E73"/>
                </a:solidFill>
                <a:latin typeface="Pretendard"/>
              </a:rPr>
              <a:t>을 함께 담으면 서로 다른 의도의 질의 모두에 대응해 인용 표면적이 넓어집니다.</a:t>
            </a:r>
            <a:r>
              <a:rPr sz="950" b="1">
                <a:solidFill>
                  <a:srgbClr val="0066CC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0066CC"/>
                </a:solidFill>
                <a:latin typeface="Pretendard"/>
              </a:rPr>
              <a:t>11.  </a:t>
            </a:r>
            <a:r>
              <a:rPr sz="1000" b="1">
                <a:solidFill>
                  <a:srgbClr val="6E6E73"/>
                </a:solidFill>
                <a:latin typeface="Pretendard"/>
              </a:rPr>
              <a:t>The Don’ts · 절대 금지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6E6E73"/>
                </a:solidFill>
                <a:latin typeface="Pretendard"/>
              </a:rPr>
              <a:t>[ Page 11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066CC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1D1D1F"/>
                </a:solidFill>
                <a:latin typeface="Pretendard"/>
              </a:rPr>
              <a:t>키워드 도배 · 출처 없는 과장 · 주제 잡탕 — 이 셋은 </a:t>
            </a:r>
            <a:r>
              <a:rPr sz="2200" b="1" spc="-30">
                <a:solidFill>
                  <a:srgbClr val="0066CC"/>
                </a:solidFill>
                <a:latin typeface="Pretendard"/>
              </a:rPr>
              <a:t>신뢰 점수를 파괴</a:t>
            </a:r>
            <a:r>
              <a:rPr sz="2200" b="1" spc="-30">
                <a:solidFill>
                  <a:srgbClr val="1D1D1F"/>
                </a:solidFill>
                <a:latin typeface="Pretendard"/>
              </a:rPr>
              <a:t>해 인용에서 영구 탈락시킵니다.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675120" cy="2596896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2377440"/>
                <a:gridCol w="22860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절대 금지 (Don’t)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발생하는 결함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6E6E73"/>
                          </a:solidFill>
                          <a:latin typeface="Pretendard"/>
                        </a:rPr>
                        <a:t>올바른 대체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✕ 키워드 기계적 반복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의미밀도 저하·스팸 판정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맥락 있는 자연어 설계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✕ 출처 없는 과장 수치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신뢰성(Trust) 하락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출처·연도·‘자체 집계’ 표기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✕ 긴 서론·결론 지연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스니펫 추출 실패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첫 문장 즉답 배치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✕ 무관 주제 혼재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도메인 정체성 하락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단일 주제 심층 허브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D1D1F"/>
                          </a:solidFill>
                          <a:latin typeface="Pretendard"/>
                        </a:rPr>
                        <a:t>✕ AI 양산 무수정 발행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E6E73"/>
                          </a:solidFill>
                          <a:latin typeface="Pretendard"/>
                        </a:rPr>
                        <a:t>독창성·경험 신호 결여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066CC"/>
                          </a:solidFill>
                          <a:latin typeface="Pretendard"/>
                        </a:rPr>
                        <a:t>1차 경험·데이터 주입</a:t>
                      </a:r>
                    </a:p>
                  </a:txBody>
                  <a:tcPr marL="91440" marR="54864" marT="45720" marB="45720" anchor="ctr">
                    <a:noFill/>
                    <a:lnB w="9525" cap="flat">
                      <a:solidFill>
                        <a:srgbClr val="DCDC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16368" y="2103120"/>
            <a:ext cx="4108399" cy="27432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9525">
            <a:solidFill>
              <a:srgbClr val="DC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7536" y="2249424"/>
            <a:ext cx="37060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6E6E73"/>
                </a:solidFill>
                <a:latin typeface="Pretendard"/>
              </a:rPr>
              <a:t>금지 행위의 인용 손상도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7536" y="2578608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서론 늘어짐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53144" y="2596896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53144" y="2596896"/>
            <a:ext cx="908182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6E6E73"/>
                </a:solidFill>
                <a:latin typeface="Pretendard"/>
              </a:rPr>
              <a:t>약함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2999232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주제 혼재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3017520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53144" y="3017520"/>
            <a:ext cx="1407682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중간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3419856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출처 없는 과장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3438144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3144" y="3438144"/>
            <a:ext cx="1861773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심각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6" y="384048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D1D1F"/>
                </a:solidFill>
                <a:latin typeface="Pretendard"/>
              </a:rPr>
              <a:t>키워드 도배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3858768"/>
            <a:ext cx="2270455" cy="274320"/>
          </a:xfrm>
          <a:prstGeom prst="roundRect">
            <a:avLst>
              <a:gd name="adj" fmla="val 40000"/>
            </a:avLst>
          </a:prstGeom>
          <a:solidFill>
            <a:srgbClr val="DC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3144" y="3858768"/>
            <a:ext cx="2179636" cy="274320"/>
          </a:xfrm>
          <a:prstGeom prst="roundRect">
            <a:avLst>
              <a:gd name="adj" fmla="val 4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r"/>
            <a:r>
              <a:rPr sz="900" b="1">
                <a:solidFill>
                  <a:srgbClr val="FFFFFF"/>
                </a:solidFill>
                <a:latin typeface="Pretendard"/>
              </a:rPr>
              <a:t>치명적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DCDC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D1D1F"/>
                </a:solidFill>
                <a:latin typeface="Pretendard"/>
              </a:rPr>
              <a:t>주의. </a:t>
            </a:r>
            <a:r>
              <a:rPr sz="950" b="0">
                <a:solidFill>
                  <a:srgbClr val="6E6E73"/>
                </a:solidFill>
                <a:latin typeface="Pretendard"/>
              </a:rPr>
              <a:t>가장 흔한 실수는 ‘AI로 빠르게 양산해 그대로 발행’입니다. 1차 경험·데이터·관점이 없는 글은 평균값과 같아 인용되지 않습니다. </a:t>
            </a:r>
            <a:r>
              <a:rPr sz="950" b="1">
                <a:solidFill>
                  <a:srgbClr val="1D1D1F"/>
                </a:solidFill>
                <a:latin typeface="Pretendard"/>
              </a:rPr>
              <a:t>AI는 초안 도구로, 검증·경험 주입은 사람이</a:t>
            </a:r>
            <a:r>
              <a:rPr sz="950" b="0">
                <a:solidFill>
                  <a:srgbClr val="6E6E73"/>
                </a:solidFill>
                <a:latin typeface="Pretendard"/>
              </a:rPr>
              <a:t> — 역할 분담을 지키세요.</a:t>
            </a:r>
            <a:r>
              <a:rPr sz="950" b="1">
                <a:solidFill>
                  <a:srgbClr val="0066CC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997FF"/>
                </a:solidFill>
                <a:latin typeface="Pretendard"/>
              </a:rPr>
              <a:t>12.  </a:t>
            </a:r>
            <a:r>
              <a:rPr sz="1000" b="1">
                <a:solidFill>
                  <a:srgbClr val="A1A1A6"/>
                </a:solidFill>
                <a:latin typeface="Pretendard"/>
              </a:rPr>
              <a:t>Roadmap · 실행 &amp; 측정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A1A1A6"/>
                </a:solidFill>
                <a:latin typeface="Pretendard"/>
              </a:rPr>
              <a:t>[ Page 12 / 12 ]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76656"/>
            <a:ext cx="11057839" cy="0"/>
          </a:xfrm>
          <a:prstGeom prst="bentConnector3">
            <a:avLst/>
          </a:prstGeom>
          <a:ln w="9525">
            <a:solidFill>
              <a:srgbClr val="3A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997FF"/>
                </a:solidFill>
                <a:latin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spc="-30">
                <a:solidFill>
                  <a:srgbClr val="F5F5F7"/>
                </a:solidFill>
                <a:latin typeface="Pretendard"/>
              </a:rPr>
              <a:t>‘쓰고 끝’이 아니라 </a:t>
            </a:r>
            <a:r>
              <a:rPr sz="2200" b="1" spc="-30">
                <a:solidFill>
                  <a:srgbClr val="2997FF"/>
                </a:solidFill>
                <a:latin typeface="Pretendard"/>
              </a:rPr>
              <a:t>발행 → AI 인용 모니터링 → 개선</a:t>
            </a:r>
            <a:r>
              <a:rPr sz="2200" b="1" spc="-30">
                <a:solidFill>
                  <a:srgbClr val="F5F5F7"/>
                </a:solidFill>
                <a:latin typeface="Pretendard"/>
              </a:rPr>
              <a:t> 루프를 돌리세요. 인용 여부 자체가 새로운 KPI입니다.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3564026" cy="128016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72729"/>
                </a:solidFill>
                <a:latin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F5F5F7"/>
                </a:solidFill>
                <a:latin typeface="Pretendard"/>
              </a:rPr>
              <a:t>설계 (Plan)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고객 자연어 질문 수집 → 질문을 소제목으로 한 즉답형 구조 설계.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3834" y="2103120"/>
            <a:ext cx="3564026" cy="128016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8426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72729"/>
                </a:solidFill>
                <a:latin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8426" y="2670048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F5F5F7"/>
                </a:solidFill>
                <a:latin typeface="Pretendard"/>
              </a:rPr>
              <a:t>집필 (Write)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8426" y="2999232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완결 문장·수치·출처·고유 프레임워크 + 1차 경험 주입.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0740" y="2103120"/>
            <a:ext cx="3564026" cy="128016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5332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72729"/>
                </a:solidFill>
                <a:latin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5332" y="2670048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F5F5F7"/>
                </a:solidFill>
                <a:latin typeface="Pretendard"/>
              </a:rPr>
              <a:t>구조화 (Mark)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5332" y="2999232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표·리스트·FAQ 스키마·llms.txt 등 기술적 추출성 강화.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66160"/>
            <a:ext cx="3564026" cy="128016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730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72729"/>
                </a:solidFill>
                <a:latin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33088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F5F5F7"/>
                </a:solidFill>
                <a:latin typeface="Pretendard"/>
              </a:rPr>
              <a:t>측정 (Track)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62272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ChatGPT·Perplexity·AI Overviews에서 인용·언급 점검.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3834" y="3566160"/>
            <a:ext cx="3564026" cy="128016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78426" y="3730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72729"/>
                </a:solidFill>
                <a:latin typeface="Pretendar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8426" y="4133088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F5F5F7"/>
                </a:solidFill>
                <a:latin typeface="Pretendard"/>
              </a:rPr>
              <a:t>개선 (Refine)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8426" y="4462272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인용된 문장 패턴을 분석해 다음 글에 재적용·허브 확장.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0740" y="3566160"/>
            <a:ext cx="3564026" cy="128016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 w="9525">
            <a:solidFill>
              <a:srgbClr val="3A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5332" y="3730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72729"/>
                </a:solidFill>
                <a:latin typeface="Pretendard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5332" y="4133088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spc="-20">
                <a:solidFill>
                  <a:srgbClr val="F5F5F7"/>
                </a:solidFill>
                <a:latin typeface="Pretendard"/>
              </a:rPr>
              <a:t>핵심 KPI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5332" y="4462272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1A1A6"/>
                </a:solidFill>
                <a:latin typeface="Pretendard"/>
              </a:rPr>
              <a:t>순위·트래픽 + ‘AI 답변 내 인용·브랜드 언급’ 병행 관리.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4956048"/>
            <a:ext cx="11057839" cy="0"/>
          </a:xfrm>
          <a:prstGeom prst="bentConnector3">
            <a:avLst/>
          </a:prstGeom>
          <a:ln w="9525">
            <a:solidFill>
              <a:srgbClr val="3A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504748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F5F5F7"/>
                </a:solidFill>
                <a:latin typeface="Pretendard"/>
              </a:rPr>
              <a:t>마무리. </a:t>
            </a:r>
            <a:r>
              <a:rPr sz="950" b="0">
                <a:solidFill>
                  <a:srgbClr val="A1A1A6"/>
                </a:solidFill>
                <a:latin typeface="Pretendard"/>
              </a:rPr>
              <a:t>AI 검색 시대의 승자는 ‘가장 많이 쓴 곳’이 아니라 </a:t>
            </a:r>
            <a:r>
              <a:rPr sz="950" b="1">
                <a:solidFill>
                  <a:srgbClr val="F5F5F7"/>
                </a:solidFill>
                <a:latin typeface="Pretendard"/>
              </a:rPr>
              <a:t>AI가 가장 신뢰해 반복 인용하는 곳</a:t>
            </a:r>
            <a:r>
              <a:rPr sz="950" b="0">
                <a:solidFill>
                  <a:srgbClr val="A1A1A6"/>
                </a:solidFill>
                <a:latin typeface="Pretendard"/>
              </a:rPr>
              <a:t>입니다. 의미 밀도·즉답 구조·검증된 근거·고유 관점 — 이 명세를 지키는 콘텐츠가 그 자리를 차지합니다.</a:t>
            </a:r>
            <a:r>
              <a:rPr sz="950" b="1">
                <a:solidFill>
                  <a:srgbClr val="2997FF"/>
                </a:solidFill>
                <a:latin typeface="Pretendard"/>
              </a:rPr>
              <a:t>  [source: 1]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