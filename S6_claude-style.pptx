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dPt>
            <c:idx val="0"/>
            <c:spPr>
              <a:solidFill>
                <a:srgbClr val="F3702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7A7A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9C9C9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인간+AI 혼합</c:v>
                </c:pt>
                <c:pt idx="1">
                  <c:v>순수 인간</c:v>
                </c:pt>
                <c:pt idx="2">
                  <c:v>순수 AI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81.9</c:v>
                </c:pt>
                <c:pt idx="1">
                  <c:v>13.5</c:v>
                </c:pt>
                <c:pt idx="2">
                  <c:v>4.6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14141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000">
          <a:latin typeface="맑은 고딕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 %</c:v>
                </c:pt>
              </c:strCache>
            </c:strRef>
          </c:tx>
          <c:dPt>
            <c:idx val="0"/>
            <c:spPr>
              <a:solidFill>
                <a:srgbClr val="B0B0B0"/>
              </a:solidFill>
              <a:ln>
                <a:noFill/>
              </a:ln>
            </c:spPr>
          </c:dPt>
          <c:dPt>
            <c:idx val="1"/>
            <c:spPr>
              <a:solidFill>
                <a:srgbClr val="2E2E2E"/>
              </a:solidFill>
              <a:ln>
                <a:noFill/>
              </a:ln>
            </c:spPr>
          </c:dPt>
          <c:dPt>
            <c:idx val="2"/>
            <c:spPr>
              <a:solidFill>
                <a:srgbClr val="6C6A64"/>
              </a:solidFill>
              <a:ln>
                <a:noFill/>
              </a:ln>
            </c:spPr>
          </c:dPt>
          <c:dPt>
            <c:idx val="3"/>
            <c:spPr>
              <a:solidFill>
                <a:srgbClr val="8A8A8A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최소 AI</c:v>
                </c:pt>
                <c:pt idx="1">
                  <c:v>보통 AI</c:v>
                </c:pt>
                <c:pt idx="2">
                  <c:v>상당 AI</c:v>
                </c:pt>
                <c:pt idx="3">
                  <c:v>지배적 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13.8</c:v>
                </c:pt>
                <c:pt idx="1">
                  <c:v>40.0</c:v>
                </c:pt>
                <c:pt idx="2">
                  <c:v>20.3</c:v>
                </c:pt>
                <c:pt idx="3">
                  <c:v>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4141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6DFD8"/>
            </a:solidFill>
          </a:ln>
        </c:spPr>
        <c:txPr>
          <a:bodyPr/>
          <a:lstStyle/>
          <a:p>
            <a:pPr>
              <a:defRPr sz="1000">
                <a:solidFill>
                  <a:srgbClr val="14141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5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SESSION 6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0" y="274320"/>
            <a:ext cx="4937760" cy="2926080"/>
          </a:xfrm>
          <a:prstGeom prst="roundRect">
            <a:avLst>
              <a:gd name="adj" fmla="val 5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20000" b="1" i="0">
                <a:solidFill>
                  <a:srgbClr val="181715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60120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 i="0" spc="20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INTEGRATION · AUTOMATION · OUTLOOK</a:t>
            </a:r>
          </a:p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통합 전략·자동화·2026~2028 전망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182880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96926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기초·콘텐츠·신뢰까지 모두 쌓았다. 마지막 회차에서는 언제 무엇을 선택할지, 어떻게 확장할지, 그리고 앞으로 2년을 정리한다.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4901183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상황별 전략 선택 — AEO·GEO·통합, 무엇을 먼저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5303520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48656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콘텐츠 자동화 — 대량 발행의 5가지 트렌드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5705856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650992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한국 GEO 시장 심층 사례와 소비자 행동 연구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6108192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053328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2026~2028 전망과 6강 과정 총정리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37376"/>
            <a:ext cx="8229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AI 검색 시대 마케팅 — SEO·AEO·GEO 6강 완성 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6 · 오늘 다루는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통합·자동화·전망, 이렇게 마무리한다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상황별 전략 선택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AEO 우선·GEO 우선·통합, 무엇을 기준으로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자동화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구글은 AI 콘텐츠를 벌하지 않는다 — 대량 발행 5트렌드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608576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대행사·한국 시장 사례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넥스트티·SEO코리아의 실제 서비스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소비자·AI 검색 연구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AI가 구매 결정에 미치는 영향, 최신 연구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2026~2028 전망·총정리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제로클릭 시대의 마케팅과 6강 회고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상황별 전략 선택 심층 가이드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AEO와 GEO는 상호 보완 관계다. 우리 회사 상황에 맞춰 '시작점'을 정하는 법을 다룬다.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5강의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AEO와 GEO는 상호 보완 관계다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AEO는 '즉답'으로 빠르게 채택되고, GEO는 '깊이'로 길게 인용된다. 둘은 경쟁하는 선택지가 아니라, 리소스와 상황에 따라 순서와 비중을 조절하는 하나의 전략이다.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빠른 결과 · 거래형 · 500~800자 · 저비용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장기 효과 · 전문 서비스 · 2,000~4,000자 · 고비용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리소스가 충분하면 B2C는 AEO·B2B는 GEO 병행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선택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무엇을 먼저 할지, 상황이 결정한다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291840"/>
          </a:xfrm>
          <a:prstGeom prst="roundRect">
            <a:avLst>
              <a:gd name="adj" fmla="val 444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743200"/>
          </a:xfrm>
          <a:prstGeom prst="roundRect">
            <a:avLst>
              <a:gd name="adj" fmla="val 533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우선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스타트업·초기 기업, 이커머스·금융·부동산 등 거래형 키워드, 고객지원 비용 절감이 급할 때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291840"/>
          </a:xfrm>
          <a:prstGeom prst="roundRect">
            <a:avLst>
              <a:gd name="adj" fmla="val 444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743200"/>
          </a:xfrm>
          <a:prstGeom prst="roundRect">
            <a:avLst>
              <a:gd name="adj" fmla="val 533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 우선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B2B·전문 서비스, 마케팅·IT 컨설팅 등 경쟁 성숙 시장, 장기 브랜드 빌딩이 중요할 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291840"/>
          </a:xfrm>
          <a:prstGeom prst="roundRect">
            <a:avLst>
              <a:gd name="adj" fmla="val 444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743200"/>
          </a:xfrm>
          <a:prstGeom prst="roundRect">
            <a:avLst>
              <a:gd name="adj" fmla="val 533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통합 전략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리소스를 갖춘 중견기업 이상 — B2C는 AEO로 즉시 정보, B2B는 GEO로 전문성 어필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정답은 하나가 아니다 — 업종·성숙도·리소스에 따라 시작점을 다르게 잡는 것이 핵심이다.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05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한눈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vs GEO, 투자 결정 전 마지막 체크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231256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113" y="2331720"/>
            <a:ext cx="383177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1340" y="2331720"/>
            <a:ext cx="383177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07208"/>
            <a:ext cx="231256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효과 발현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113" y="2807208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4~8주 (빠른 결과)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340" y="2807208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3~6개월 (장기적 효과)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74136"/>
            <a:ext cx="10634472" cy="566928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374136"/>
            <a:ext cx="231256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적합 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113" y="3374136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스타트업·거래형 키워드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340" y="3374136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B2B·전문 서비스업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941063"/>
            <a:ext cx="231256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콘텐츠 길이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113" y="3941063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500~800자 간결한 답변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340" y="3941063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2,000~4,000자 심층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07992"/>
            <a:ext cx="10634472" cy="566928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507992"/>
            <a:ext cx="231256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투자 비용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0113" y="4507992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상대적 저비용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340" y="4507992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상대적 고비용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074920"/>
            <a:ext cx="231256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성과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113" y="5074920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Featured Snippet·AI 인용률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340" y="5074920"/>
            <a:ext cx="3831771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브랜드 언급·업계 리더십 인식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06 / 38</a:t>
            </a:r>
          </a:p>
        </p:txBody>
      </p:sp>
      <p:sp>
        <p:nvSpPr>
          <p:cNvPr id="29" name="AccentRect2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실제로 효과가 있었던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AEO로 시작해 GEO로 나아간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15412" y="287304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9572" y="237744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0332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AEO로 빠른 신뢰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즉답형 콘텐츠로 4~8주 내 첫 성과·데이터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236" y="287304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54396" y="237744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7784" y="370332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데이터로 GEO 주제 선정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무엇이 전환되는지 확인 후 심층 주제 결정</a:t>
            </a:r>
          </a:p>
        </p:txBody>
      </p:sp>
      <p:sp>
        <p:nvSpPr>
          <p:cNvPr id="11" name="Oval 10"/>
          <p:cNvSpPr/>
          <p:nvPr/>
        </p:nvSpPr>
        <p:spPr>
          <a:xfrm>
            <a:off x="8999219" y="237744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607" y="370332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GEO로 권위 누적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심층 콘텐츠·엔티티로 장기 인용 자산 구축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10634472" cy="86868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24128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리소스가 제한적이면 효과가 빠른 AEO로 신뢰를 쌓고, 이후 GEO로 확장하는 순서가 현실적이다.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07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결정 전 자가진단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전략을 정하기 전, 우리 회사를 진단하라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업종 유형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거래형(B2C)인가 전문형(B2B)인가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성장 단계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빠른 성과가 급한가, 장기 빌딩이 가능한가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리소스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콘텐츠·링크에 투입 가능한 인력·예산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경쟁 강도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시장이 이미 성숙했는가, 초기인가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08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흔한 실패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전략 선택에서 자주 실패하는 것들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완벽한 전략만 찾다 시작 못 함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'시작한 전략 &gt; 완벽한 전략' — 일단 하나로 시작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모든 걸 동시에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리소스 분산으로 아무것도 성과 안 남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트래픽만 보다 인용 놓침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제로클릭 시대엔 인용률·점유율도 봐야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단기 성과에 조급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GEO는 3~6개월, 샌드박스를 견뎌야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09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자동화 — 대량 발행의 시대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구글은 AI 콘텐츠를 벌하지 않는다. '어떻게 만들었나'가 아니라 '얼마나 유용한가'가 기준이다.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콘텐츠 제작 트렌드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구글은 AI 콘텐츠를 벌하지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2194560"/>
          <a:ext cx="47548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47548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Ahrefs 60만 페이지 분석 · 제작 방식 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468880"/>
            <a:ext cx="6035040" cy="3474720"/>
          </a:xfrm>
          <a:prstGeom prst="roundRect">
            <a:avLst>
              <a:gd name="adj" fmla="val 421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81.9%가 '사람+AI 협업'</a:t>
            </a:r>
          </a:p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상위 20위 60만 페이지를 분석한 결과, 오늘 발행되는 콘텐츠의 대다수는 사람과 AI의 협업이다. 순수 AI는 4.6%, 순수 인간은 13.5%뿐이다.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구글의 공식 입장(2023)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AI로 만들었든 사람이 썼든, '유용하면' 보상한다. 판단 기준은 제작 방식이 아니라 품질이다.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263640"/>
            <a:ext cx="60350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출처 : Ahrefs (Si Quan Ong), AI-Generated Content Does Not Hurt Rankings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11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AI 활용 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'인간+AI 혼합' 안에서도 스펙트럼이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혼합 콘텐츠 내부의 AI 활용 강도(%) — 대부분 '사람 주도 + AI 보조'에서 '균형'까지 분포한다.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514600"/>
          <a:ext cx="108813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핵심 — 가장 흔한 방식은 '사람과 AI가 균형 있게(40%)'. 완전 자동(지배적)은 7.8%로 소수다.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12 / 38</a:t>
            </a:r>
          </a:p>
        </p:txBody>
      </p:sp>
      <p:sp>
        <p:nvSpPr>
          <p:cNvPr id="10" name="AccentRect1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콘텐츠 대량발행 5트렌드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자동화는 다섯 갈래로 진화하고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4028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스프레드시트 자동화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 시트로 제목·콘텐츠 생성을 반자동화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35808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990088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프로그래매틱 SEO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에어테이블+Make로 템플릿×데이터 대량 생성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85615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739896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하이브리드(N→W, 실무 관행)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 글을 워드프레스·인스타로 확산 — 국내 현장 관행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3542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489704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개인 데이터 활용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B2B·전문직 녹음 파일을 콘텐츠로 전환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85231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239512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에이전틱 AI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에이전트가 기획~발행을 수행 (가장 진화)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13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프로그래매틱 SEO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템플릿 × 데이터로 대량 생성한다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프로그래매틱 SEO는 하나의 템플릿에 구조화된 데이터(에어테이블 등)를 결합해 수백~수천 페이지를 자동 생성하는 기법이다. 지역·상품·비교 페이지처럼 패턴이 반복되는 콘텐츠에 강력하다.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5148072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288536"/>
            <a:ext cx="4489704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잘 쓰면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GENUINELY HELPFUL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각 페이지가 실제로 다른 가치를 제공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사용자 질문에 정확히 답한다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검색 의도에 맞는 데이터 기반 페이지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977639"/>
            <a:ext cx="5148072" cy="1828800"/>
          </a:xfrm>
          <a:prstGeom prst="roundRect">
            <a:avLst>
              <a:gd name="adj" fmla="val 8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4288536"/>
            <a:ext cx="4489704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잘못 쓰면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SCALED CONTENT ABUSE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가치 없는 양산형 페이지는 스팸 정책 위반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구글 'scaled content abuse'로 제재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'유용함'이 없으면 대량 생성은 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14 / 38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자동화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반복 작업을 도구로 연결한다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640080" y="2651760"/>
            <a:ext cx="2468880" cy="914400"/>
          </a:xfrm>
          <a:prstGeom prst="chevron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2194560" cy="9144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키워드·소스 정리</a:t>
            </a:r>
          </a:p>
        </p:txBody>
      </p:sp>
      <p:sp>
        <p:nvSpPr>
          <p:cNvPr id="7" name="Chevron 6"/>
          <p:cNvSpPr/>
          <p:nvPr/>
        </p:nvSpPr>
        <p:spPr>
          <a:xfrm>
            <a:off x="3364992" y="2651760"/>
            <a:ext cx="2468880" cy="914400"/>
          </a:xfrm>
          <a:prstGeom prst="chevron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3749039"/>
            <a:ext cx="2194560" cy="9144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템플릿×AI로 초안</a:t>
            </a:r>
          </a:p>
        </p:txBody>
      </p:sp>
      <p:sp>
        <p:nvSpPr>
          <p:cNvPr id="9" name="Chevron 8"/>
          <p:cNvSpPr/>
          <p:nvPr/>
        </p:nvSpPr>
        <p:spPr>
          <a:xfrm>
            <a:off x="6089904" y="2651760"/>
            <a:ext cx="2468880" cy="914400"/>
          </a:xfrm>
          <a:prstGeom prst="chevron">
            <a:avLst/>
          </a:prstGeom>
          <a:solidFill>
            <a:srgbClr val="51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3749039"/>
            <a:ext cx="2194560" cy="9144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사람이 품질·사실 확인</a:t>
            </a:r>
          </a:p>
        </p:txBody>
      </p:sp>
      <p:sp>
        <p:nvSpPr>
          <p:cNvPr id="11" name="Chevron 10"/>
          <p:cNvSpPr/>
          <p:nvPr/>
        </p:nvSpPr>
        <p:spPr>
          <a:xfrm>
            <a:off x="8814816" y="2651760"/>
            <a:ext cx="2468880" cy="914400"/>
          </a:xfrm>
          <a:prstGeom prst="chevron">
            <a:avLst/>
          </a:prstGeom>
          <a:solidFill>
            <a:srgbClr val="61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발행·색인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1976" y="3749039"/>
            <a:ext cx="2194560" cy="9144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자동 발행·색인 요청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20640"/>
            <a:ext cx="10634472" cy="86868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1024128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자동화의 핵심은 '사람의 검수'를 파이프라인에 남기는 것 — 완전 자동은 품질·사실 위험이 크다.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15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대행사 선택 &amp; 한국 GEO 시장 사례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이론을 시장의 실제 모습과 맞춰본다. 국내 GEO 선도 업체 두 곳의 서비스 구조를 살핀다.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대행사 첫 미팅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이 질문으로 그린·레드를 가려낸다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'어떤 방법으로 링크를 얻나요?'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화이트햇을 구체적으로 설명하면 그린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'예상 기간은요?'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현실적 기간(수개월)을 제시하면 그린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'무엇을 리포트하나요?'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순위·유입·전환·AI 인용까지면 그린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'1위를 보장하나요?'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'보장한다'고 하면 레드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17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운영 모델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내부팀 vs 대행사 vs 하이브리드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내부팀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맥락 이해·빠른 실행 · 채용·학습 비용 부담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대행사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전문성·즉시 투입 · 내부 지식 축적은 약함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하이브리드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전략·핵심은 내부, 실행·링크는 대행 — 균형형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대행사에 맡기더라도 '전략 판단'과 '측정 해석' 역량은 내부에 남겨야 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18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심층 사례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넥스트티(next-t.co.kr) — GEO 전문 솔루션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GEO 전문 업체로, GEO 운영의 전 과정을 기능별 솔루션으로 분리해 제공한다.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3337560" cy="2103120"/>
          </a:xfrm>
          <a:prstGeom prst="roundRect">
            <a:avLst>
              <a:gd name="adj" fmla="val 6956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45536"/>
            <a:ext cx="2834640" cy="1554479"/>
          </a:xfrm>
          <a:prstGeom prst="roundRect">
            <a:avLst>
              <a:gd name="adj" fmla="val 941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OPTISEO · OPTIGEO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SEO·GEO 최적화 — ChatGPT·Perplexity·Claude·구글·네이버 실시간 인용 추적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2834640"/>
            <a:ext cx="3337560" cy="2103120"/>
          </a:xfrm>
          <a:prstGeom prst="roundRect">
            <a:avLst>
              <a:gd name="adj" fmla="val 6956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28346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145536"/>
            <a:ext cx="2834640" cy="1554479"/>
          </a:xfrm>
          <a:prstGeom prst="roundRect">
            <a:avLst>
              <a:gd name="adj" fmla="val 941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OPTIBLOG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GEO 지향 콘텐츠 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2834640"/>
            <a:ext cx="3337560" cy="2103120"/>
          </a:xfrm>
          <a:prstGeom prst="roundRect">
            <a:avLst>
              <a:gd name="adj" fmla="val 6956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28346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145536"/>
            <a:ext cx="2834640" cy="1554479"/>
          </a:xfrm>
          <a:prstGeom prst="roundRect">
            <a:avLst>
              <a:gd name="adj" fmla="val 941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OPTIANALYTICS · OPTIENTITY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성과 분석 + 엔티티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'학습봇·인용봇 구분' 같은 실무 개념을 시장에 처음 제시 — 콘텐츠부터 엔티티까지 GEO를 솔루션화.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19 / 38</a:t>
            </a:r>
          </a:p>
        </p:txBody>
      </p:sp>
      <p:sp>
        <p:nvSpPr>
          <p:cNvPr id="18" name="AccentRect18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심층 사례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SEO코리아(seo.co.kr) — 업종별 맞춤 컨설팅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B2B · 엔터프라이즈 트랙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LONG CYCLE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복잡한 의사결정 구조의 B2B·대기업 대상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긴 영업 사이클에 맞춘 콘텐츠·링크빌딩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장기 계약·전문 서비스 중심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깊은 트랙 레코드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스타트업 · 이커머스 트랙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FAST GROWTH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빠른 성장·거래 전환이 중요한 곳 대상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AEO 중심의 빠른 성과형 전략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업종 특성에 따라 AEO·GEO 비중 조절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성과형 별도 트랙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20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두 업체에서 배우는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공통점과 우리 전략에 적용하기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기능 분리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GEO를 '콘텐츠·엔티티·측정'으로 나눠 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업종 맞춤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B2B·B2C에 따라 AEO·GEO 비중을 다르게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한국형 경로(N→W)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 글을 구글·AI로 확산하는 국내 특유 전략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핵심 — 완제품을 사는 게 아니라, '기능 분리·업종 맞춤·N→W'라는 원리를 우리 상황에 이식하는 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21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한국 시장 특수성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한국에서 GEO가 특히 중요해지는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네이버-구글-AI 삼각 구조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세 채널을 동시에 겨냥해야 하는 복잡성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N→W 크롤링 경로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 블로그 글이 구글·AI로 확산되는 특성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전문직·병원 선행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국내에서 가장 먼저 GEO 성과가 난 분야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초기 시장의 기회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아직 초기라 지금 진입이 유리하다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22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2025~2026 소비자·AI 검색 연구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숫자로 확인한다. 소비자는 이미 AI 검색을 '의도적으로' 선택하고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검색 행태의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소비자는 이미 AI 검색을 의도적으로 선택한다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7797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+693%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2025 홀리데이, AI 소스에서 미국 리테일 사이트로의 유입 증가(YoY)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전 업종 중 가장 큰 증가폭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37083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Adobe Analytics,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4688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7797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+31%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유입 방문자의 전환율이 다른 채널보다 높음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방문당 매출은 +254%, 이탈은 33%↓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437083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Adobe Analytics,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4688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797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~40%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18~24세가 '맛집' 검색 시 구글 대신 틱톡·인스타 이용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일반 검색이 아닌 '장소 발견' 한정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37083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Google(Raghavan),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1947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검증된 시장 데이터 — AI·소셜 검색은 '보는 채널'이 아니라 '사는 채널'로 바뀌고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학계의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개인화가 소비자 행동에 미치는 영향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2970885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연구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8437" y="2331720"/>
            <a:ext cx="7224674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주요 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07208"/>
            <a:ext cx="2970885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Sandhu et al.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8437" y="2807208"/>
            <a:ext cx="7224674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개인화 엔진이 소비자 니즈를 예측해 쇼핑을 더 빠르고 쉽게 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10634472" cy="6858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493008"/>
            <a:ext cx="2970885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Dai &amp; Liu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8437" y="3493008"/>
            <a:ext cx="7224674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기반 개인화가 소비자의 구매 의도·만족도를 현저히 높임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178808"/>
            <a:ext cx="2970885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Wilson et al.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8437" y="4178808"/>
            <a:ext cx="7224674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맞춤형 지원이 고객 참여·브랜드 충성도·판매를 상승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64608"/>
            <a:ext cx="10634472" cy="6858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864608"/>
            <a:ext cx="2970885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Klaviyo (2026)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8437" y="4864608"/>
            <a:ext cx="7224674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열성 사용자의 83%가 AI 추천으로 모르던 제품을 구매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※ 위 4편은 강사 제공 자료 기준이며 원문 확인을 권장한다. 독립 검증된 시장 데이터는 앞 장(Adobe·Google) 참조.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25 / 38</a:t>
            </a:r>
          </a:p>
        </p:txBody>
      </p:sp>
      <p:sp>
        <p:nvSpPr>
          <p:cNvPr id="22" name="AccentRect2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세대별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Z세대 vs 기존 세대, 검색 방식이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기존 세대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TRADITIONAL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3~7단어의 짧은 키워드 중심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검색 결과 링크를 직접 비교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여러 사이트를 옮겨다니며 종합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검색창에 '입력'하는 데 익숙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Z세대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AI-NATIVE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8단어 이상의 문장형·문단형 질문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AI에게 '대화'하듯 묻는다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요약된 답을 바로 받길 원함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SNS·AI를 검색처럼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26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두 소비자 페르소나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설득 포인트가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Enthusiast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열성 사용자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AI 추천을 신뢰하고 적극 수용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AI 답변에 '인용'되는 것이 곧 설득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구조화·신뢰 신호에 잘 반응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GEO·AEO의 핵심 타깃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전통적 소비자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TRADITIONAL BUYER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직접 비교·검토를 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리뷰·평점·상세 정보를 확인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검색 상위 노출·브랜드 신뢰가 중요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전통 SEO가 여전히 유효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27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AI 트래픽의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양은 적지만, 질은 압도적이다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120640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57200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0.5% → 12.1%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AI 검색 트래픽 비중은 0.5%지만, 회원가입 전환 비중은 12.1%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방문자 수는 적어도 실제 행동으로 이어지는 비율이 훨씬 높다. AI 유입 사용자는 이미 니즈를 설명한 뒤 추천받은 상태다.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Ahrefs,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651760"/>
            <a:ext cx="5394960" cy="3200400"/>
          </a:xfrm>
          <a:prstGeom prst="roundRect">
            <a:avLst>
              <a:gd name="adj" fmla="val 457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그래서 전략은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트래픽 '양'이 아니라 '질'로 평가한다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구매 의도 높은 AI 유입을 전환에 집중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인용률·유입전환율을 함께 측정한다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28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2026~2028 전망과 6강 총정리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앞으로 2년의 흐름을 읽고, 6강 동안 쌓은 것을 하나의 실행 로드맵으로 묶는다.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다시 보는 전망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검색은 사라지지 않는다 — 재편된다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4754880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20624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-25%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2026년까지 전통 검색엔진 사용량 감소 전망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'검색'이 사라지는 게 아니라 '검색창에 입력하는 행위'가 줄어든다. 그 자리를 AI 답변이 채운다.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Gartner, 2024.02 (Alan Antin)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651760"/>
            <a:ext cx="5669280" cy="3200400"/>
          </a:xfrm>
          <a:prstGeom prst="roundRect">
            <a:avLst>
              <a:gd name="adj" fmla="val 457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의미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트래픽의 총량보다 '어디에 노출되나'가 중요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AI 답변 안의 인용 = 새로운 상위 노출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지금 GEO 자산을 쌓는 초기 진입자가 유리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30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2026~2028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앞으로 2년, 무엇이 달라지는가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에이전틱 검색 확산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AI가 비교·예약·구매까지 — 구조화·엔티티 중요성 급등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측정 도구의 성숙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수동 테스트하던 인용률·점유율이 표준 도구로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SEO·AEO·GEO 통합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세 전략이 하나의 '가시성 전략'으로 운영되는 것이 표준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31 / 38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6강 과정 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우리가 함께 쌓아온 6강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검색 패러다임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94560"/>
            <a:ext cx="67665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SEO·AEO·GEO 3단 모델과 2026 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79775"/>
            <a:ext cx="10634472" cy="10972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834639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39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기초 인프라 셋팅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39"/>
            <a:ext cx="67665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도메인·호스팅·CMS·검색엔진 등록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9856"/>
            <a:ext cx="10634472" cy="10972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74720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테크니컬 SEO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67665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크롤·색인·CWV·구조화·보안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59936"/>
            <a:ext cx="10634472" cy="10972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&amp; AEO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14800"/>
            <a:ext cx="67665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검색의도·토픽 클러스터·즉답형 작성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0016"/>
            <a:ext cx="10634472" cy="10972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54880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링크빌딩 &amp; GEO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54880"/>
            <a:ext cx="67665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백링크·엔티티·GEO KPI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40096"/>
            <a:ext cx="10634472" cy="10972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94960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통합·자동화·전망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394960"/>
            <a:ext cx="67665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상황별 전략·자동화·2026~2028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980176"/>
            <a:ext cx="10634472" cy="10972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32 / 38</a:t>
            </a:r>
          </a:p>
        </p:txBody>
      </p:sp>
      <p:sp>
        <p:nvSpPr>
          <p:cNvPr id="31" name="AccentRect3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오늘부터 시작하기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과정을 마친 지금, 가장 먼저 할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15412" y="287304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9572" y="237744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0332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서치콘솔 연결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등록·색인·성과 측정의 출발점을 만든다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236" y="287304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54396" y="237744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7784" y="370332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질문 10개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고객이 실제로 묻는 질문에 즉답형 콘텐츠</a:t>
            </a:r>
          </a:p>
        </p:txBody>
      </p:sp>
      <p:sp>
        <p:nvSpPr>
          <p:cNvPr id="11" name="Oval 10"/>
          <p:cNvSpPr/>
          <p:nvPr/>
        </p:nvSpPr>
        <p:spPr>
          <a:xfrm>
            <a:off x="8999219" y="237744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607" y="370332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인용 테스트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ChatGPT·Claude에서 브랜드 인용 여부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10634472" cy="86868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24128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'시작한 전략 &gt; 완벽한 전략' — 오늘 이 세 가지 중 하나라도 시작하는 것이 6강의 진짜 결론이다.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33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미래를 위한 역량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2026~2028, 마케터에게 필요한 새 역량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가시성 사고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순위가 아니라 '인용'으로 생각하는 관점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데이터·구조화 감각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AI가 읽기 쉬운 콘텐츠를 설계하는 능력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측정·해석력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인용률·점유율 등 새 KPI를 읽는 힘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실험·자동화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도구로 반복을 자동화하고 빠르게 실험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34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통합 실행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1주 · 1개월 · 3개월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291840"/>
          </a:xfrm>
          <a:prstGeom prst="roundRect">
            <a:avLst>
              <a:gd name="adj" fmla="val 444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743200"/>
          </a:xfrm>
          <a:prstGeom prst="roundRect">
            <a:avLst>
              <a:gd name="adj" fmla="val 533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 연결 · AEO 질문 10개 수집 · 즉답형 첫 글 발행 · AI 인용 테스트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291840"/>
          </a:xfrm>
          <a:prstGeom prst="roundRect">
            <a:avLst>
              <a:gd name="adj" fmla="val 444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743200"/>
          </a:xfrm>
          <a:prstGeom prst="roundRect">
            <a:avLst>
              <a:gd name="adj" fmla="val 533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1개월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토픽 클러스터 설계 · E-E-A-T 강화 · 구조화 데이터 적용 · 화이트햇 링크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291840"/>
          </a:xfrm>
          <a:prstGeom prst="roundRect">
            <a:avLst>
              <a:gd name="adj" fmla="val 444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743200"/>
          </a:xfrm>
          <a:prstGeom prst="roundRect">
            <a:avLst>
              <a:gd name="adj" fmla="val 533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3개월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GEO 심층 콘텐츠 · 엔티티 구축 · 인용률·점유율 측정 · 리라이팅 루틴화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작게 시작해 3개월이면 SEO·AEO·GEO가 하나의 흐름으로 돌아가기 시작한다.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35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과정을 마치며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제로클릭 시대, 보이지 않으면 존재하지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1188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058400" cy="11887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“SEO로 발견되고, AEO로 채택되고, GEO로 인용되는 것 — 이 세 가지를 하나의 흐름으로 설계하는 것이 AI 검색 시대의 마케팅이다.”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94760"/>
            <a:ext cx="3337560" cy="2011680"/>
          </a:xfrm>
          <a:prstGeom prst="roundRect">
            <a:avLst>
              <a:gd name="adj" fmla="val 727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7947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05656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발견 (SEO)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검색엔진이 내 페이지를 수집·색인·랭킹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3794760"/>
            <a:ext cx="3337560" cy="2011680"/>
          </a:xfrm>
          <a:prstGeom prst="roundRect">
            <a:avLst>
              <a:gd name="adj" fmla="val 727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37947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4105656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채택 (AEO)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AI가 즉답으로 내 콘텐츠를 골라 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3794760"/>
            <a:ext cx="3337560" cy="2011680"/>
          </a:xfrm>
          <a:prstGeom prst="roundRect">
            <a:avLst>
              <a:gd name="adj" fmla="val 727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6992" y="37947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4105656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인용 (GEO)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생성 답변에 출처로 인용되어 존재감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36 / 38</a:t>
            </a:r>
          </a:p>
        </p:txBody>
      </p:sp>
      <p:sp>
        <p:nvSpPr>
          <p:cNvPr id="18" name="AccentRect18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6 · 6강 총정리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6강 동안 배운 핵심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전략은 '완벽함'이 아니라 '시작' — 상황에 맞춰 AEO·GEO·통합의 시작점을 정한다.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구글은 AI 콘텐츠를 벌하지 않는다(혼합 81.9%) — 자동화하되 '사람의 검수'를 남긴다.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소비자는 이미 AI 검색을 의도적으로 선택하며, AI가 구매 결정에 직접 개입한다.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2026~2028엔 에이전틱·측정 성숙·통합이 흐름 — SEO·AEO·GEO는 하나의 가시성 전략이다.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24128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6강 완주를 축하합니다 — 오늘 배운 체크리스트 하나부터 바로 시작해보세요.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37 / 38</a:t>
            </a:r>
          </a:p>
        </p:txBody>
      </p:sp>
      <p:sp>
        <p:nvSpPr>
          <p:cNvPr id="25" name="AccentRect2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40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4241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AI 검색 시대 마케팅 — SEO · AEO · GEO 6강 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1828800" cy="23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Ahrefs (Si Quan Ong). AI 콘텐츠 60만 페이지 분석(혼합 81.9%) — ahrefs.com/blog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2971800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Google (2024.03). Scaled content abuse 스팸 정책 — developers.google.com/search/blog/2024/03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74720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Adobe Analytics (2025). AI 소스 리테일 유입 +693%·전환 +31% — business.adobe.com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3474720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Google (Raghavan, 2022). 18~24세 ~40% 틱톡·인스타로 장소 검색 — fortune.com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77639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Gartner (2024.02). 전통 검색량 -25% by 2026 — gartner.com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3977639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소비자 학술연구(Sandhu·Dai&amp;Liu·Wilson·Klaviyo) — 강사 제공 자료, 원문 확인 권장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480560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넥스트티 next-t.co.kr · SEO코리아 seo.co.kr — 국내 GEO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480560"/>
            <a:ext cx="52120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· 김보경(BK Kim). 콘텐츠 자동화·프로그래매틱 SEO 강의자료 (marketingmm.co.kr)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806440"/>
            <a:ext cx="10424160" cy="12801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89320"/>
            <a:ext cx="1042416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김보경 (BK Kim) 대표강사</a:t>
            </a:r>
          </a:p>
          <a:p>
            <a:pPr algn="l">
              <a:lnSpc>
                <a:spcPct val="115000"/>
              </a:lnSpc>
            </a:pPr>
            <a:r>
              <a:rPr sz="1050" b="0" i="0" spc="5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bk@marketingmm.co.kr   ·   010-3213-5619   ·   marketingmm.co.kr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