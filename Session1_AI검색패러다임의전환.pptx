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1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전년 대비 성장률(%)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B4B"/>
                    </a:solidFill>
                    <a:latin typeface="Noto Sans CJK K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46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7A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3885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46E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Gemini</c:v>
                  </c:pt>
                  <c:pt idx="1">
                    <c:v>Grok</c:v>
                  </c:pt>
                  <c:pt idx="2">
                    <c:v>Claude</c:v>
                  </c:pt>
                  <c:pt idx="3">
                    <c:v>Perplexity</c:v>
                  </c:pt>
                  <c:pt idx="4">
                    <c:v>ChatGPT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644</c:v>
                </c:pt>
                <c:pt idx="1">
                  <c:v>480</c:v>
                </c:pt>
                <c:pt idx="2">
                  <c:v>298</c:v>
                </c:pt>
                <c:pt idx="3">
                  <c:v>39</c:v>
                </c:pt>
                <c:pt idx="4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1B4B"/>
                  </a:solidFill>
                  <a:latin typeface="Noto Sans CJK K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76B8C"/>
                </a:solidFill>
                <a:latin typeface="Noto Sans CJK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2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76B8C"/>
                </a:solidFill>
                <a:latin typeface="Noto Sans CJK K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1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image" Target="../media/image-23-1.png"/><Relationship Id="rId4" Type="http://schemas.openxmlformats.org/officeDocument/2006/relationships/image" Target="../media/image-2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1.png"/><Relationship Id="rId3" Type="http://schemas.openxmlformats.org/officeDocument/2006/relationships/image" Target="../media/image-32-1.png"/><Relationship Id="rId4" Type="http://schemas.openxmlformats.org/officeDocument/2006/relationships/image" Target="../media/image-32-1.png"/><Relationship Id="rId5" Type="http://schemas.openxmlformats.org/officeDocument/2006/relationships/image" Target="../media/image-32-1.png"/><Relationship Id="rId6" Type="http://schemas.openxmlformats.org/officeDocument/2006/relationships/image" Target="../media/image-32-1.png"/><Relationship Id="rId7" Type="http://schemas.openxmlformats.org/officeDocument/2006/relationships/image" Target="../media/image-32-1.png"/><Relationship Id="rId8" Type="http://schemas.openxmlformats.org/officeDocument/2006/relationships/image" Target="../media/image-32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1.png"/><Relationship Id="rId3" Type="http://schemas.openxmlformats.org/officeDocument/2006/relationships/image" Target="../media/image-39-1.png"/><Relationship Id="rId4" Type="http://schemas.openxmlformats.org/officeDocument/2006/relationships/image" Target="../media/image-39-1.png"/><Relationship Id="rId5" Type="http://schemas.openxmlformats.org/officeDocument/2006/relationships/image" Target="../media/image-3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2.png"/><Relationship Id="rId4" Type="http://schemas.openxmlformats.org/officeDocument/2006/relationships/image" Target="../media/image-4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1.png"/><Relationship Id="rId3" Type="http://schemas.openxmlformats.org/officeDocument/2006/relationships/image" Target="../media/image-51-1.png"/><Relationship Id="rId4" Type="http://schemas.openxmlformats.org/officeDocument/2006/relationships/image" Target="../media/image-51-1.png"/><Relationship Id="rId5" Type="http://schemas.openxmlformats.org/officeDocument/2006/relationships/image" Target="../media/image-51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1.png"/><Relationship Id="rId3" Type="http://schemas.openxmlformats.org/officeDocument/2006/relationships/image" Target="../media/image-6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4754880" cy="4754880"/>
          </a:xfrm>
          <a:prstGeom prst="ellipse">
            <a:avLst/>
          </a:prstGeom>
          <a:solidFill>
            <a:srgbClr val="342F8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914400"/>
            <a:ext cx="2377440" cy="2377440"/>
          </a:xfrm>
          <a:prstGeom prst="ellipse">
            <a:avLst/>
          </a:prstGeom>
          <a:solidFill>
            <a:srgbClr val="FF7A45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/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검색 패러다임의 전환</a:t>
            </a:r>
            <a:endParaRPr lang="en-US" sz="4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SEO에서 AEO·GEO까지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검색은 더 이상 '링크 목록'이 아니다. AI가 직접 답을 만들어주는 시대, 마케팅 실무자가 가장 먼저 다시 정리해야 할 가시성의 문법을 처음부터 짚는다.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" y="4791456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645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140년 미디어·검색 역사로 보는 패러다임 이동의 패턴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9808" y="5212080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506577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 → AEO → GEO, 발견·채택·인용의 3단계 모델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9808" y="5632704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54864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콘텐츠를 키워드가 아니라 '의미'로 평가한다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9808" y="6053328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90702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최신 데이터로 확인하는 AI 검색의 현재 위치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5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검색 시대 마케팅 — SEO·AEO·GEO 5주 완성 과정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다루는 5가지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08760" y="178308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· 검색의 역사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349240" y="1783080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구전 → 신문·라디오·TV → 포털 → 소셜 → 생성형 AI, 140년간 반복된 패권 이동의 법칙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642616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679192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2679192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· SEO·AEO·GEO 3단 모델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349240" y="2679192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발견(SEO) → 채택(AEO) → 인용(GEO) — 셋은 경쟁 관계가 아니라 순차적 보완 관계다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538728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575304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3575304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· AI의 콘텐츠 평가 방식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349240" y="3575304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키워드 빈도 기반 채점에서 의미·맥락 임베딩 기반 평가로, 평가 기준 자체가 바뀌었다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434840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471416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4471416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· 2026 데이터로 보는 현재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349240" y="4471416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ChatGPT·Gemini 트래픽 추이, AI Overview 도달률, 한국 검색 시장 점유율 최신 수치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330952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367528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08760" y="5367528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· SEO는 끝났는가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349240" y="5367528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흔한 오해를 데이터로 검증하고, 2회차부터 이어질 실전 로드맵을 미리 그린다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rou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검색은 어떻게 여기까지 왔는가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구전에서 생성형 AI까지, 140년 미디어·검색 역사를 압축해서 훑는다. 패턴을 보면 다음 변화도 예측할 수 있다.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역사를 보는 이유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미디어 패권은 늘 '발견 방식'을 따라 이동했다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시대든 사람들이 새로운 정보를 찾는 통로가 바뀌면, 그 통로를 장악한 채널이 곧 마케팅의 중심이 되었다.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seo_course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414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28600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발견 채널이 곧 권력이다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70432" y="2633472"/>
            <a:ext cx="10186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정보를 찾는 첫 관문을 쥔 채널이 그 시대 광고·마케팅 예산을 가장 많이 흡수했다. 신문, 포털, 소셜, 이제는 생성형 AI가 그 자리를 차례로 차지하고 있다.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566928" y="332841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/home/claude/seo_course/icons/refre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44728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329184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기술은 대체가 아니라 누적이다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70432" y="3639312"/>
            <a:ext cx="10186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라디오가 나왔다고 신문이 사라지지 않았고, 포털이 나왔다고 TV가 사라지지 않았다. 새 채널은 기존 채널 위에 '한 겹'을 더 얹는 방식으로 누적되어 왔다.</a:t>
            </a:r>
            <a:endParaRPr lang="en-US" sz="1230" dirty="0"/>
          </a:p>
        </p:txBody>
      </p:sp>
      <p:sp>
        <p:nvSpPr>
          <p:cNvPr id="13" name="Shape 9"/>
          <p:cNvSpPr/>
          <p:nvPr/>
        </p:nvSpPr>
        <p:spPr>
          <a:xfrm>
            <a:off x="56692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2" descr="/home/claude/seo_course/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5312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429768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검색의 본질은 변하지 않았다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70432" y="4645152"/>
            <a:ext cx="10186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궁금한 것에 대한 신뢰할 수 있는 답을 가장 빠르게 찾고 싶어하는 욕구 자체는 1883년이나 2026년이나 동일하다. 바뀐 것은 '누가 그 답을 골라주는가'뿐이다.</a:t>
            </a:r>
            <a:endParaRPr lang="en-US" sz="1230" dirty="0"/>
          </a:p>
        </p:txBody>
      </p:sp>
      <p:sp>
        <p:nvSpPr>
          <p:cNvPr id="17" name="Shape 12"/>
          <p:cNvSpPr/>
          <p:nvPr/>
        </p:nvSpPr>
        <p:spPr>
          <a:xfrm>
            <a:off x="566928" y="534009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8" name="Image 3" descr="/home/claude/seo_course/icons/lightbul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45896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70432" y="530352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그래서 역사가 전략이 된다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170432" y="5650992"/>
            <a:ext cx="10186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과거 매체 전환기에 살아남은 브랜드들의 공통점은 새 채널을 가장 먼저 받아들였다는 것이다. AI 검색 전환기도 동일한 기회의 창을 열어주고 있다.</a:t>
            </a:r>
            <a:endParaRPr lang="en-US" sz="1230" dirty="0"/>
          </a:p>
        </p:txBody>
      </p:sp>
      <p:sp>
        <p:nvSpPr>
          <p:cNvPr id="21" name="Text 1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매스미디어 시대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1883~1999, 정보 게이트키퍼의 탄생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신문에서 포털까지, 한 시대를 대표하는 '발견 채널'이 약 30~70년 주기로 교체되어 왔다.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4572000"/>
            <a:ext cx="10332720" cy="0"/>
          </a:xfrm>
          <a:prstGeom prst="line">
            <a:avLst/>
          </a:prstGeom>
          <a:noFill/>
          <a:ln w="25400">
            <a:solidFill>
              <a:srgbClr val="E2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4489704"/>
            <a:ext cx="164592" cy="164592"/>
          </a:xfrm>
          <a:prstGeom prst="ellipse">
            <a:avLst/>
          </a:prstGeom>
          <a:solidFill>
            <a:srgbClr val="FF7A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" y="33009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1883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" y="3575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신문 (한성순보)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근대 언론의 시작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323844" y="4489704"/>
            <a:ext cx="164592" cy="164592"/>
          </a:xfrm>
          <a:prstGeom prst="ellipse">
            <a:avLst/>
          </a:prstGeom>
          <a:solidFill>
            <a:srgbClr val="FF7A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8900" y="48828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1927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28900" y="5157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라디오 (경성방송국)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28900" y="55595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음성 동시 송출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907024" y="4489704"/>
            <a:ext cx="164592" cy="164592"/>
          </a:xfrm>
          <a:prstGeom prst="ellipse">
            <a:avLst/>
          </a:prstGeom>
          <a:solidFill>
            <a:srgbClr val="FF7A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3009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1956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3575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TV (대한방송)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영상 매체 등장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8490204" y="4489704"/>
            <a:ext cx="164592" cy="164592"/>
          </a:xfrm>
          <a:prstGeom prst="ellipse">
            <a:avLst/>
          </a:prstGeom>
          <a:solidFill>
            <a:srgbClr val="FF7A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5260" y="48828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1998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95260" y="5157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95260" y="55595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페이지랭크 기반 SEO 탄생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11073384" y="4489704"/>
            <a:ext cx="164592" cy="164592"/>
          </a:xfrm>
          <a:prstGeom prst="ellipse">
            <a:avLst/>
          </a:prstGeom>
          <a:solidFill>
            <a:srgbClr val="FF7A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78440" y="33009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1999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378440" y="3575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37844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한국형 포털·SEO 시작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핵심 개념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게이트키퍼(Gatekeeper) 모델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 유통의 문지기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신문·라디오·TV 시대에는 편집자·PD라는 '사람'이 무엇을 대중에게 보여줄지 직접 선별했다.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검색엔진이 등장하면서 이 역할은 알고리즘으로 넘어갔고, 이제 생성형 AI가 등장하면서 '선별하는 주체'가 다시 한 번 바뀌고 있다 — 사람에서 알고리즘으로, 알고리즘에서 생성형 AI로.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229100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newspap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328952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1차 전환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사람(편집자) → 검색 알고리즘(PageRank, C-Rank)으로 게이트키퍼 역할 이동</a:t>
            </a:r>
            <a:endParaRPr lang="en-US" sz="1260" dirty="0"/>
          </a:p>
        </p:txBody>
      </p:sp>
      <p:sp>
        <p:nvSpPr>
          <p:cNvPr id="13" name="Shape 9"/>
          <p:cNvSpPr/>
          <p:nvPr/>
        </p:nvSpPr>
        <p:spPr>
          <a:xfrm>
            <a:off x="566928" y="5518404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4" name="Image 2" descr="/home/claude/seo_course/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" y="5618256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5065776"/>
            <a:ext cx="102412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2차 전환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알고리즘 → 생성형 AI(답변 합성 모델)로 게이트키퍼 역할이 다시 이동 중</a:t>
            </a:r>
            <a:endParaRPr lang="en-US" sz="126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소셜 플랫폼 시대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2004~2021, 검색이 플랫폼 안으로 들어가다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포털 검색창 밖에서도 '발견'이 일어나기 시작한 시기. 알고리즘 피드가 검색창을 대체하기 시작했다.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4572000"/>
            <a:ext cx="10332720" cy="0"/>
          </a:xfrm>
          <a:prstGeom prst="line">
            <a:avLst/>
          </a:prstGeom>
          <a:noFill/>
          <a:ln w="25400">
            <a:solidFill>
              <a:srgbClr val="E2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4489704"/>
            <a:ext cx="164592" cy="164592"/>
          </a:xfrm>
          <a:prstGeom prst="ellipse">
            <a:avLst/>
          </a:prstGeom>
          <a:solidFill>
            <a:srgbClr val="FF7A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" y="33009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" y="3575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Facebook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소셜 네트워크형 발견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323844" y="4489704"/>
            <a:ext cx="164592" cy="164592"/>
          </a:xfrm>
          <a:prstGeom prst="ellipse">
            <a:avLst/>
          </a:prstGeom>
          <a:solidFill>
            <a:srgbClr val="FF7A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8900" y="48828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28900" y="5157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YouTube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28900" y="55595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영상 검색의 부상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907024" y="4489704"/>
            <a:ext cx="164592" cy="164592"/>
          </a:xfrm>
          <a:prstGeom prst="ellipse">
            <a:avLst/>
          </a:prstGeom>
          <a:solidFill>
            <a:srgbClr val="FF7A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3009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2010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3575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 기반 발견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8490204" y="4489704"/>
            <a:ext cx="164592" cy="164592"/>
          </a:xfrm>
          <a:prstGeom prst="ellipse">
            <a:avLst/>
          </a:prstGeom>
          <a:solidFill>
            <a:srgbClr val="FF7A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5260" y="48828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2016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95260" y="5157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TikTok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95260" y="55595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알고리즘 추천형 발견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11073384" y="4489704"/>
            <a:ext cx="164592" cy="164592"/>
          </a:xfrm>
          <a:prstGeom prst="ellipse">
            <a:avLst/>
          </a:prstGeom>
          <a:solidFill>
            <a:srgbClr val="FF7A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78440" y="33009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2020~21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378440" y="3575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Reels·Shorts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37844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숏폼 검색의 일상화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검색의 두 갈래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포털 검색 vs 소셜 발견, 같은 목적 다른 경로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사람들은 이제 '검색창에 입력'하는 것과 '피드에서 발견'하는 것을 동시에 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5285232" cy="4169664"/>
          </a:xfrm>
          <a:prstGeom prst="roundRect">
            <a:avLst>
              <a:gd name="adj" fmla="val 1974"/>
            </a:avLst>
          </a:prstGeom>
          <a:solidFill>
            <a:srgbClr val="EEF0FC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395728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포털형 검색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9536" y="2798064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QUERY-DRIVEN DISCOVERY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" y="311810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사용자가 명확한 질문이나 키워드를 직접 입력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445459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결과는 링크 목록 또는 답변 형태로 제공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859536" y="3750869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구글·네이버·빙이 대표적 채널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859536" y="399044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SEO·AEO·GEO가 직접 작동하는 전통적 영역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263640" y="2157984"/>
            <a:ext cx="5285232" cy="4169664"/>
          </a:xfrm>
          <a:prstGeom prst="roundRect">
            <a:avLst>
              <a:gd name="adj" fmla="val 1974"/>
            </a:avLst>
          </a:prstGeom>
          <a:solidFill>
            <a:srgbClr val="FFE9DC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2395728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소셜형 발견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556248" y="2798064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FEED-DRIVEN DISCOVERY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56248" y="311810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사용자가 질문 없이 피드를 스크롤하며 우연히 발견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6556248" y="3478378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 알고리즘이 관심사 기반으로 콘텐츠를 먼저 제시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556248" y="384962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인스타그램·유튜브·틱톡이 대표적 채널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6556248" y="4133088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시대에는 이 콘텐츠가 AI 학습 데이터로도 활용됨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생성형 AI 검색 시대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2022~2028, 답을 '찾는' 시대에서 '받는' 시대로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 등장 이후 5년 만에 검색의 결과물 자체가 링크 목록에서 합성된 답변으로 바뀌고 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4572000"/>
            <a:ext cx="10332720" cy="0"/>
          </a:xfrm>
          <a:prstGeom prst="line">
            <a:avLst/>
          </a:prstGeom>
          <a:noFill/>
          <a:ln w="25400">
            <a:solidFill>
              <a:srgbClr val="E2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4489704"/>
            <a:ext cx="164592" cy="164592"/>
          </a:xfrm>
          <a:prstGeom prst="ellipse">
            <a:avLst/>
          </a:prstGeom>
          <a:solidFill>
            <a:srgbClr val="FF7A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" y="33009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" y="3575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ChatGPT·Perplexity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답변 검색 시작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323844" y="4489704"/>
            <a:ext cx="164592" cy="164592"/>
          </a:xfrm>
          <a:prstGeom prst="ellipse">
            <a:avLst/>
          </a:prstGeom>
          <a:solidFill>
            <a:srgbClr val="FF7A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8900" y="48828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28900" y="5157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 Bard→Gemini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28900" y="55595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포털의 생성형 AI 대응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907024" y="4489704"/>
            <a:ext cx="164592" cy="164592"/>
          </a:xfrm>
          <a:prstGeom prst="ellipse">
            <a:avLst/>
          </a:prstGeom>
          <a:solidFill>
            <a:srgbClr val="FF7A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3009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3575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Claude·AI Overview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답변이 검색 결과에 통합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8490204" y="4489704"/>
            <a:ext cx="164592" cy="164592"/>
          </a:xfrm>
          <a:prstGeom prst="ellipse">
            <a:avLst/>
          </a:prstGeom>
          <a:solidFill>
            <a:srgbClr val="FF7A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5260" y="48828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95260" y="5157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AI 브리핑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95260" y="55595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 포털의 AEO 대응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11073384" y="4489704"/>
            <a:ext cx="164592" cy="164592"/>
          </a:xfrm>
          <a:prstGeom prst="ellipse">
            <a:avLst/>
          </a:prstGeom>
          <a:solidFill>
            <a:srgbClr val="FF7A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78440" y="33009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378440" y="3575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전망: SEO &lt; AEO/GEO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37844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Gartner, 전통 검색량 -25% 전망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937760" cy="4937760"/>
          </a:xfrm>
          <a:prstGeom prst="ellipse">
            <a:avLst/>
          </a:prstGeom>
          <a:solidFill>
            <a:srgbClr val="342F8C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2028년 전망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-25%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D7D9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대비 2028년, 전통 검색엔진 사용량 감소 전망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Gartner는 생성형 AI 비서·답변 엔진의 확산으로 2028년까지 전통적인 검색엔진 사용량이 최대 25% 줄어들 것으로 전망했다. 검색이 사라지는 게 아니라 '검색창에 입력하는 행위'가 줄어드는 것이다.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8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Gartner, 2025 전망 보고서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역사가 주는 교훈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패턴은 반복된다 — 검색은 사라진 적이 없다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140년의 역사를 한 문장으로 정리하면, 채널은 계속 바뀌었지만 '신뢰할 수 있는 답을 찾으려는 욕구'는 한 번도 사라지지 않았다.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seo_course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414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28600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채널은 누적된다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70432" y="2633472"/>
            <a:ext cx="10186416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신문 독자도, 라디오 청취자도, TV 시청자도 모두 지금까지 존재한다. 생성형 AI 검색도 기존 검색을 없애는 것이 아니라 그 위에 새로운 층을 쌓는다.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566928" y="366369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/home/claude/seo_course/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78256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362712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전환 주기는 짧아지고 있다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70432" y="3974592"/>
            <a:ext cx="10186416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신문→라디오 44년, 라디오→TV 29년이 걸렸지만 검색→소셜 6년, 소셜→생성형 AI는 불과 1~2년 만에 일어났다. 마케터가 대응할 시간은 점점 줄어든다.</a:t>
            </a:r>
            <a:endParaRPr lang="en-US" sz="1230" dirty="0"/>
          </a:p>
        </p:txBody>
      </p:sp>
      <p:sp>
        <p:nvSpPr>
          <p:cNvPr id="13" name="Shape 9"/>
          <p:cNvSpPr/>
          <p:nvPr/>
        </p:nvSpPr>
        <p:spPr>
          <a:xfrm>
            <a:off x="566928" y="500481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2" descr="/home/claude/seo_course/icons/rock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12368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496824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적응자가 자산을 쌓는다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70432" y="5315712"/>
            <a:ext cx="10186416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포털 초기에 블로그를 시작한 사업자, 유튜브 초기에 채널을 만든 크리에이터가 지금까지 누적 자산을 갖고 있다. GEO도 지금이 그 '초기 진입'의 창이다.</a:t>
            </a:r>
            <a:endParaRPr lang="en-US" sz="1230" dirty="0"/>
          </a:p>
        </p:txBody>
      </p:sp>
      <p:sp>
        <p:nvSpPr>
          <p:cNvPr id="17" name="Text 1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전환 주기의 가속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채널 전환 주기, 점점 짧아지고 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44년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신문(1883) → 라디오(1927)까지 걸린 시간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세대가 통째로 바뀌어야 새 채널이 자리 잡던 시기다.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미디어 역사 연표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644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1104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6년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51104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구글(1998) → 페이스북(2004)까지, 검색에서 소셜로 발견 채널이 확장된 시간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1104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포털 검색이 자리잡기도 전에 소셜 발견이 등장했다.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1104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미디어 역사 연표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2596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9056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1~2년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829056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056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ChatGPT(2022) → AI Overview·AI 브리핑 주류화(2024~25)까지 걸린 시간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9056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이제 마케터가 대응을 준비할 시간은 1~2년 단위로 줄었다.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29056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미디어 역사 연표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5952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전환 주기가 짧아질수록, 먼저 움직이는 사람이 가져가는 상대적 우위는 더 커진다.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패턴 인식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패러다임 전환기를 알아채는 4가지 신호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237286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45845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20574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새로운 발견 채널이 등장하고 빠르게 사용자를 모은다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301752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광고비와 마케팅 예산이 기존 채널에서 새 채널로 이동한다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진입자가 압도적인 도달률·점유율 우위를 가져간다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566928" y="525322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6" y="533881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493776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채널의 '게이트키퍼' 역할과 영향력이 점점 약해진다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 → AEO → GEO, 검색의 3단계 모델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셋은 서로 경쟁하는 전략이 아니다. 발견되고(SEO), 채택되고(AEO), 인용되는(GEO) 순차적 보완 관계다.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출발점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 (Search Engine Optimization)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 최적화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검색엔진이 내 콘텐츠를 발견·이해·평가하고, 검색 결과 상위에 노출시키도록 최적화하는 모든 과정이다.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광고는 예산을 켜둔 동안만 노출되지만, SEO·GEO는 한 번 구축해두면 꺼지지 않는 자산이 된다는 점에서 근본적으로 다른 투자다.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87375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chartb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973604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도메인 권위 지표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DA(Domain Authority)·TF(Trust Flow)·CF(Citation Flow)·SS(Spam Score) 4개 지표로 사이트의 신뢰도를 측정한다.</a:t>
            </a:r>
            <a:endParaRPr lang="en-US" sz="1260" dirty="0"/>
          </a:p>
        </p:txBody>
      </p:sp>
      <p:sp>
        <p:nvSpPr>
          <p:cNvPr id="13" name="Text 9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왜 SEO가 여전히 중요한가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결과 상위 3개가 트래픽의 75%를 가져간다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91%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검색 결과 1페이지가 차지하는 전체 클릭 비중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2페이지 이하로 넘어가는 사용자는 9%에 불과하다.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 업계 표준 데이터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644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1104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75%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51104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결과 상위 3개 링크가 가져가는 트래픽 비중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1104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4위 아래로는 클릭률이 급격히 떨어진다.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1104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 업계 표준 데이터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2596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9056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0원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829056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056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 노출 이후 추가로 드는 클릭당 광고비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9056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광고는 예산이 꺼지면 노출도 꺼지지만 SEO는 꺼지지 않는다.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29056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next-t.co.kr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5952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광고와 SEO·GEO의 근본적 차이 — 하나는 '켜둔 동안만'의 자산, 다른 하나는 '쌓이는' 자산이다.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SEO 실무 프로세스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SEO는 한 번의 작업이 아니라 6단계 운영 과정이다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실무에서는 진단부터 모니터링까지 순환하는 구조로 운영된다.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seo_course/icons/filetex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414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비즈니스·웹사이트 진단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70432" y="2633472"/>
            <a:ext cx="4654296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2~3주, 현재 사이트의 기술적 상태와 콘텐츠 경쟁력을 분석한다.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609904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/home/claude/seo_course/icons/rou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44144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0255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로드맵·전략 수립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702552" y="2633472"/>
            <a:ext cx="4654296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2~4주, 진단 결과를 바탕으로 우선순위와 실행 계획을 설계한다.</a:t>
            </a:r>
            <a:endParaRPr lang="en-US" sz="1230" dirty="0"/>
          </a:p>
        </p:txBody>
      </p:sp>
      <p:sp>
        <p:nvSpPr>
          <p:cNvPr id="13" name="Shape 9"/>
          <p:cNvSpPr/>
          <p:nvPr/>
        </p:nvSpPr>
        <p:spPr>
          <a:xfrm>
            <a:off x="566928" y="366369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2" descr="/home/claude/seo_course/icons/wren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8256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362712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기술 SEO 개선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70432" y="3974592"/>
            <a:ext cx="4654296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4~8주, 크롤링·색인·속도 등 기반 인프라를 먼저 정비한다.</a:t>
            </a:r>
            <a:endParaRPr lang="en-US" sz="1230" dirty="0"/>
          </a:p>
        </p:txBody>
      </p:sp>
      <p:sp>
        <p:nvSpPr>
          <p:cNvPr id="17" name="Shape 12"/>
          <p:cNvSpPr/>
          <p:nvPr/>
        </p:nvSpPr>
        <p:spPr>
          <a:xfrm>
            <a:off x="6099048" y="366369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8" name="Image 3" descr="/home/claude/seo_course/icons/filetex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78256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02552" y="362712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콘텐츠 SEO 실행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702552" y="3974592"/>
            <a:ext cx="4654296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지속적·월 단위, 검색 의도에 맞춘 콘텐츠를 꾸준히 생산한다.</a:t>
            </a:r>
            <a:endParaRPr lang="en-US" sz="1230" dirty="0"/>
          </a:p>
        </p:txBody>
      </p:sp>
      <p:sp>
        <p:nvSpPr>
          <p:cNvPr id="21" name="Shape 15"/>
          <p:cNvSpPr/>
          <p:nvPr/>
        </p:nvSpPr>
        <p:spPr>
          <a:xfrm>
            <a:off x="566928" y="500481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2" name="Image 4" descr="/home/claude/seo_course/icons/chartlin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123688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70432" y="496824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분석 도구 활용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170432" y="5315712"/>
            <a:ext cx="4654296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구글·네이버·빙 애널리틱스로 성과를 정량적으로 추적한다.</a:t>
            </a:r>
            <a:endParaRPr lang="en-US" sz="1230" dirty="0"/>
          </a:p>
        </p:txBody>
      </p:sp>
      <p:sp>
        <p:nvSpPr>
          <p:cNvPr id="25" name="Shape 18"/>
          <p:cNvSpPr/>
          <p:nvPr/>
        </p:nvSpPr>
        <p:spPr>
          <a:xfrm>
            <a:off x="6099048" y="500481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6" name="Image 5" descr="/home/claude/seo_course/icons/refres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5123688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02552" y="496824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모니터링·재학습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6702552" y="5315712"/>
            <a:ext cx="4654296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알고리즘 변화에 맞춰 전략을 지속적으로 보완한다.</a:t>
            </a:r>
            <a:endParaRPr lang="en-US" sz="1230" dirty="0"/>
          </a:p>
        </p:txBody>
      </p:sp>
      <p:sp>
        <p:nvSpPr>
          <p:cNvPr id="29" name="Text 2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1단계 확장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(Answer Engine Optimization)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답변엔진 최적화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질문에 대해 AI 답변엔진이 내 콘텐츠를 '신뢰할 수 있는 정답'으로 채택하도록 만드는 최적화 전략이다.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Featured Snippet, AI Overview, 챗봇의 즉답형 응답 등에서 내 콘텐츠가 직접 인용되거나 발췌되는 것을 목표로 한다.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229100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328952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효과 발현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4~8주로 비교적 빠르게 결과가 나타나며, 거래형 키워드·스타트업에 적합하다.</a:t>
            </a:r>
            <a:endParaRPr lang="en-US" sz="1260" dirty="0"/>
          </a:p>
        </p:txBody>
      </p:sp>
      <p:sp>
        <p:nvSpPr>
          <p:cNvPr id="13" name="Shape 9"/>
          <p:cNvSpPr/>
          <p:nvPr/>
        </p:nvSpPr>
        <p:spPr>
          <a:xfrm>
            <a:off x="566928" y="5518404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4" name="Image 2" descr="/home/claude/seo_course/icons/filetex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" y="5618256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5065776"/>
            <a:ext cx="102412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길이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500~800자 분량의 간결하고 완결된 답변형 구조가 핵심이다.</a:t>
            </a:r>
            <a:endParaRPr lang="en-US" sz="126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2단계 확장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(Generative Engine Optimization)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엔진 최적화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AI가 답변을 합성할 때 우리 브랜드·콘텐츠가 신뢰할 수 있는 출처로 인용·추천되도록 만드는 전략이다.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2023~2024년 프린스턴·조지아텍 공동연구진(Aggarwal 외, KDD 2024)이 처음 체계화한 개념으로, 9가지 콘텐츠 전략을 10개 검색엔진·1만개 질의로 실험해 AI 응답 내 가시성을 최대 40%까지 끌어올릴 수 있음을 확인했다.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229100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328952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효과 발현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3~6개월의 장기적 관점이 필요하며, B2B·전문 서비스업에 특히 효과적이다.</a:t>
            </a:r>
            <a:endParaRPr lang="en-US" sz="1260" dirty="0"/>
          </a:p>
        </p:txBody>
      </p:sp>
      <p:sp>
        <p:nvSpPr>
          <p:cNvPr id="13" name="Shape 9"/>
          <p:cNvSpPr/>
          <p:nvPr/>
        </p:nvSpPr>
        <p:spPr>
          <a:xfrm>
            <a:off x="566928" y="5518404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4" name="Image 2" descr="/home/claude/seo_course/icons/filetex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" y="5618256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5065776"/>
            <a:ext cx="102412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길이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2,000~4,000자 분량의 심층적이고 권위 있는 분석형 콘텐츠가 유리하다.</a:t>
            </a:r>
            <a:endParaRPr lang="en-US" sz="126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통합 모델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발견(SEO) → 채택(AEO) → 인용(GEO)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단계는 순서가 있는 깔때기 구조다. 발견되지 않으면 채택될 수 없고, 채택되지 않으면 인용될 수 없다.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493008" cy="4160520"/>
          </a:xfrm>
          <a:prstGeom prst="roundRect">
            <a:avLst>
              <a:gd name="adj" fmla="val 2356"/>
            </a:avLst>
          </a:prstGeom>
          <a:solidFill>
            <a:srgbClr val="1E1B4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487168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9808" y="312724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1 · SEO · 발견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3822192"/>
            <a:ext cx="31272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D4D6F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대상은 전통 검색엔진. 목표는 검색 결과 상위 노출. 핵심 자산은 키워드와 링크 구조다.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4041648" y="4073652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352544" y="2286000"/>
            <a:ext cx="3493008" cy="4160520"/>
          </a:xfrm>
          <a:prstGeom prst="roundRect">
            <a:avLst>
              <a:gd name="adj" fmla="val 2356"/>
            </a:avLst>
          </a:prstGeom>
          <a:solidFill>
            <a:srgbClr val="342F8C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2487168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35424" y="312724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2 · AEO · 채택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35424" y="3822192"/>
            <a:ext cx="31272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D4D6F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대상은 답변엔진. 목표는 신뢰할 수 있는 출처로 인식되는 것. 핵심 자산은 정답형 콘텐츠 구조다.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7827264" y="4073652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138160" y="2286000"/>
            <a:ext cx="3493008" cy="4160520"/>
          </a:xfrm>
          <a:prstGeom prst="roundRect">
            <a:avLst>
              <a:gd name="adj" fmla="val 2356"/>
            </a:avLst>
          </a:prstGeom>
          <a:solidFill>
            <a:srgbClr val="1E1B4B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487168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21040" y="312724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3 · GEO · 인용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21040" y="3822192"/>
            <a:ext cx="31272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D4D6F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대상은 생성형 AI. 목표는 AI 답변 안에 직접 인용되는 것. 핵심 자산은 구조화된 데이터와 신뢰도다.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한눈에 보는 비교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vs GEO 실전 비교표</a:t>
            </a:r>
            <a:endParaRPr lang="en-US" sz="2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768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AEO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GEO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효과 발현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4~8주 (빠른 결과)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3~6개월 (장기적 효과)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적합 상황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스타트업, 거래형 키워드 업종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B2B 기업, 전문 서비스업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콘텐츠 길이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500~800자 간결한 답변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2,000~4,000자 심층 분석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투자 비용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상대적 저비용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상대적 고비용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성과 지표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Featured Snippet 획득률, AI 답변 인용률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 모델 내 브랜드 언급 빈도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실무 포인트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AEO와 GEO, 실무에서는 무엇을 먼저 바꿔야 하나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실무 포인트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빠르게 적용 가능한 변화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 서두에 핵심 답을 50자 내로 먼저 배치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915107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FAQ 형태로 질문-답변 구조를 명시적으로 분리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264408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숫자·단계로 답을 구조화해 발췌하기 쉽게 작성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859536" y="3602736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블로그·상세페이지에 즉시 적용 가능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실무 포인트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장기적으로 쌓는 신뢰 자산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통계·데이터·출처 인용을 콘텐츠에 적극 포함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2915107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페이지 = 하나의 일관된 전문 주제로 정리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6556248" y="3253435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E-E-A-T(경험·전문성·권위성·신뢰성)를 전면에 노출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556248" y="365760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schema.org 구조화 데이터로 AI가 읽기 쉽게 정리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SEO 3대 표준 영역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→ 콘텐츠 → 링크빌딩, SEO를 구성하는 세 기둥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237286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45845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20574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 — 검색엔진이 사이트를 읽을 수 있는 기반을 만든다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301752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SEO — 검색 의도에 맞는 콘텐츠로 빠른 효과를 낸다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링크빌딩 SEO — 외부 신뢰 신호를 쌓아 최종 경쟁력을 완성한다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566928" y="525322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6" y="533881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493776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영역은 기반 → 효과 → 승부 순서로 운영하는 것이 정석이다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자주 묻는 질문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SEO를 처음 시작할 때 가장 많이 묻는 질문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검색엔진최적화(SEO)란 정확히 무엇인가요?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566928" y="211226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11226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웹사이트를 검색엔진에 상위 노출시켜 자연적으로 트래픽을 늘리는 디지털 마케팅 전략이다. 광고비 없이도 콘텐츠를 상단에 노출시켜 매출 효과를 얻을 수 있다.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66928" y="324612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 작업은 왜 필요한가요?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566928" y="366674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66674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투자 대비 수익률이 매우 높은 전략으로, 검색 결과 상단에 노출되면 큰 트래픽과 빠른 성장을 기대할 수 있다. 구글 1페이지가 전체 트래픽의 91%를 차지한다.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66928" y="480060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800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SEO를 위해 구체적으로 어떤 작업이 필요한가요?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566928" y="522122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522122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키워드 리서치, 타이틀·메타태그 최적화, 이미지 alt태그 추가가 기본이다. 페이지 속도 개선과 모바일 최적화도 검색 순위에 직접 영향을 준다.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신뢰도 측정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도메인 권위 4대 지표 완전 정리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백링크 분석 도구(Ahrefs, Moz, Majestic 등)에서 공통으로 확인하는 4가지 핵심 지표다.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seo_course/icons/aw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414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 · Domain Authority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70432" y="263347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사이트 전체의 검색 순위 경쟁력을 0~100 점수로 환산한 종합 권위 지표다.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609904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/home/claude/seo_course/icons/shield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44144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0255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TF · Trust Flow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702552" y="263347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연결된 링크의 '품질'을 기준으로 산출하는 신뢰도 지표로, 양보다 질을 본다.</a:t>
            </a:r>
            <a:endParaRPr lang="en-US" sz="1230" dirty="0"/>
          </a:p>
        </p:txBody>
      </p:sp>
      <p:sp>
        <p:nvSpPr>
          <p:cNvPr id="13" name="Shape 9"/>
          <p:cNvSpPr/>
          <p:nvPr/>
        </p:nvSpPr>
        <p:spPr>
          <a:xfrm>
            <a:off x="56692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2" descr="/home/claude/seo_course/icons/lin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5312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429768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CF · Citation Flow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70432" y="464515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연결된 링크의 '수'를 기준으로 산출하는 영향력 지표로, 질보다 양을 본다.</a:t>
            </a:r>
            <a:endParaRPr lang="en-US" sz="1230" dirty="0"/>
          </a:p>
        </p:txBody>
      </p:sp>
      <p:sp>
        <p:nvSpPr>
          <p:cNvPr id="17" name="Shape 12"/>
          <p:cNvSpPr/>
          <p:nvPr/>
        </p:nvSpPr>
        <p:spPr>
          <a:xfrm>
            <a:off x="609904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8" name="Image 3" descr="/home/claude/seo_course/icons/ale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45312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02552" y="429768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SS · Spam Score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702552" y="464515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스팸성 링크·콘텐츠 패턴이 얼마나 감지되는지를 나타내는 위험 지표다.</a:t>
            </a:r>
            <a:endParaRPr lang="en-US" sz="1230" dirty="0"/>
          </a:p>
        </p:txBody>
      </p:sp>
      <p:sp>
        <p:nvSpPr>
          <p:cNvPr id="21" name="Text 1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자산의 재정의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 자산 vs GEO 자산, 무엇이 쌓이는가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전략 모두 '쌓이는 자산'을 만들지만, 쌓이는 대상 자체가 다르다.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5285232" cy="4169664"/>
          </a:xfrm>
          <a:prstGeom prst="roundRect">
            <a:avLst>
              <a:gd name="adj" fmla="val 1974"/>
            </a:avLst>
          </a:prstGeom>
          <a:solidFill>
            <a:srgbClr val="EEF0FC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395728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 자산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9536" y="2798064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랭킹·링크 기반 자산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" y="311810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백링크 네트워크와 도메인 권위(DA·TF·CF)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467405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특정 키워드의 검색 결과 순위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859536" y="3706978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사이트맵·색인 상태 등 기술적 기반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859536" y="3979469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구글·네이버 애널리틱스에 누적된 트래픽 데이터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263640" y="2157984"/>
            <a:ext cx="5285232" cy="4169664"/>
          </a:xfrm>
          <a:prstGeom prst="roundRect">
            <a:avLst>
              <a:gd name="adj" fmla="val 1974"/>
            </a:avLst>
          </a:prstGeom>
          <a:solidFill>
            <a:srgbClr val="FFE9DC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2395728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자산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556248" y="2798064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신뢰·인용 기반 자산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56248" y="311810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구조화된 데이터와 일관된 전문 주제 권위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6556248" y="342351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모델 응답 안에서의 브랜드 언급 빈도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556248" y="3739896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리뷰 플랫폼·외부 채널에 쌓인 신뢰 신호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6556248" y="4045306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E-E-A-T를 입증하는 저자·출처·경험 정보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자주 묻는 질문 (계속)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 실무에서 자주 마주치는 질문들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SEO와 네이버 SEO의 차이는 무엇인가요?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566928" y="211226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11226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구글은 페이지랭크 기반 글로벌 알고리즘으로 HTTPS·캐노니컬 태그·키워드 중심 콘텐츠를 중시한다. 네이버는 C-Rank·D.I.A 모델로 전문성과 사용자 반응을 더 비중 있게 평가한다.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66928" y="324612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 작업 시 유용한 도구는 무엇인가요?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566928" y="366674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66674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서치콘솔과 네이버 웹마스터도구(서치어드바이저)를 기본으로 활용해 웹사이트 상태를 분석하고 최적화 작업을 진행할 수 있다.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66928" y="480060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800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 작업에서 흔히 발생하는 문제는 무엇인가요?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566928" y="522122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522122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robots.txt 설정 오류, 사이트맵 누락 같은 기술적 문제와 콘텐츠 품질 부족, 모바일 친화성 부족이 대표적이다. 정기적인 점검과 개선이 필요하다.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콘텐츠를 어떻게 다르게 평가하는가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키워드를 몇 번 썼는지 세던 시대는 끝났다. 이제 AI는 문장의 '의미'를 벡터로 변환해 맥락과 신뢰도를 함께 평가한다.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평가 기준의 전환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키워드 빈도 채점에서 의미 기반 평가로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전통 검색엔진과 생성형 AI는 같은 텍스트를 전혀 다른 방식으로 '읽는다'.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5285232" cy="4169664"/>
          </a:xfrm>
          <a:prstGeom prst="roundRect">
            <a:avLst>
              <a:gd name="adj" fmla="val 1974"/>
            </a:avLst>
          </a:prstGeom>
          <a:solidFill>
            <a:srgbClr val="EEF0FC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395728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전통 검색엔진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9536" y="2798064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KEYWORD-BASED SCORING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" y="311810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특정 키워드가 몇 번, 어디에 등장하는지 계산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45643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제목·헤딩·본문의 키워드 일치율을 핵심 신호로 사용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859536" y="3827678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동의어·문맥보다 정확한 일치(exact match)를 선호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859536" y="4242816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결과: 키워드를 반복 삽입하는 최적화가 통하던 시대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263640" y="2157984"/>
            <a:ext cx="5285232" cy="4169664"/>
          </a:xfrm>
          <a:prstGeom prst="roundRect">
            <a:avLst>
              <a:gd name="adj" fmla="val 1974"/>
            </a:avLst>
          </a:prstGeom>
          <a:solidFill>
            <a:srgbClr val="FFE9DC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2395728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556248" y="2798064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EMBEDDING-BASED EVALUATION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56248" y="311810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문장을 고차원 벡터로 변환해 '의미적 유사도'를 계산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6556248" y="3500323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의미면 다른 단어를 써도 동일하게 인식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556248" y="3827678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문맥적 일관성과 정보의 신뢰도를 함께 평가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6556248" y="4144061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결과: 키워드 반복은 무의미하고 오히려 역효과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eo_course/icons/quote_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77240" y="100584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87452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통계를 추가하고 출처를 인용하는 두 전략만으로 AI 응답 안에서의 콘텐츠 가시성을 평균 31.4% 끌어올릴 수 있었다. 반면 키워드를 반복하는 전통적 최적화는 가시성을 오히려 떨어뜨렸다.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77240" y="5029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 Aggarwal 외, 프린스턴·조지아텍·앨런AI연구소 공동연구(KDD 2024) 핵심 발견 요약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GEO 연구 핵심 수치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9가지 전략을 1만 개 질의로 실험한 결과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05200" cy="443484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+40%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9가지 GEO 전략을 적용했을 때 AI 응답 내 가시성 최대 상승폭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398264"/>
            <a:ext cx="317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10개 생성형 검색엔진을 대상으로 측정한 결과다.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560527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Aggarwal 외, KDD 2024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6448" y="1627632"/>
            <a:ext cx="3505200" cy="443484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1104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+31.4%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51104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통계 추가 + 출처 인용, 두 전략을 결합했을 때의 평균 가시성 향상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11040" y="4398264"/>
            <a:ext cx="317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전략 중 가장 효과가 컸던 두 가지다.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11040" y="560527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Aggarwal 외, KDD 2024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25968" y="1627632"/>
            <a:ext cx="3505200" cy="443484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9056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역효과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829056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056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 없는 키워드 반복(키워드 스터핑)이 GEO에서 가져오는 결과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90560" y="4398264"/>
            <a:ext cx="317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전통 SEO의 상식이 GEO에서는 통하지 않는다.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290560" y="560527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Aggarwal 외, KDD 2024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실무 체크리스트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콘텐츠를 평가하는 8가지 원칙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237286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45845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20574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의미와 맥락을 찾아라 — 키워드보다 스토리텔링이 중요하다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237286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245845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20574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서두에 핵심 요약을 먼저 배치하라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페이지 = 하나의 일관된 전문 주제로 좁혀라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333298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341857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숫자·데이터·경험·의견을 구체적으로 담아라</a:t>
            </a:r>
            <a:endParaRPr lang="en-US" sz="1260" dirty="0"/>
          </a:p>
        </p:txBody>
      </p:sp>
      <p:sp>
        <p:nvSpPr>
          <p:cNvPr id="16" name="Shape 10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7" name="Image 4" descr="/home/claude/seo_cours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2412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Q&amp;A·FAQ 구조를 적극 활용하라</a:t>
            </a:r>
            <a:endParaRPr lang="en-US" sz="1260" dirty="0"/>
          </a:p>
        </p:txBody>
      </p:sp>
      <p:sp>
        <p:nvSpPr>
          <p:cNvPr id="19" name="Shape 12"/>
          <p:cNvSpPr/>
          <p:nvPr/>
        </p:nvSpPr>
        <p:spPr>
          <a:xfrm>
            <a:off x="6099048" y="429310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20" name="Image 5" descr="/home/claude/seo_course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4636" y="4378696"/>
            <a:ext cx="158008" cy="1580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5624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주장에는 반드시 출처를 명시하라</a:t>
            </a:r>
            <a:endParaRPr lang="en-US" sz="1260" dirty="0"/>
          </a:p>
        </p:txBody>
      </p:sp>
      <p:sp>
        <p:nvSpPr>
          <p:cNvPr id="22" name="Shape 14"/>
          <p:cNvSpPr/>
          <p:nvPr/>
        </p:nvSpPr>
        <p:spPr>
          <a:xfrm>
            <a:off x="566928" y="525322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23" name="Image 6" descr="/home/claude/seo_course/icons/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516" y="5338816"/>
            <a:ext cx="158008" cy="15800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24128" y="4937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상/하위 카테고리로 콘텐츠를 구조화하라</a:t>
            </a:r>
            <a:endParaRPr lang="en-US" sz="1260" dirty="0"/>
          </a:p>
        </p:txBody>
      </p:sp>
      <p:sp>
        <p:nvSpPr>
          <p:cNvPr id="25" name="Shape 16"/>
          <p:cNvSpPr/>
          <p:nvPr/>
        </p:nvSpPr>
        <p:spPr>
          <a:xfrm>
            <a:off x="6099048" y="525322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26" name="Image 7" descr="/home/claude/seo_course/icons/chec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4636" y="5338816"/>
            <a:ext cx="158008" cy="15800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556248" y="4937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E-E-A-T 네 요소를 모두 갖추라</a:t>
            </a:r>
            <a:endParaRPr lang="en-US" sz="1260" dirty="0"/>
          </a:p>
        </p:txBody>
      </p:sp>
      <p:sp>
        <p:nvSpPr>
          <p:cNvPr id="28" name="Text 1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핵심 신뢰 프레임워크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E-E-A-T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Experience · Expertise · Authoritativeness · Trust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구글이 콘텐츠 품질을 평가하는 4대 기준으로, 생성형 AI 역시 동일한 신뢰 신호를 학습 데이터 평가에 활용한다.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특히 건강·금융·법률처럼 잘못된 정보가 큰 피해로 이어질 수 있는 YMYL(Your Money or Your Life) 영역에서는 E-E-A-T 충족 여부가 노출과 인용을 좌우하는 핵심 변수가 된다.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3906774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006626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Experience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실제로 경험해본 사람만이 쓸 수 있는 1차 정보가 담겨 있는가</a:t>
            </a:r>
            <a:endParaRPr lang="en-US" sz="1260" dirty="0"/>
          </a:p>
        </p:txBody>
      </p:sp>
      <p:sp>
        <p:nvSpPr>
          <p:cNvPr id="13" name="Shape 9"/>
          <p:cNvSpPr/>
          <p:nvPr/>
        </p:nvSpPr>
        <p:spPr>
          <a:xfrm>
            <a:off x="566928" y="4551426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4" name="Image 2" descr="/home/claude/seo_course/icons/graduationc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" y="4651278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4421124"/>
            <a:ext cx="1024128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Expertise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해당 분야에 대한 전문성이 콘텐츠 안에서 드러나는가</a:t>
            </a:r>
            <a:endParaRPr lang="en-US" sz="1260" dirty="0"/>
          </a:p>
        </p:txBody>
      </p:sp>
      <p:sp>
        <p:nvSpPr>
          <p:cNvPr id="16" name="Shape 11"/>
          <p:cNvSpPr/>
          <p:nvPr/>
        </p:nvSpPr>
        <p:spPr>
          <a:xfrm>
            <a:off x="566928" y="5196078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7" name="Image 3" descr="/home/claude/seo_course/icons/aw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" y="5295930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78992" y="5065776"/>
            <a:ext cx="1024128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Authoritativeness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업계 내에서 권위 있는 출처로 인정받고 있는가</a:t>
            </a:r>
            <a:endParaRPr lang="en-US" sz="1260" dirty="0"/>
          </a:p>
        </p:txBody>
      </p:sp>
      <p:sp>
        <p:nvSpPr>
          <p:cNvPr id="19" name="Shape 13"/>
          <p:cNvSpPr/>
          <p:nvPr/>
        </p:nvSpPr>
        <p:spPr>
          <a:xfrm>
            <a:off x="566928" y="5840730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20" name="Image 4" descr="/home/claude/seo_course/icons/shield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80" y="5940582"/>
            <a:ext cx="184343" cy="18434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78992" y="5710428"/>
            <a:ext cx="1024128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Trust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정보의 정확성과 투명성이 검증 가능한가</a:t>
            </a:r>
            <a:endParaRPr lang="en-US" sz="1260" dirty="0"/>
          </a:p>
        </p:txBody>
      </p:sp>
      <p:sp>
        <p:nvSpPr>
          <p:cNvPr id="22" name="Text 1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AI 인용 패턴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AI가 실제로 인용하는 콘텐츠의 5가지 패턴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어떤 형태의 콘텐츠를 답변에 가져다 쓰는지는 이미 패턴화되어 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seo_course/icons/list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414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리스트·비교형 콘텐츠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70432" y="2633472"/>
            <a:ext cx="4654296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'Best X' 형태의 목록형 글이 전체 ChatGPT 인용 페이지 유형의 43.8%를 차지한다.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609904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/home/claude/seo_course/icons/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44144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0255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통계·데이터 중심 콘텐츠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702552" y="2633472"/>
            <a:ext cx="4654296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구체적인 숫자와 출처가 명시된 문단이 AI 답변에 발췌되기 쉽다.</a:t>
            </a:r>
            <a:endParaRPr lang="en-US" sz="1230" dirty="0"/>
          </a:p>
        </p:txBody>
      </p:sp>
      <p:sp>
        <p:nvSpPr>
          <p:cNvPr id="13" name="Shape 9"/>
          <p:cNvSpPr/>
          <p:nvPr/>
        </p:nvSpPr>
        <p:spPr>
          <a:xfrm>
            <a:off x="566928" y="366369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2" descr="/home/claude/seo_course/icons/comment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8256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362712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채널의 언급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70432" y="3974592"/>
            <a:ext cx="4654296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브랜드 언급의 85%는 자사 도메인이 아닌 외부 사이트(리뷰·커뮤니티)에서 발생한다.</a:t>
            </a:r>
            <a:endParaRPr lang="en-US" sz="1230" dirty="0"/>
          </a:p>
        </p:txBody>
      </p:sp>
      <p:sp>
        <p:nvSpPr>
          <p:cNvPr id="17" name="Shape 12"/>
          <p:cNvSpPr/>
          <p:nvPr/>
        </p:nvSpPr>
        <p:spPr>
          <a:xfrm>
            <a:off x="6099048" y="366369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8" name="Image 3" descr="/home/claude/seo_course/icons/st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78256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02552" y="362712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리뷰 플랫폼 등록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702552" y="3974592"/>
            <a:ext cx="4654296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G2·Capterra 같은 리뷰 플랫폼 관리만으로 ChatGPT 인용 확률이 3배 높아진다.</a:t>
            </a:r>
            <a:endParaRPr lang="en-US" sz="1230" dirty="0"/>
          </a:p>
        </p:txBody>
      </p:sp>
      <p:sp>
        <p:nvSpPr>
          <p:cNvPr id="21" name="Shape 15"/>
          <p:cNvSpPr/>
          <p:nvPr/>
        </p:nvSpPr>
        <p:spPr>
          <a:xfrm>
            <a:off x="566928" y="500481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2" name="Image 4" descr="/home/claude/seo_course/icons/questio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123688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70432" y="496824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Q&amp;A 구조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170432" y="5315712"/>
            <a:ext cx="4654296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질문-답변 형태로 명확히 구조화된 콘텐츠가 답변엔진에 발췌되기 쉽다.</a:t>
            </a:r>
            <a:endParaRPr lang="en-US" sz="1230" dirty="0"/>
          </a:p>
        </p:txBody>
      </p:sp>
      <p:sp>
        <p:nvSpPr>
          <p:cNvPr id="25" name="Text 1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937760" cy="4937760"/>
          </a:xfrm>
          <a:prstGeom prst="ellipse">
            <a:avLst/>
          </a:prstGeom>
          <a:solidFill>
            <a:srgbClr val="342F8C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발견 경로의 단절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12%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D7D9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ChatGPT·Gemini·Copilot이 인용한 URL 중 구글 검색 상위 10위 안에도 있는 비율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 88%의 AI 인용 출처는 전통적인 구글 검색 순위와 무관하게 결정된다. 검색 순위가 높다고 AI가 인용하는 것이 아니며, SEO 순위와 GEO 인용은 서로 다른 게임의 규칙을 따른다.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8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Ahrefs, 2026 AI 검색 인용 분석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발견 경로 비교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검색과 AI 답변엔진, 콘텐츠를 찾는 경로가 다르다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검색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RANKING-DRIVEN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백링크·도메인 권위 등 순위 신호로 페이지를 정렬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948026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사용자가 직접 결과 목록을 보고 클릭을 선택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275381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번의 검색에 평균 여러 개의 링크가 노출됨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답변엔진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CITATION-DRIVEN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학습·검색된 콘텐츠 중 신뢰도 높은 일부만 선별 인용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56248" y="2969971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사용자는 답변만 보고 출처 클릭은 선택적으로만 발생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3341218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번의 응답에 인용되는 출처 수가 제한적이라 경쟁이 더 치열함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E-E-A-T 심화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YMYL 영역에서는 E-E-A-T가 생존 조건이 된다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'Your Money or Your Life' — 잘못된 정보가 실제 피해로 이어질 수 있는 영역에서는 신뢰 신호가 노출과 인용을 좌우한다.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seo_course/icons/shield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414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건강 정보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70432" y="263347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의학적 조언은 전문의·자격 정보가 명시되지 않으면 AI가 인용을 꺼린다.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609904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/home/claude/seo_course/icons/chartb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44144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0255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금융 정보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702552" y="263347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투자·대출 관련 콘텐츠는 출처와 면책조항이 신뢰도 평가에 직결된다.</a:t>
            </a:r>
            <a:endParaRPr lang="en-US" sz="1230" dirty="0"/>
          </a:p>
        </p:txBody>
      </p:sp>
      <p:sp>
        <p:nvSpPr>
          <p:cNvPr id="13" name="Shape 9"/>
          <p:cNvSpPr/>
          <p:nvPr/>
        </p:nvSpPr>
        <p:spPr>
          <a:xfrm>
            <a:off x="56692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2" descr="/home/claude/seo_course/icons/boo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5312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429768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법률 정보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70432" y="464515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법률 자문성 콘텐츠는 작성자의 자격과 최신성이 특히 중요하게 평가된다.</a:t>
            </a:r>
            <a:endParaRPr lang="en-US" sz="1230" dirty="0"/>
          </a:p>
        </p:txBody>
      </p:sp>
      <p:sp>
        <p:nvSpPr>
          <p:cNvPr id="17" name="Shape 12"/>
          <p:cNvSpPr/>
          <p:nvPr/>
        </p:nvSpPr>
        <p:spPr>
          <a:xfrm>
            <a:off x="609904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8" name="Image 3" descr="/home/claude/seo_course/icons/ale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45312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02552" y="429768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 정보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702552" y="464515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안전·재난 관련 정보는 권위 있는 기관 출처 인용 여부가 핵심 신호다.</a:t>
            </a:r>
            <a:endParaRPr lang="en-US" sz="1230" dirty="0"/>
          </a:p>
        </p:txBody>
      </p:sp>
      <p:sp>
        <p:nvSpPr>
          <p:cNvPr id="21" name="Text 1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AI 크롤러의 두 얼굴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학습봇 vs 인용봇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ai_crawl vs ai_cite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크롤러는 '학습용으로 데이터를 모으는 봇'과 '실시간 답변을 만들 때 실제로 참조하는 봇'이라는 서로 다른 두 가지 목적으로 사이트를 방문한다.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봇을 구분해서 관리하지 않으면, 학습 데이터에는 포함되었지만 실제 답변에는 한 번도 인용되지 않는 콘텐츠가 될 수 있다. 이 구분은 2회차 테크니컬 SEO에서 robots.txt·llms.txt 설정과 함께 더 깊게 다룬다.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229100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328952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학습봇 (ai_crawl)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학습 단계에서 대량의 웹 데이터를 수집해가는 크롤러다.</a:t>
            </a:r>
            <a:endParaRPr lang="en-US" sz="1260" dirty="0"/>
          </a:p>
        </p:txBody>
      </p:sp>
      <p:sp>
        <p:nvSpPr>
          <p:cNvPr id="13" name="Shape 9"/>
          <p:cNvSpPr/>
          <p:nvPr/>
        </p:nvSpPr>
        <p:spPr>
          <a:xfrm>
            <a:off x="566928" y="5518404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4" name="Image 2" descr="/home/claude/seo_course/icons/comment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" y="5618256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5065776"/>
            <a:ext cx="102412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인용봇 (ai_cite)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질문에 답하는 순간 실시간으로 웹을 참조해 인용 출처를 찾는 크롤러다.</a:t>
            </a:r>
            <a:endParaRPr lang="en-US" sz="126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미리보기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1주 완성 체크리스트 (3회차에서 상세히)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933042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018629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62763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고객이 자주 묻는 질문 10개 수집 — 영업팀·CS팀·커뮤니티 활용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2873045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2958633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256763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질문에 대한 50자 이내 완전한 답변 작성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507638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FAQ 페이지 또는 블로그 포스트로 발행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566928" y="4753051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6" y="4838639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444764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서치콘솔에서 Featured Snippet 모니터링 설정</a:t>
            </a:r>
            <a:endParaRPr lang="en-US" sz="1260" dirty="0"/>
          </a:p>
        </p:txBody>
      </p:sp>
      <p:sp>
        <p:nvSpPr>
          <p:cNvPr id="16" name="Shape 10"/>
          <p:cNvSpPr/>
          <p:nvPr/>
        </p:nvSpPr>
        <p:spPr>
          <a:xfrm>
            <a:off x="566928" y="5693054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4" descr="/home/claude/seo_cours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16" y="5778642"/>
            <a:ext cx="158008" cy="1580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24128" y="538764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음성검색 테스트 진행 — 스마트폰으로 직접 질문해보기</a:t>
            </a:r>
            <a:endParaRPr lang="en-US" sz="1260" dirty="0"/>
          </a:p>
        </p:txBody>
      </p:sp>
      <p:sp>
        <p:nvSpPr>
          <p:cNvPr id="19" name="Text 1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chart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 데이터로 보는 대전환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추세가 아니라 숫자로 확인한다. 글로벌·한국 시장 모두에서 AI 검색은 이미 일상의 일부가 되었다.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글로벌 검색 시장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구글의 점유율, 측정 방식에 따라 다르게 보인다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89.98%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검색엔진 시장에서 구글이 차지하는 점유율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전통적인 검색엔진 간 비교 기준이다.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StatCounter, 2026.02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644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1104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73.7%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51104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챗봇까지 포함한 '검색 아레나' 기준 미국 데스크톱 점유율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1104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41개 플랫폼을 함께 비교하면 점유율이 크게 낮아진다.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1104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아레나 방식, 2025 Q4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2596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9056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80%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829056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056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 기준 유럽·영국 지역 구글 점유율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9056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지역별로도 AI 챗봇의 침투율 차이가 존재한다.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29056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아레나 방식, 2025 Q4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5952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측정 기준을 'AI 챗봇 포함'으로 넓히는 순간 구글의 절대 우위는 빠르게 줄어든다.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트래픽 추세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서비스 트래픽 성장률 (전년 대비, 2026.02)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691640"/>
          <a:ext cx="11064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출처: Similarweb, 2026년 2월 기준 전년 동월 대비 웹 트래픽 성장률.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점유율 재편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트래픽, ChatGPT 독주에서 다극 체제로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2025년 초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 약 87%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서비스 트래픽의 대부분을 ChatGPT가 차지하던 시기. 다른 서비스들은 아직 초기 단계였다.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9" name="Text 7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1월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 약 64%, Gemini 20%+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56248" y="2587752"/>
            <a:ext cx="4700016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Gemini가 빠르게 점유율을 끌어올리며 20%를 넘어섰고, ChatGPT의 절대적 비중은 낮아졌다. 단일 플랫폼 최적화의 위험성이 커지는 신호다.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한국 AI 검색 트렌드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한국에서도 AI 검색은 이미 일상이 되었다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05200" cy="443484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54.5%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최근 3개월 내 ChatGPT 이용 경험률 (전년 대비 +15%p)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398264"/>
            <a:ext cx="317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2명 중 1명 이상이 이미 ChatGPT를 써본 셈이다.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560527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오픈서베이, AI 검색 트렌드 리포트 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6448" y="1627632"/>
            <a:ext cx="3505200" cy="443484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1104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28.9%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51104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Gemini 이용 경험률, 전년 대비 약 3배 증가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11040" y="4398264"/>
            <a:ext cx="317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구글의 한국 시장 AI 검색 침투가 가속화되고 있다.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11040" y="560527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오픈서베이, AI 검색 트렌드 리포트 2026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25968" y="1627632"/>
            <a:ext cx="3505200" cy="443484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9056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81.6%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829056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056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이용 경험률, 여전히 1위지만 하락세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90560" y="4398264"/>
            <a:ext cx="317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 검색의 절대 강자였던 자리가 흔들리고 있다.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290560" y="560527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오픈서베이, AI 검색 트렌드 리포트 2026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한국 검색 시장 재편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절대 우위 시대가 끝나고 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 검색 시장의 구도 변화를 채널별로 정리하면 다음과 같다.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seo_course/icons/arrowd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414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약 62%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70432" y="263347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여전히 1위지만 점유율이 지속적으로 하락하는 추세다.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609904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/home/claude/seo_course/icons/trending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44144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02552" y="22860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성장세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702552" y="263347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모바일·젊은층 사용자를 중심으로 점유율을 빠르게 늘리고 있다.</a:t>
            </a:r>
            <a:endParaRPr lang="en-US" sz="1230" dirty="0"/>
          </a:p>
        </p:txBody>
      </p:sp>
      <p:sp>
        <p:nvSpPr>
          <p:cNvPr id="13" name="Shape 9"/>
          <p:cNvSpPr/>
          <p:nvPr/>
        </p:nvSpPr>
        <p:spPr>
          <a:xfrm>
            <a:off x="56692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2" descr="/home/claude/seo_course/icons/trendingu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5312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429768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빙(Bing) 성장세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70432" y="464515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ChatGPT·Edge 결합 효과로 동반 성장하는 모습을 보인다.</a:t>
            </a:r>
            <a:endParaRPr lang="en-US" sz="1230" dirty="0"/>
          </a:p>
        </p:txBody>
      </p:sp>
      <p:sp>
        <p:nvSpPr>
          <p:cNvPr id="17" name="Shape 12"/>
          <p:cNvSpPr/>
          <p:nvPr/>
        </p:nvSpPr>
        <p:spPr>
          <a:xfrm>
            <a:off x="609904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8" name="Image 3" descr="/home/claude/seo_course/icons/arrowdow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45312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02552" y="429768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다음(Daum) 하락세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702552" y="4645152"/>
            <a:ext cx="4654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상대적으로 점유율이 계속 줄어들고 있다.</a:t>
            </a:r>
            <a:endParaRPr lang="en-US" sz="1230" dirty="0"/>
          </a:p>
        </p:txBody>
      </p:sp>
      <p:sp>
        <p:nvSpPr>
          <p:cNvPr id="21" name="Text 1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937760" cy="4937760"/>
          </a:xfrm>
          <a:prstGeom prst="ellipse">
            <a:avLst/>
          </a:prstGeom>
          <a:solidFill>
            <a:srgbClr val="342F8C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구글 AI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20%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D7D9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구글 검색 중 AI 오버뷰가 노출되는 비중 (일부 국가는 최대 37.2%)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AI Overview의 월간 활성 이용자(MAU)는 25억 명을 넘어섰다. 검색 결과 페이지 최상단을 AI가 합성한 답변이 차지하는 비중이 빠르게 늘고 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8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 I/O, 2026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937760" cy="4937760"/>
          </a:xfrm>
          <a:prstGeom prst="ellipse">
            <a:avLst/>
          </a:prstGeom>
          <a:solidFill>
            <a:srgbClr val="342F8C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구글 AI MODE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10억+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D7D9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AI Mode 월간 활성 이용자(MAU), 출시 1년 만에 돌파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Mode의 분기별 질의량은 매 분기 2배씩 증가하고 있다. 검색창 자체가 대화형 인터페이스로 전환되는 흐름이 가속화되고 있다는 신호다.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8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 I/O, 2026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사용자 지표 성장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서비스 사용자 규모, 1년 만에 폭발적으로 증가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9억+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Gemini 앱 월간 활성 이용자, 1년 전 4억 명에서 두 배 이상 증가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일일 요청량은 같은 기간 7배 늘었다.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Google, 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644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1104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7억+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51104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 주간 활성 이용자, Semrush 기준 4번째로 방문량 많은 사이트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1104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검색엔진과 어깨를 나란히 하는 트래픽 규모다.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1104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Semrush, 2026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2596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9056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22%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829056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056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가시성을 실제로 추적·관리하는 마케터 비율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9056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78%의 마케터는 아직 GEO 성과를 측정조차 못하고 있다.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29056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 마케터 서베이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5952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GEO를 측정하기 시작하는 것 자체가 78%의 경쟁자보다 앞서는 일이다.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937760" cy="4937760"/>
          </a:xfrm>
          <a:prstGeom prst="ellipse">
            <a:avLst/>
          </a:prstGeom>
          <a:solidFill>
            <a:srgbClr val="342F8C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AI 트래픽의 진짜 가치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0.5% → 12.1%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D7D9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검색이 차지하는 트래픽 비중은 0.5%지만, 회원가입 전환 비중은 12.1%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검색을 통해 들어온 방문자 수는 적지만, 실제 행동(가입·구매)으로 이어지는 비율은 일반 트래픽보다 훨씬 높다. 양보다 질이 중요한 채널이라는 뜻이다.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8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Ahrefs, 2026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한국 시장 특수성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블로그 vs 자체 도메인, SEO 구조의 근본적 차이</a:t>
            </a:r>
            <a:endParaRPr lang="en-US" sz="25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76856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51960"/>
                <a:gridCol w="42519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네이버 블로그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자체 도메인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URL 구조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naver.com/blog/ID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내 도메인 (.com/.co.kr 등)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소유권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네이버 (계정 정책 변경 위험)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운영자 본인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테크니컬 SEO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직접 통제 불가능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직접 통제 가능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콘텐츠 SEO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가능 (네이버 자체 알고리즘)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가능 (구글·네이버 모두 대응)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링크빌딩 SEO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불가능 (외부 백링크 효과 제한)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가능 (장기 자산으로 누적)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7881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단기 도달에는 네이버 블로그가 유리하지만, 장기 자산 축적에는 자체 도메인이 필수다.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미리보기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1개월 완성 체크리스트 (4회차에서 상세히)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933042"/>
            <a:ext cx="329184" cy="329184"/>
          </a:xfrm>
          <a:prstGeom prst="ellipse">
            <a:avLst/>
          </a:prstGeom>
          <a:solidFill>
            <a:srgbClr val="C2521D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018629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62763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업계에서 새로운 관점을 제시할 수 있는 주제 3개 선정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2873045"/>
            <a:ext cx="329184" cy="329184"/>
          </a:xfrm>
          <a:prstGeom prst="ellipse">
            <a:avLst/>
          </a:prstGeom>
          <a:solidFill>
            <a:srgbClr val="C2521D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2958633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256763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주제별 독창적 프레임워크 또는 모델 개발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C2521D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507638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2,000~3,000자 분량의 심층 분석 콘텐츠 작성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566928" y="4753051"/>
            <a:ext cx="329184" cy="329184"/>
          </a:xfrm>
          <a:prstGeom prst="ellipse">
            <a:avLst/>
          </a:prstGeom>
          <a:solidFill>
            <a:srgbClr val="C2521D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6" y="4838639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444764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E-E-A-T(경험·전문성·권위성·신뢰성) 요소 강화</a:t>
            </a:r>
            <a:endParaRPr lang="en-US" sz="1260" dirty="0"/>
          </a:p>
        </p:txBody>
      </p:sp>
      <p:sp>
        <p:nvSpPr>
          <p:cNvPr id="16" name="Shape 10"/>
          <p:cNvSpPr/>
          <p:nvPr/>
        </p:nvSpPr>
        <p:spPr>
          <a:xfrm>
            <a:off x="566928" y="5693054"/>
            <a:ext cx="329184" cy="329184"/>
          </a:xfrm>
          <a:prstGeom prst="ellipse">
            <a:avLst/>
          </a:prstGeom>
          <a:solidFill>
            <a:srgbClr val="C2521D"/>
          </a:solidFill>
          <a:ln/>
        </p:spPr>
      </p:sp>
      <p:pic>
        <p:nvPicPr>
          <p:cNvPr id="17" name="Image 4" descr="/home/claude/seo_cours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16" y="5778642"/>
            <a:ext cx="158008" cy="1580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24128" y="538764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ChatGPT·Claude에서 관련 질문으로 브랜드 언급 테스트</a:t>
            </a:r>
            <a:endParaRPr lang="en-US" sz="1260" dirty="0"/>
          </a:p>
        </p:txBody>
      </p:sp>
      <p:sp>
        <p:nvSpPr>
          <p:cNvPr id="19" name="Text 1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한국 모바일 검색 환경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 검색은 모바일이 기본값이다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05200" cy="443484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75%+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전체 검색 트래픽 중 모바일 비중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398264"/>
            <a:ext cx="317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PC 중심으로 설계된 콘텐츠는 이미 절반 이상의 기회를 놓치고 있다.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560527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검색 생태계 데이터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6448" y="1627632"/>
            <a:ext cx="3505200" cy="443484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1104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30~40자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51104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모바일 검색 결과에서 잘리지 않는 권장 제목 길이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11040" y="4398264"/>
            <a:ext cx="317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이보다 길면 핵심 키워드가 화면 밖으로 잘려나간다.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11040" y="560527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SEO 가이드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25968" y="1627632"/>
            <a:ext cx="3505200" cy="443484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9056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2,000자+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829056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056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상위 노출 콘텐츠의 평균 본문 길이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90560" y="4398264"/>
            <a:ext cx="317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경쟁 콘텐츠 평균은 2,000~3,000자 수준이며, 짧은 글보다 충분한 분량이 D.I.A 점수에 유리하다.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290560" y="560527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SEO 가이드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시장의 실제 사례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 GEO·SEO 시장을 이끄는 두 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5회차에서 더 깊게 다룰 두 업체를 짧게 소개한다.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5394960" cy="4169664"/>
          </a:xfrm>
          <a:prstGeom prst="roundRect">
            <a:avLst>
              <a:gd name="adj" fmla="val 1974"/>
            </a:avLst>
          </a:prstGeom>
          <a:solidFill>
            <a:srgbClr val="EEF0FC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2377440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7" name="Image 0" descr="/home/claude/seo_course/icons/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4963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296265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넥스트티 (next-t.co.kr)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6384" y="3456432"/>
            <a:ext cx="495604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전문 업체로 OPTISEO·OPTIGEO 등 자체 솔루션 라인업을 운영하며, ChatGPT·Perplexity·Claude·구글·네이버에서의 실시간 인용 현황을 추적하는 서비스를 제공한다.</a:t>
            </a:r>
            <a:endParaRPr lang="en-US" sz="1160" dirty="0"/>
          </a:p>
        </p:txBody>
      </p:sp>
      <p:sp>
        <p:nvSpPr>
          <p:cNvPr id="10" name="Text 7"/>
          <p:cNvSpPr/>
          <p:nvPr/>
        </p:nvSpPr>
        <p:spPr>
          <a:xfrm>
            <a:off x="786384" y="5760720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30" b="1" dirty="0">
                <a:solidFill>
                  <a:srgbClr val="C252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학습봇·인용봇 구분 같은 실무 개념을 시장에 처음 제시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6236208" y="2157984"/>
            <a:ext cx="5394960" cy="4169664"/>
          </a:xfrm>
          <a:prstGeom prst="roundRect">
            <a:avLst>
              <a:gd name="adj" fmla="val 1974"/>
            </a:avLst>
          </a:prstGeom>
          <a:solidFill>
            <a:srgbClr val="EEF0FC"/>
          </a:solidFill>
          <a:ln/>
        </p:spPr>
      </p:sp>
      <p:sp>
        <p:nvSpPr>
          <p:cNvPr id="12" name="Shape 9"/>
          <p:cNvSpPr/>
          <p:nvPr/>
        </p:nvSpPr>
        <p:spPr>
          <a:xfrm>
            <a:off x="6455664" y="2377440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13" name="Image 1" descr="/home/claude/seo_course/icons/build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49631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55664" y="296265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SEO코리아 (seo.co.kr)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55664" y="3456432"/>
            <a:ext cx="495604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SEO·GEO 컨설팅과 백링크·툴·교육을 함께 제공하는 업체로, B2B·엔터프라이즈·스타트업·이커머스 등 업종별 맞춤 전략을 운영한다.</a:t>
            </a:r>
            <a:endParaRPr lang="en-US" sz="1160" dirty="0"/>
          </a:p>
        </p:txBody>
      </p:sp>
      <p:sp>
        <p:nvSpPr>
          <p:cNvPr id="16" name="Text 12"/>
          <p:cNvSpPr/>
          <p:nvPr/>
        </p:nvSpPr>
        <p:spPr>
          <a:xfrm>
            <a:off x="6455664" y="5760720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30" b="1" dirty="0">
                <a:solidFill>
                  <a:srgbClr val="C252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다양한 산업군 대상의 폭넓은 컨설팅 트랙 레코드</a:t>
            </a:r>
            <a:endParaRPr lang="en-US" sz="1130" dirty="0"/>
          </a:p>
        </p:txBody>
      </p:sp>
      <p:sp>
        <p:nvSpPr>
          <p:cNvPr id="17" name="Text 13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compa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정리: SEO는 끝났는가, 확장되었는가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배운 내용을 바탕으로 가장 흔한 오해를 데이터로 검증하고, 다음 회차로 이어지는 다리를 놓는다.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자주 묻는 질문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SEO는 이제 끝난 전략인가?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SEO가 사라지고 GEO로 완전히 대체되나요?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566928" y="211226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11226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아니다. 구글 검색의 약 75%는 여전히 AI 오버뷰 없이 제공되며, 테크니컬 SEO는 GEO의 기초 인프라 역할을 한다.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66928" y="324612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AEO와 GEO 중 무엇을 먼저 시작해야 하나요?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566928" y="366674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66674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리소스가 제한적이라면 효과가 빠른 AEO로 먼저 신뢰를 쌓고, 이후 GEO로 확장하는 순서가 현실적이다.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66928" y="480060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800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SEO를 처음 시작해도 늦지 않았나요?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566928" y="522122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522122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늦지 않았다. 오히려 GEO는 아직 초기 단계라 지금 시작하는 쪽이 훨씬 적은 경쟁 속에서 자산을 쌓을 수 있다.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결론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SEO가 여전히 필요한 4가지 이유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wren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 인프라이기 때문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 없이는 AI 크롤러도 콘텐츠에 접근할 수 없다. GEO는 SEO 위에서 작동한다.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609904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0255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검색량의 75%가 남아있기 때문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70255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오버뷰가 없는 일반 검색이 아직 압도적 다수를 차지한다.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chartb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측정 가능한 채널이기 때문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전통 검색은 구글 서치콘솔 등으로 성과를 정확히 추적할 수 있다.</a:t>
            </a:r>
            <a:endParaRPr lang="en-US" sz="1230" dirty="0"/>
          </a:p>
        </p:txBody>
      </p:sp>
      <p:sp>
        <p:nvSpPr>
          <p:cNvPr id="16" name="Shape 11"/>
          <p:cNvSpPr/>
          <p:nvPr/>
        </p:nvSpPr>
        <p:spPr>
          <a:xfrm>
            <a:off x="609904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3" descr="/home/claude/seo_course/icons/shield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12394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0255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 자산이 누적되기 때문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70255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백링크·도메인 권위 같은 SEO 자산은 GEO 신뢰도 평가에도 그대로 활용된다.</a:t>
            </a:r>
            <a:endParaRPr lang="en-US" sz="1230" dirty="0"/>
          </a:p>
        </p:txBody>
      </p:sp>
      <p:sp>
        <p:nvSpPr>
          <p:cNvPr id="20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eo_course/icons/quote_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77240" y="100584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87452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SEO는 끝난 것이 아니라 AEO와 GEO라는 두 개의 새로운 층으로 확장되고 있다. 발견되지 않으면 채택될 수 없고, 채택되지 않으면 인용될 수 없다.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77240" y="5029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 Session 1 핵심 정리</a:t>
            </a:r>
            <a:endParaRPr lang="en-US" sz="13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전체 로드맵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5주 과정, 우리가 함께 갈 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익힌 개념의 지도 위에, 앞으로 4번의 회차가 차례로 실전 기술을 채워 넣는다.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seo_course/icons/wren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414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28600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 · 테크니컬 SEO 완전정복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70432" y="2633472"/>
            <a:ext cx="10186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크롤링·색인·Core Web Vitals·구조화 데이터·보안, AI도 읽을 수 있는 사이트의 기초를 만든다.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566928" y="332841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/home/claude/seo_course/icons/filetex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44728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329184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3 · 콘텐츠 SEO &amp; AEO 실전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70432" y="3639312"/>
            <a:ext cx="10186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 중심 설계부터 역피라미드 작성법까지, 즉답형 콘텐츠를 직접 만들어본다.</a:t>
            </a:r>
            <a:endParaRPr lang="en-US" sz="1230" dirty="0"/>
          </a:p>
        </p:txBody>
      </p:sp>
      <p:sp>
        <p:nvSpPr>
          <p:cNvPr id="13" name="Shape 9"/>
          <p:cNvSpPr/>
          <p:nvPr/>
        </p:nvSpPr>
        <p:spPr>
          <a:xfrm>
            <a:off x="56692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2" descr="/home/claude/seo_course/icons/lin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5312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429768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70432" y="4645152"/>
            <a:ext cx="10186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백링크 전략과 Entity SEO로 신뢰 자산을 쌓고, GEO 성과를 측정하는 KPI를 정한다.</a:t>
            </a:r>
            <a:endParaRPr lang="en-US" sz="1230" dirty="0"/>
          </a:p>
        </p:txBody>
      </p:sp>
      <p:sp>
        <p:nvSpPr>
          <p:cNvPr id="17" name="Shape 12"/>
          <p:cNvSpPr/>
          <p:nvPr/>
        </p:nvSpPr>
        <p:spPr>
          <a:xfrm>
            <a:off x="566928" y="534009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8" name="Image 3" descr="/home/claude/seo_course/icons/compas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45896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70432" y="530352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 · 통합 전략과 2026~2028 전망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170432" y="5650992"/>
            <a:ext cx="10186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대행사 선택 기준, 실제 사례, 그리고 앞으로 2년의 시장 전망까지 마무리한다.</a:t>
            </a:r>
            <a:endParaRPr lang="en-US" sz="1230" dirty="0"/>
          </a:p>
        </p:txBody>
      </p:sp>
      <p:sp>
        <p:nvSpPr>
          <p:cNvPr id="21" name="Text 1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RECAP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오늘의 핵심 4가지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192024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검색은 구전 → 매스미디어 → 포털 → 소셜 → 생성형 AI로 계속 확장되어 왔다.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300609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300609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SEO(발견) → AEO(채택) → GEO(인용)는 경쟁 관계가 아니라 순차적 보완 관계다.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409194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409194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키워드 빈도가 아니라 문맥적 의미와 신뢰도를 임베딩 기반으로 평가한다.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517779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517779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현재 한국에서도 ChatGPT 이용 경험률이 과반을 넘어섰다.</a:t>
            </a:r>
            <a:endParaRPr lang="en-US" sz="13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94360"/>
            <a:ext cx="10844784" cy="960120"/>
          </a:xfrm>
          <a:prstGeom prst="roundRect">
            <a:avLst>
              <a:gd name="adj" fmla="val 8571"/>
            </a:avLst>
          </a:prstGeom>
          <a:solidFill>
            <a:srgbClr val="EEF0F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9436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배운 SEO·AEO·GEO 개념은 2회차부터 실전 기술로 이어진다.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SESSION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22494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6060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 완전정복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6928" y="3802380"/>
            <a:ext cx="365760" cy="36576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8" name="Image 0" descr="/home/claude/seo_course/icons/arrowrigh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6" y="3897478"/>
            <a:ext cx="175565" cy="1755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520440"/>
            <a:ext cx="102412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크롤링·색인·Core Web Vitals·구조화 데이터·보안 5대 영역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732020"/>
            <a:ext cx="365760" cy="36576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11" name="Image 1" descr="/home/claude/seo_course/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6" y="4827118"/>
            <a:ext cx="175565" cy="1755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450080"/>
            <a:ext cx="102412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vs 네이버 테크니컬 평가 기준 차이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66928" y="5661660"/>
            <a:ext cx="365760" cy="36576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14" name="Image 2" descr="/home/claude/seo_course/icons/arrowrigh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6" y="5756758"/>
            <a:ext cx="175565" cy="1755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5379720"/>
            <a:ext cx="102412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llms.txt·robots.txt·sitemap 3종 크롤 거버넌스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참고 자료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Aggarwal, P. et al. (2024). GEO: Generative Engine Optimization. arXiv:2311.09735, KDD 2024.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2240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오픈서베이 (2026). AI 검색 트렌드 리포트 2026.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697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Similarweb (2026.02). Generative AI 웹사이트 트래픽 데이터.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3154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3154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 I/O (2026). AI Overview·AI Mode 사용자 지표 발표.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3611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3611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Ahrefs (2026). AI 검색 인용 패턴 및 전환 데이터 분석.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4069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4069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Gartner (2025). 생성형 AI가 전통 검색에 미치는 영향 전망 보고서.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4526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45262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넥스트티 (next-t.co.kr). GEO·SEO 실무 인사이트.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4983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0120" y="4983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SEO코리아 (seo.co.kr). SEO·GEO 컨설팅 자료.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5440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5440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Semrush (2026). 글로벌 웹사이트 트래픽 순위 데이터.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1 · AI 검색 패러다임의 전환: SEO에서 AEO·GEO까지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 · AI 검색 패러다임의 전환</dc:title>
  <dc:subject>PptxGenJS Presentation</dc:subject>
  <dc:creator>SEO·AEO·GEO 5주 과정</dc:creator>
  <cp:lastModifiedBy>SEO·AEO·GEO 5주 과정</cp:lastModifiedBy>
  <cp:revision>1</cp:revision>
  <dcterms:created xsi:type="dcterms:W3CDTF">2026-06-18T12:17:58Z</dcterms:created>
  <dcterms:modified xsi:type="dcterms:W3CDTF">2026-06-18T12:17:58Z</dcterms:modified>
</cp:coreProperties>
</file>