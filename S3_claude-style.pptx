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48640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spc="150">
                <a:solidFill>
                  <a:srgbClr val="6C6A64"/>
                </a:solidFill>
                <a:latin typeface="맑은 고딕"/>
                <a:ea typeface="맑은 고딕"/>
              </a:rPr>
              <a:t>AI 검색 시대 마케팅 — SEO·AEO·GEO 6강 완성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02920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spc="150">
                <a:solidFill>
                  <a:srgbClr val="6C6A64"/>
                </a:solidFill>
                <a:latin typeface="맑은 고딕"/>
                <a:ea typeface="맑은 고딕"/>
              </a:rPr>
              <a:t>SESSION 3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0890504" cy="10972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371600"/>
            <a:ext cx="3364992" cy="4114800"/>
          </a:xfrm>
          <a:prstGeom prst="roundRect">
            <a:avLst>
              <a:gd name="adj" fmla="val 70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4776" y="1682496"/>
            <a:ext cx="2816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300">
                <a:solidFill>
                  <a:srgbClr val="A09D96"/>
                </a:solidFill>
                <a:latin typeface="맑은 고딕"/>
                <a:ea typeface="맑은 고딕"/>
              </a:rPr>
              <a:t>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508760"/>
            <a:ext cx="3364992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0" b="1">
                <a:solidFill>
                  <a:srgbClr val="FAF9F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94776" y="4617720"/>
            <a:ext cx="2743200" cy="10972"/>
          </a:xfrm>
          <a:prstGeom prst="rect">
            <a:avLst/>
          </a:prstGeom>
          <a:solidFill>
            <a:srgbClr val="2A2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94776" y="4773168"/>
            <a:ext cx="2816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100">
                <a:solidFill>
                  <a:srgbClr val="FAF9F5"/>
                </a:solidFill>
                <a:latin typeface="맑은 고딕"/>
                <a:ea typeface="맑은 고딕"/>
              </a:rPr>
              <a:t>TECHNICAL SEO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1755648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spc="250">
                <a:solidFill>
                  <a:srgbClr val="6C6A64"/>
                </a:solidFill>
                <a:latin typeface="맑은 고딕"/>
                <a:ea typeface="맑은 고딕"/>
              </a:rPr>
              <a:t>TECHNICAL SEO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21408"/>
            <a:ext cx="7269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700" b="1">
                <a:solidFill>
                  <a:srgbClr val="141413"/>
                </a:solidFill>
                <a:latin typeface="맑은 고딕"/>
                <a:ea typeface="맑은 고딕"/>
              </a:rPr>
              <a:t>테크니컬 SEO 완전정복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611880"/>
            <a:ext cx="713232" cy="45720"/>
          </a:xfrm>
          <a:prstGeom prst="roundRect">
            <a:avLst>
              <a:gd name="adj" fmla="val 50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3822191"/>
            <a:ext cx="7040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3D3D3A"/>
                </a:solidFill>
                <a:latin typeface="맑은 고딕"/>
                <a:ea typeface="맑은 고딕"/>
              </a:rPr>
              <a:t>콘텐츠가 아무리 좋아도 검색엔진·AI가 사이트에 접근조차 못 하면 의미가 없다. 모든 성과의 기초 인프라를 점검한다.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754880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634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검색엔진의 수집→정제→색인→랭킹 4단계 작동 원리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5138928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47488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크롤링·색인과 robots·sitemap·llms.txt 크롤 거버넌스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5522976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431536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Core Web Vitals(LCP·INP·CLS)와 속도 최적화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5907024"/>
            <a:ext cx="91440" cy="91440"/>
          </a:xfrm>
          <a:prstGeom prst="roundRect">
            <a:avLst>
              <a:gd name="adj" fmla="val 25000"/>
            </a:avLst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581558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52523"/>
                </a:solidFill>
                <a:latin typeface="맑은 고딕"/>
                <a:ea typeface="맑은 고딕"/>
              </a:rPr>
              <a:t>구조화 데이터·보안, 그리고 7단계 실전 감사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419088"/>
            <a:ext cx="10890504" cy="9144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50">
                <a:solidFill>
                  <a:srgbClr val="8E8B82"/>
                </a:solidFill>
                <a:latin typeface="맑은 고딕"/>
                <a:ea typeface="맑은 고딕"/>
              </a:rPr>
              <a:t>SEO · AEO · GEO — AI 검색 시대 마케팅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73952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spc="80">
                <a:solidFill>
                  <a:srgbClr val="8E8B82"/>
                </a:solidFill>
                <a:latin typeface="맑은 고딕"/>
                <a:ea typeface="맑은 고딕"/>
              </a:rPr>
              <a:t>03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3 · 오늘 다루는 5가지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테크니컬 SEO, 이렇게 짚는다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검색엔진 작동 원리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수집→정제→색인→랭킹, 왜 테크니컬이 모든 것의 기초인가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크롤링과 색인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robots·sitemap·llms.txt, AI도 읽을 수 있는 크롤 거버넌스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6864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4608576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Core Web Vitals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LCP·INP·CLS와 이미지·JS·서버 최적화 실무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86000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2267712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구조화 데이터·보안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schema.org로 의미 전달, HTTPS·보안 헤더로 신뢰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56432"/>
            <a:ext cx="77724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438144"/>
            <a:ext cx="4572000" cy="118872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실전 감사</a:t>
            </a:r>
          </a:p>
          <a:p>
            <a:pPr algn="l">
              <a:lnSpc>
                <a:spcPct val="134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7단계 테크니컬 감사와 빈출 오류 조치 가이드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검색엔진은 어떻게 작동하는가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기술을 손대기 전에 '검색엔진이 사이트를 어떻게 읽는가'를 먼저 이해한다. 4단계가 품질을 결정한다.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작동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검색엔진은 4단계로 움직인다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640080" y="2651760"/>
            <a:ext cx="2468880" cy="914400"/>
          </a:xfrm>
          <a:prstGeom prst="chevron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9039"/>
            <a:ext cx="219456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Crawling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웹을 돌며 페이지를 수집</a:t>
            </a:r>
          </a:p>
        </p:txBody>
      </p:sp>
      <p:sp>
        <p:nvSpPr>
          <p:cNvPr id="7" name="Chevron 6"/>
          <p:cNvSpPr/>
          <p:nvPr/>
        </p:nvSpPr>
        <p:spPr>
          <a:xfrm>
            <a:off x="3364992" y="2651760"/>
            <a:ext cx="2468880" cy="914400"/>
          </a:xfrm>
          <a:prstGeom prst="chevron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정제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152" y="3749039"/>
            <a:ext cx="219456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Rendering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코드를 실제 화면으로 해석</a:t>
            </a:r>
          </a:p>
        </p:txBody>
      </p:sp>
      <p:sp>
        <p:nvSpPr>
          <p:cNvPr id="9" name="Chevron 8"/>
          <p:cNvSpPr/>
          <p:nvPr/>
        </p:nvSpPr>
        <p:spPr>
          <a:xfrm>
            <a:off x="6089904" y="2651760"/>
            <a:ext cx="2468880" cy="914400"/>
          </a:xfrm>
          <a:prstGeom prst="chevron">
            <a:avLst/>
          </a:prstGeom>
          <a:solidFill>
            <a:srgbClr val="514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색인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7064" y="3749039"/>
            <a:ext cx="219456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Indexing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의미를 분석해 색인에 저장</a:t>
            </a:r>
          </a:p>
        </p:txBody>
      </p:sp>
      <p:sp>
        <p:nvSpPr>
          <p:cNvPr id="11" name="Chevron 10"/>
          <p:cNvSpPr/>
          <p:nvPr/>
        </p:nvSpPr>
        <p:spPr>
          <a:xfrm>
            <a:off x="8814816" y="2651760"/>
            <a:ext cx="2468880" cy="914400"/>
          </a:xfrm>
          <a:prstGeom prst="chevron">
            <a:avLst/>
          </a:prstGeom>
          <a:solidFill>
            <a:srgbClr val="615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랭킹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1976" y="3749039"/>
            <a:ext cx="219456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sz="1100" b="1" i="0" spc="10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Ranking</a:t>
            </a:r>
          </a:p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질의에 맞춰 순위 산출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20640"/>
            <a:ext cx="10634472" cy="86868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10241280" cy="868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테크니컬 SEO는 이 4단계가 막힘없이 흐르게 하는 일 — 크롤·색인이 막히면 콘텐츠는 존재하지 않는 것과 같다.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04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5대 핵심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테크니컬 SEO를 구성하는 5가지 점검 영역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크롤링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검색엔진이 주요 페이지에 접근할 수 있는가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81527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035808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색인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의도한 페이지만 검색 결과에 노출되는가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31335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785615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Core Web Vitals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실사용자 경험이 구글 기준을 충족하는가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8114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535424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구조화 데이터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검색엔진·AI가 콘텐츠를 구조적으로 이해하는가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330952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285232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사이트가 안전하고 신뢰할 수 있는가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05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1 · 한국 시장 특수성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네이버와 구글, 테크니컬 평가 기준이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GLOBAL · PAGERANK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HTTPS·캐노니컬·구조화 데이터를 중시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크롤 예산·색인 상태를 직접 통제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Core Web Vitals를 순위 신호로 반영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robots·sitemap·schema 표준을 그대로 적용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네이버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C-RANK · D.I.A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출처 신뢰도(C-Rank)·문서 품질(D.I.A) 평가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플랫폼 내 사용자 반응을 중시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모바일·자연어 콘텐츠에 유리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서치어드바이저로 별도 수집·색인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06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크롤링과 색인 — AI도 읽을 수 있는 기반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무엇을 수집하고 무엇을 색인할지 설계한다. robots·sitemap·llms.txt로 크롤을 거버넌스한다.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기본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크롤링과 색인은 다른 단계다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크롤링 (Crawling)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DISCOVERY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크롤러가 링크를 따라 페이지를 발견·수집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robots.txt로 접근을 허용·차단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내부 링크가 없으면 발견되지 못한다(고아 페이지)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크롤 예산을 효율적으로 배분해야 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색인 (Indexing)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STORAGE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수집한 페이지의 의미를 분석해 저장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의도한 페이지만 색인되도록 관리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noindex·canonical로 색인 대상을 제어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색인되지 않으면 검색 결과에 나오지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08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크롤 거버넌스 기초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robots.txt와 sitemap.xml, 역할이 다르다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robots.txt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출입국 심사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크롤러의 접근 허용·차단 규칙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수집하면 안 되는 경로를 지정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크롤 예산을 효율적으로 배분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잘못 설정하면 전체 색인이 막힌다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sitemap.xml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사이트 목차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전체 페이지 목록을 검색엔진에 제공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페이지를 빠르게 발견하게 돕는다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우선순위·갱신 주기 정보 포함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서치콘솔·서치어드바이저에 제출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09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새 표준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llms.txt — 무시할 순 없지만 과신도 금물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685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llms.txt는 AI 크롤러에게 사이트의 핵심 콘텐츠를 안내하려는 커뮤니티 제안 표준이다. 도입은 늘고 있으나, 검색 순위에 직접 쓰이지는 않는다.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37413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12%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상위 10만 사이트 중 llms.txt 도입 비율(2026 1Q)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아직 소수지만 빠르게 늘고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96519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Limy.ai, 5억건+ 봇 트래픽 분석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06324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337413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미지원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구글의 llms.txt 활용 여부(존 뮬러 공식 언급)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과거 메타 키워드 태그와 비슷한 취급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496519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Google Search Central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063240"/>
            <a:ext cx="3337560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374136"/>
            <a:ext cx="2788920" cy="14630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B2A 인프라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에이전틱 웹에서의 새로운 역할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Cursor·Claude Code 같은 도구가 참조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965192"/>
            <a:ext cx="278892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업계 관찰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10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3종 크롤 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robots.txt vs sitemap.xml vs llms.txt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1679556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108" y="2331720"/>
            <a:ext cx="2629063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robots.txt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15628" y="2331720"/>
            <a:ext cx="2629063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sitemap.xml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4147" y="2331720"/>
            <a:ext cx="2818964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llms.txt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07208"/>
            <a:ext cx="16795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목적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67108" y="2807208"/>
            <a:ext cx="262906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접근 허용·차단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5628" y="2807208"/>
            <a:ext cx="262906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페이지 목록 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4147" y="2807208"/>
            <a:ext cx="2818964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AI에 핵심 콘텐츠 안내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10712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10712"/>
            <a:ext cx="16795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108" y="3410712"/>
            <a:ext cx="262906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검색·AI 크롤러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15628" y="3410712"/>
            <a:ext cx="262906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검색엔진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4147" y="3410712"/>
            <a:ext cx="2818964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 크롤러·에이전트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014215"/>
            <a:ext cx="16795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표준 여부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67108" y="4014215"/>
            <a:ext cx="262906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확립된 표준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5628" y="4014215"/>
            <a:ext cx="262906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확립된 표준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4147" y="4014215"/>
            <a:ext cx="2818964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커뮤니티 제안(초기)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617720"/>
            <a:ext cx="10634472" cy="603504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617720"/>
            <a:ext cx="1679556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검색 순위 영향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7108" y="4617720"/>
            <a:ext cx="262906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간접(크롤 제어)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5628" y="4617720"/>
            <a:ext cx="2629063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간접(발견 촉진)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4147" y="4617720"/>
            <a:ext cx="2818964" cy="603504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직접 영향 없음(구글 미사용)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11 / 38</a:t>
            </a:r>
          </a:p>
        </p:txBody>
      </p:sp>
      <p:sp>
        <p:nvSpPr>
          <p:cNvPr id="31" name="AccentRect3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AI 크롤러의 두 얼굴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학습봇 vs 인용봇, 다르게 다뤄야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학습봇 (ai_crawl)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TRAINING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모델 학습용으로 대량의 웹 데이터를 수집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robots.txt로 학습 수집 허용·차단 결정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학습에 포함돼도 답변 인용과는 별개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저작권·데이터 정책 관점에서 판단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인용봇 (ai_cite)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CITATION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질문에 답하는 순간 실시간으로 웹을 참조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답변의 '출처'로 인용될 후보를 찾는다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이 봇의 접근을 막으면 인용 기회를 잃는다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GEO 성과와 직접 연결되는 크롤러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12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AI 크롤러 접근성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AI가 방문했다가 '반송'되는 4가지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성능·접근 차단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페이지 성능이 낮거나 AI 크롤러 접근이 막혀 있다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답과 불일치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본문이 질문의 답과 맞지 않아 바로 이탈한다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읽기 어려운 구조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데이터가 AI가 읽기 쉽게 구조화되어 있지 않다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느린 로딩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로딩이 길어 서버 리소스 부담으로 읽지 않고 나간다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접근성만 높인다고 성과가 나지는 않는다 — 접근·구조·속도·적합성이 모두 갖춰져야 AI가 인용한다.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13 / 38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메타 정보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Title·메타 디스크립션, 글자 수까지 맞춘다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Title Tag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공백 포함 50~60자가 이상적 — 잘리지 않게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81527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3035808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Meta Description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120~160자로 작성해 검색 결과에서 잘림 방지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31335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785615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H1 태그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페이지당 1개만 사용하고 중복 제거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581144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4535424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키워드 배치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핵심 키워드를 Title·H1·H2에 자연스럽게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330952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285232"/>
            <a:ext cx="1033272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이미지 Alt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모든 이미지에 Alt로 콘텐츠 정보를 명시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14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제목 태그 계층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H1 → H2 → H3, 레벨을 건너뛰지 마라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올바른 구조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GOOD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H1(페이지 제목) 1개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└ H2(대주제) 여러 개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  └ H3(소주제) 필요한 만큼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검색엔진이 논리 구조를 정확히 파악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잘못된 구조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BAD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H1 없이 H2부터 시작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H1 → H3로 H2를 건너뜀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한 페이지에 H1 태그 2개 이상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검색엔진이 문서 구조를 혼란스럽게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15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2 · 헷갈리기 쉬운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Canonical 태그 — '대표 URL'을 지정한다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같은 콘텐츠가 여러 URL로 존재할 때(예: ?utm= 파라미터, 정렬 옵션), 검색엔진에게 '이것이 대표 URL'이라고 알려 중복 색인을 막고 순위 신호를 하나로 모으는 태그다.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중복 콘텐츠 정리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여러 URL의 순위 신호를 대표 URL로 통합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크롤 예산 절약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같은 콘텐츠를 반복 크롤링하지 않게 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잘못 지정 주의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엉뚱한 URL을 대표로 지정하면 색인에서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16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Core Web Vitals와 페이지 속도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속도는 SEO 지표를 넘어 매출과 직결된다. 3개 지표로 사용자 체감 성능을 관리한다.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Core Web Vitals — 사용자 체감 성능 3지표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LCP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최대 콘텐츠가 표시되는 로딩 속도 — '얼마나 빨리 보이는가'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8536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8536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INP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상호작용에 반응하는 속도 — '얼마나 빨리 반응하는가'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36992" y="2377440"/>
            <a:ext cx="3337560" cy="3108960"/>
          </a:xfrm>
          <a:prstGeom prst="roundRect">
            <a:avLst>
              <a:gd name="adj" fmla="val 4705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36992" y="23774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2688336"/>
            <a:ext cx="2834640" cy="2560320"/>
          </a:xfrm>
          <a:prstGeom prst="roundRect">
            <a:avLst>
              <a:gd name="adj" fmla="val 5714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CLS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레이아웃이 흔들리는 정도 — '얼마나 안정적인가'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세 지표 중 INP(반응성)의 중요도가 2026년 기준 가장 빠르게 높아지고 있다. (INP는 2024.03 FID를 대체)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18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합격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LCP · INP · CLS, 정확한 합격선을 외워두자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23160"/>
            <a:ext cx="1679556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108" y="2423160"/>
            <a:ext cx="5477582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4147" y="2423160"/>
            <a:ext cx="2818964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'좋음'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98648"/>
            <a:ext cx="1679556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LCP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108" y="2898648"/>
            <a:ext cx="5477582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가장 큰 콘텐츠가 표시되는 로딩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4147" y="2898648"/>
            <a:ext cx="2818964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2.5초 이하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75887"/>
            <a:ext cx="10634472" cy="7772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675887"/>
            <a:ext cx="1679556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INP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7108" y="3675887"/>
            <a:ext cx="5477582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상호작용에 반응하는 속도(2024.03 FID 대체)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4147" y="3675887"/>
            <a:ext cx="2818964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200ms 이하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453127"/>
            <a:ext cx="1679556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CLS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7108" y="4453127"/>
            <a:ext cx="5477582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레이아웃이 흔들리는 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4147" y="4453127"/>
            <a:ext cx="2818964" cy="7772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0.1 이하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42316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출처 : Google web.dev — Core Web Vitals. 실사용자(현장) 데이터의 75 백분위수 기준으로 평가한다.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19 / 38</a:t>
            </a:r>
          </a:p>
        </p:txBody>
      </p:sp>
      <p:sp>
        <p:nvSpPr>
          <p:cNvPr id="23" name="AccentRect23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이미지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이미지는 속도의 가장 큰 변수다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WebP 변환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JPEG 대비 25~34% 용량 절감(무손실은 PNG 대비 ~26%)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반응형 이미지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srcset으로 화면 크기별 적정 해상도 제공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레이지 로딩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화면에 보일 때 이미지를 지연 로딩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크기 명시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width·height를 지정해 CLS(레이아웃 이동)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이미지 크기를 명시하지 않으면 로딩 중 화면이 밀려 CLS가 나빠진다 — 속도와 안정성은 함께 간다.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20 / 38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JS·CSS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렌더링을 막는 리소스를 걷어낸다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미사용 코드 제거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쓰지 않는 JS·CSS를 걷어내 파일을 줄인다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압축(Minify)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공백·주석을 제거해 전송 용량을 줄인다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defer·async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렌더링을 막지 않도록 스크립트 로딩을 지연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Critical CSS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첫 화면에 필요한 CSS만 우선 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21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서버 최적화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응답 속도(TTFB)를 줄인다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캐싱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정적 리소스를 캐시해 반복 요청을 줄인다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CDN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사용자와 가까운 서버에서 콘텐츠 전송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압축(gzip·Brotli)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전송 데이터를 압축해 속도 향상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HTTP/2·keep-alive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연결을 재사용해 지연을 줄인다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348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3891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TTFB 개선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서버 응답 시작 시간을 단축</a:t>
            </a:r>
          </a:p>
        </p:txBody>
      </p:sp>
      <p:sp>
        <p:nvSpPr>
          <p:cNvPr id="15" name="Oval 14"/>
          <p:cNvSpPr/>
          <p:nvPr/>
        </p:nvSpPr>
        <p:spPr>
          <a:xfrm>
            <a:off x="6126480" y="443484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438912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DB·쿼리 최적화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동적 페이지의 생성 시간을 줄인다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22 / 38</a:t>
            </a:r>
          </a:p>
        </p:txBody>
      </p:sp>
      <p:sp>
        <p:nvSpPr>
          <p:cNvPr id="19" name="AccentRect1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속도와 이탈률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속도는 순위를 넘어 매출과 직결된다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5120640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88920"/>
            <a:ext cx="4572000" cy="2834640"/>
          </a:xfrm>
          <a:prstGeom prst="roundRect">
            <a:avLst>
              <a:gd name="adj" fmla="val 516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58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53%</a:t>
            </a:r>
          </a:p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모바일 페이지 로딩이 3초를 넘기면 이탈하는 사용자 비율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속도는 SEO 지표를 넘어 실제 전환·매출과 직결된다. CWV 개선은 순위뿐 아니라 전환율 자체를 끌어올리는 투자다.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486400"/>
            <a:ext cx="4572000" cy="4114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Google·DoubleClick/SOASTA, 2016 — 널리 인용되나 다소 오래된 벤치마크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606040"/>
            <a:ext cx="5394960" cy="3200400"/>
          </a:xfrm>
          <a:prstGeom prst="roundRect">
            <a:avLst>
              <a:gd name="adj" fmla="val 457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그래서 우선순위는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① 이미지 최적화 (WebP·레이지·크기 명시)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② 렌더링 차단 JS·CSS 제거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③ 서버 응답(TTFB)·캐시·CDN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④ INP를 위한 상호작용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23 / 38</a:t>
            </a:r>
          </a:p>
        </p:txBody>
      </p:sp>
      <p:sp>
        <p:nvSpPr>
          <p:cNvPr id="11" name="AccentRect1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모바일 우선 색인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구글은 모바일 페이지를 기준으로 색인한다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모바일 우선 색인(Mobile-First Indexing)은 구글이 색인·랭킹의 기준으로 모바일 버전을 사용하는 방식으로, 이미 기본값이다. PC에만 있는 콘텐츠는 평가에서 누락될 수 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동일 콘텐츠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모바일과 PC에 같은 핵심 콘텐츠·구조화 데이터를 제공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반응형 우선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기기별 분리보다 반응형 설계가 관리에 유리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모바일 성능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모바일 CWV가 곧 색인·순위의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24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3 · 측정 방식의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실험실 데이터 vs 현장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실험실 데이터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LAB DATA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Lighthouse 등으로 통제된 환경에서 측정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언제든 재현 가능하고 디버깅에 유리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실제 사용자 조건은 반영 못 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개선 작업 중 빠른 확인용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현장 데이터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FIELD DATA (CrUX)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실제 사용자의 기기·네트워크에서 수집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구글이 순위 평가에 쓰는 기준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75 백분위수로 '좋음' 판정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서치콘솔·PageSpeed Insights에서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25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구조화 데이터와 보안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검색엔진·AI에게 '의미'를 전달하고, HTTPS·보안 헤더로 '신뢰'를 확보한다.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핵심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구조화 데이터 — AI에게 의미를 전달한다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구조화 데이터(schema.org)는 페이지 내용을 '기계가 이해하는 형식(JSON-LD)'으로 표시하는 것이다. 사람이 보는 화면은 그대로지만, 검색엔진·AI는 무엇이 제목·가격·평점·저자인지 명확히 알게 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JSON-LD 권장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구글이 권장하는 구조화 데이터 형식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본문과 일치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화면에 없는 정보를 마크업하면 위반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Rich Results Test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적용 후 유효성을 반드시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27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구조화 데이터 종류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어떤 콘텐츠에 어떤 스키마를 쓰는가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331720"/>
            <a:ext cx="2495728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280" y="2331720"/>
            <a:ext cx="7699831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807208"/>
            <a:ext cx="249572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Article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3280" y="2807208"/>
            <a:ext cx="7699831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블로그·뉴스 등 일반 기사형 콘텐츠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55848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355848"/>
            <a:ext cx="249572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FAQ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280" y="3355848"/>
            <a:ext cx="7699831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질문-답변 형태로 정리된 콘텐츠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904487"/>
            <a:ext cx="249572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LocalBusiness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280" y="3904487"/>
            <a:ext cx="7699831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오프라인 매장·지역 업체 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53127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453127"/>
            <a:ext cx="249572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280" y="4453127"/>
            <a:ext cx="7699831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판매 상품의 가격·재고·옵션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001767"/>
            <a:ext cx="249572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280" y="5001767"/>
            <a:ext cx="7699831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사용자 리뷰·평점 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550407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550407"/>
            <a:ext cx="249572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Breadcrumb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280" y="5550407"/>
            <a:ext cx="7699831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사이트 내 페이지 경로 정보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33172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28 / 38</a:t>
            </a:r>
          </a:p>
        </p:txBody>
      </p:sp>
      <p:sp>
        <p:nvSpPr>
          <p:cNvPr id="26" name="AccentRect2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구조화 데이터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제대로 적용하면 생기는 4가지 효과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리치 스니펫 노출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별점·가격·이미지가 검색 결과에 추가 표시</a:t>
            </a:r>
          </a:p>
        </p:txBody>
      </p:sp>
      <p:sp>
        <p:nvSpPr>
          <p:cNvPr id="7" name="Oval 6"/>
          <p:cNvSpPr/>
          <p:nvPr/>
        </p:nvSpPr>
        <p:spPr>
          <a:xfrm>
            <a:off x="6126480" y="233172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4848" y="228600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CTR 증가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정보가 풍부한 결과는 클릭률이 높다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AI Overview 인용 가능성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AI가 답변 합성 시 우선 참조하기 쉽다</a:t>
            </a:r>
          </a:p>
        </p:txBody>
      </p:sp>
      <p:sp>
        <p:nvSpPr>
          <p:cNvPr id="11" name="Oval 10"/>
          <p:cNvSpPr/>
          <p:nvPr/>
        </p:nvSpPr>
        <p:spPr>
          <a:xfrm>
            <a:off x="6126480" y="3383279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4848" y="333756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엔티티 이해 향상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브랜드·상품·인물을 명확한 개체로 인식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주의 — 구조화 데이터는 리치 결과를 만들지만, 그 자체가 '직접적인 순위 상승 요인'은 아니다.(구글 공식)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29 / 38</a:t>
            </a:r>
          </a:p>
        </p:txBody>
      </p:sp>
      <p:sp>
        <p:nvSpPr>
          <p:cNvPr id="16" name="AccentRect16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HTTPS는 기본, 보안 헤더는 신뢰 신호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5029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HTTPS는 순위의 기본 전제이자 사용자 신뢰의 최소 조건이다. 여기에 보안 헤더를 더해 공격을 막고 신뢰도를 높인다.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7432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6974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HSTS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HTTPS 연결을 강제해 평문 통신 차단</a:t>
            </a:r>
          </a:p>
        </p:txBody>
      </p:sp>
      <p:sp>
        <p:nvSpPr>
          <p:cNvPr id="8" name="Oval 7"/>
          <p:cNvSpPr/>
          <p:nvPr/>
        </p:nvSpPr>
        <p:spPr>
          <a:xfrm>
            <a:off x="6126480" y="27432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6974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X-Frame-Options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클릭재킹 공격을 방지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576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6118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X-Content-Type-Options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MIME 타입 스니핑 방지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36576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36118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Referrer-Policy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참조 정보 유출 범위 제한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572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526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DMARC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메일 발신 인증으로 스푸핑 방지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4572000"/>
            <a:ext cx="512064" cy="512064"/>
          </a:xfrm>
          <a:prstGeom prst="ellipse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4526280"/>
            <a:ext cx="4663440" cy="6400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HTML lang 속성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언어를 명시해 검색엔진 이해를 도움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30 / 38</a:t>
            </a:r>
          </a:p>
        </p:txBody>
      </p:sp>
      <p:sp>
        <p:nvSpPr>
          <p:cNvPr id="20" name="AccentRect20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내부 링크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좋은 내부 링크 vs 고아 페이지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5148072" cy="457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좋은 내부 링크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GOOD STRUCTURE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문맥상 자연스럽게 연결되는 링크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상위·하위 페이지가 명확히 연결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관련 주제끼리 묶여서 연결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모든 중요 페이지가 최소 한 곳 이상에서 링크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2331720"/>
            <a:ext cx="5148072" cy="3566160"/>
          </a:xfrm>
          <a:prstGeom prst="roundRect">
            <a:avLst>
              <a:gd name="adj" fmla="val 4102"/>
            </a:avLst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2642615"/>
            <a:ext cx="4489704" cy="3017520"/>
          </a:xfrm>
          <a:prstGeom prst="roundRect">
            <a:avLst>
              <a:gd name="adj" fmla="val 4848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고아 페이지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000" b="1" i="0" spc="15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ORPHAN PAGE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어디에서도 링크되지 않아 발견 못 함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사이트맵에만 있고 내부 링크가 없음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신규 콘텐츠가 색인 안 되는 주요 원인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50" b="0" i="0">
                <a:solidFill>
                  <a:srgbClr val="A09D96"/>
                </a:solidFill>
                <a:latin typeface="맑은 고딕"/>
                <a:ea typeface="맑은 고딕"/>
                <a:cs typeface="맑은 고딕"/>
              </a:rPr>
              <a:t>· 정기 점검으로 사전에 발견해야 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31 / 38</a:t>
            </a:r>
          </a:p>
        </p:txBody>
      </p:sp>
      <p:sp>
        <p:nvSpPr>
          <p:cNvPr id="12" name="AccentRect12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4 · 다국어·다지역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hreflang — 언어·지역별 올바른 페이지 안내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1005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hreflang은 같은 콘텐츠의 언어·지역별 버전을 검색엔진에 알려, 사용자가 자기 언어·지역에 맞는 페이지를 보게 하는 태그다. 다국어 사이트(WPML 등)에서 필수다.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언어·지역 지정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ko-KR, en-US처럼 언어+지역 조합으로 명시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상호 참조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각 버전이 서로를 hreflang으로 가리켜야 유효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36992" y="3566160"/>
            <a:ext cx="3337560" cy="1828800"/>
          </a:xfrm>
          <a:prstGeom prst="roundRect">
            <a:avLst>
              <a:gd name="adj" fmla="val 8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356616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877056"/>
            <a:ext cx="283464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중복 방지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지역별 중복 콘텐츠로 오인되는 문제를 예방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32 / 38</a:t>
            </a:r>
          </a:p>
        </p:txBody>
      </p:sp>
      <p:sp>
        <p:nvSpPr>
          <p:cNvPr id="17" name="AccentRect17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2743200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 spc="300">
                <a:solidFill>
                  <a:srgbClr val="C4BCAD"/>
                </a:solidFill>
                <a:latin typeface="맑은 고딕"/>
                <a:ea typeface="맑은 고딕"/>
                <a:cs typeface="맑은 고딕"/>
              </a:rPr>
              <a:t>PART</a:t>
            </a:r>
          </a:p>
          <a:p>
            <a:pPr algn="l">
              <a:lnSpc>
                <a:spcPct val="90000"/>
              </a:lnSpc>
            </a:pPr>
            <a:r>
              <a:rPr sz="12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3977639"/>
            <a:ext cx="1645920" cy="23774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51960"/>
            <a:ext cx="1005840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30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실전 테크니컬 SEO 감사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배운 것을 하나의 프로세스로 묶는다. 7단계 감사와 빈출 오류 조치로 사이트를 점검한다.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실전 감사 7단계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등록부터 개선안 도출까지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3337560" cy="128016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68880"/>
            <a:ext cx="2880360" cy="10058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01  등록 확인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서치콘솔·서치어드바이저 등록·소유권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2286000"/>
            <a:ext cx="3337560" cy="128016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228600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468880"/>
            <a:ext cx="2880360" cy="10058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02  접근성 점검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robots·sitemap 접근·최신 상태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8704" y="2286000"/>
            <a:ext cx="3337560" cy="128016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18704" y="228600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2468880"/>
            <a:ext cx="2880360" cy="10058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03  상태 코드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404·5xx·리다이렉트 체인 점검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3337560" cy="128016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86200"/>
            <a:ext cx="2880360" cy="10058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04  색인 상태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의도한 페이지만 색인됐는가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3703320"/>
            <a:ext cx="3337560" cy="128016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37033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6" y="3886200"/>
            <a:ext cx="2880360" cy="10058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05  속도 점검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PageSpeed로 LCP·INP·CLS 실측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18704" y="3703320"/>
            <a:ext cx="3337560" cy="128016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18704" y="370332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886200"/>
            <a:ext cx="2880360" cy="10058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06  구조화 데이터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Rich Results Test로 유효성 검증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9392" y="5120640"/>
            <a:ext cx="3337560" cy="1280160"/>
          </a:xfrm>
          <a:prstGeom prst="roundRect">
            <a:avLst>
              <a:gd name="adj" fmla="val 100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79392" y="5120640"/>
            <a:ext cx="3337560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5303520"/>
            <a:ext cx="2880360" cy="100584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07  개선안 도출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영향도(P0~P2)·난이도로 우선순위화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34 / 38</a:t>
            </a:r>
          </a:p>
        </p:txBody>
      </p:sp>
      <p:sp>
        <p:nvSpPr>
          <p:cNvPr id="28" name="AccentRect28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빈출 오류 조치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자주 발견되는 오류와 즉시 실행 해결책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634472" cy="475488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286000"/>
            <a:ext cx="2970885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8437" y="2286000"/>
            <a:ext cx="3289919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813" y="2286000"/>
            <a:ext cx="3715298" cy="47548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61488"/>
            <a:ext cx="2970885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robots.txt 주요 경로 차단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8437" y="2761488"/>
            <a:ext cx="3289919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색인 불가 — 검색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813" y="2761488"/>
            <a:ext cx="371529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규칙 제거 후 재크롤링 요청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10128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310128"/>
            <a:ext cx="2970885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canonical 대상 오류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8437" y="3310128"/>
            <a:ext cx="3289919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잘못된 URL이 대표로 색인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7813" y="3310128"/>
            <a:ext cx="371529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대표 URL 명확히 지정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858768"/>
            <a:ext cx="2970885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5xx 서버 오류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8437" y="3858768"/>
            <a:ext cx="3289919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크롤링 실패·예산 낭비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7813" y="3858768"/>
            <a:ext cx="371529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서버 로그 분석·오류 점검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407407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407407"/>
            <a:ext cx="2970885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리다이렉트 체인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8437" y="4407407"/>
            <a:ext cx="3289919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크롤 지연·링크 주스 손실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813" y="4407407"/>
            <a:ext cx="371529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최종 URL로 직접 연결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956047"/>
            <a:ext cx="2970885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CLS 0.1 초과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8437" y="4956047"/>
            <a:ext cx="3289919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이탈·CWV 미달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7813" y="4956047"/>
            <a:ext cx="3715298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이미지 크기 명시·영역 예약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28600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35 / 38</a:t>
            </a:r>
          </a:p>
        </p:txBody>
      </p:sp>
      <p:sp>
        <p:nvSpPr>
          <p:cNvPr id="29" name="AccentRect29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PART 5 · 무료 실전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지금 바로 써볼 수 있는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42615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PageSpeed Insights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CWV 실험실·현장 데이터를 모두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6422" y="233172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76422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741" y="2642615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구글 서치콘솔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색인·검색 성과·구조화 오류를 한눈에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2764" y="233172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12764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7084" y="2642615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네이버 서치어드바이저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네이버 전용 크롤·색인 상태 점검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49106" y="2331720"/>
            <a:ext cx="2425446" cy="2286000"/>
          </a:xfrm>
          <a:prstGeom prst="roundRect">
            <a:avLst>
              <a:gd name="adj" fmla="val 6400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9106" y="2331720"/>
            <a:ext cx="2425446" cy="45720"/>
          </a:xfrm>
          <a:prstGeom prst="rect">
            <a:avLst/>
          </a:prstGeom>
          <a:solidFill>
            <a:srgbClr val="F37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3426" y="2642615"/>
            <a:ext cx="1922526" cy="1737360"/>
          </a:xfrm>
          <a:prstGeom prst="roundRect">
            <a:avLst>
              <a:gd name="adj" fmla="val 8421"/>
            </a:avLst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Rich Results Test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구조화 데이터 유효성 즉시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10634472" cy="105156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058400" cy="10515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1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“사이트의 기초를 다졌다면, 이제 콘텐츠로 채울 시간이다. 크롤·색인·속도·구조화가 준비돼야 콘텐츠도 AI에 닿는다.”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36 / 38</a:t>
            </a:r>
          </a:p>
        </p:txBody>
      </p:sp>
      <p:sp>
        <p:nvSpPr>
          <p:cNvPr id="21" name="AccentRect21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3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7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오늘의 핵심 4가지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47088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검색엔진은 수집→정제→색인→랭킹 4단계로 움직인다 — 테크니컬 SEO는 이 흐름을 뚫는 일이다.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28600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28600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228600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46888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robots·sitemap은 표준, llms.txt는 초기 제안(구글 미사용) — 크롤 거버넌스를 설계하라.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39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Core Web Vitals는 LCP 2.5초·INP 200ms·CLS 0.1, 현장 데이터 75 백분위수 기준이다.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5148072" cy="1645920"/>
          </a:xfrm>
          <a:prstGeom prst="roundRect">
            <a:avLst>
              <a:gd name="adj" fmla="val 8888"/>
            </a:avLst>
          </a:prstGeom>
          <a:solidFill>
            <a:srgbClr val="EFE9DE"/>
          </a:solidFill>
          <a:ln w="9525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822960" cy="1645920"/>
          </a:xfrm>
          <a:prstGeom prst="rect">
            <a:avLst/>
          </a:prstGeom>
          <a:solidFill>
            <a:srgbClr val="1817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4206240"/>
            <a:ext cx="603504" cy="1645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AF9F5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389120"/>
            <a:ext cx="3867912" cy="1280160"/>
          </a:xfrm>
          <a:prstGeom prst="roundRect">
            <a:avLst>
              <a:gd name="adj" fmla="val 10000"/>
            </a:avLst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구조화 데이터는 의미를 전달하고 리치 결과를 만들지만, 직접적 순위 요인은 아니다.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634472" cy="548640"/>
          </a:xfrm>
          <a:prstGeom prst="rect">
            <a:avLst/>
          </a:prstGeom>
          <a:solidFill>
            <a:srgbClr val="EF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10241280" cy="5486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52523"/>
                </a:solidFill>
                <a:latin typeface="맑은 고딕"/>
                <a:ea typeface="맑은 고딕"/>
                <a:cs typeface="맑은 고딕"/>
              </a:rPr>
              <a:t>NEXT · Session 4 콘텐츠 SEO &amp; AEO — 검색 의도부터 AI가 인용하는 즉답형 작성까지.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37 / 38</a:t>
            </a:r>
          </a:p>
        </p:txBody>
      </p:sp>
      <p:sp>
        <p:nvSpPr>
          <p:cNvPr id="25" name="AccentRect25"/>
          <p:cNvSpPr/>
          <p:nvPr/>
        </p:nvSpPr>
        <p:spPr>
          <a:xfrm>
            <a:off x="640080" y="1842516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105156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6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SESSION 3 ·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41413"/>
                </a:solidFill>
                <a:latin typeface="맑은 고딕"/>
                <a:ea typeface="맑은 고딕"/>
                <a:cs typeface="맑은 고딕"/>
              </a:rPr>
              <a:t>참고 자료 ·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10634472" cy="18288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web.dev. Core Web Vitals(LCP·INP·CLS) — web.dev/articles/vitals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Search Central. 크롤링·색인·모바일 우선 색인 가이드 — developers.google.com/search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Search Central. 구조화 데이터(리치 결과는 순위 직접 요인 아님) — developers.google.com/search/docs/appearance/structured-data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Google·DoubleClick/SOASTA (2016). 모바일 페이지 속도와 이탈률(53%) — 오래된 벤치마크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057400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Limy.ai (2026). llms.txt 도입 현황 — 5억건+ 봇 트래픽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24328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Google (John Mueller). Google은 llms.txt를 사용하지 않는다는 공식 언급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91256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llms.txt 제안 — Answer.AI (Jeremy Howard), llmstxt.org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58184"/>
            <a:ext cx="52120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C6A64"/>
                </a:solidFill>
                <a:latin typeface="맑은 고딕"/>
                <a:ea typeface="맑은 고딕"/>
                <a:cs typeface="맑은 고딕"/>
              </a:rPr>
              <a:t>· PageSpeed Insights · Rich Results Test · 네이버 서치어드바이저 — 무료 점검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SEO · AEO · GEO 6강 완성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3215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 spc="120">
                <a:solidFill>
                  <a:srgbClr val="8E8B82"/>
                </a:solidFill>
                <a:latin typeface="맑은 고딕"/>
                <a:ea typeface="맑은 고딕"/>
                <a:cs typeface="맑은 고딕"/>
              </a:rPr>
              <a:t>38 / 38</a:t>
            </a:r>
          </a:p>
        </p:txBody>
      </p:sp>
      <p:sp>
        <p:nvSpPr>
          <p:cNvPr id="15" name="AccentRect15"/>
          <p:cNvSpPr/>
          <p:nvPr/>
        </p:nvSpPr>
        <p:spPr>
          <a:xfrm>
            <a:off x="640080" y="1732788"/>
            <a:ext cx="658368" cy="29261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