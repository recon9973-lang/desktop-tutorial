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94" r:id="rId45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2026.1</c:v>
                </c:pt>
              </c:strCache>
            </c:strRef>
          </c:tx>
          <c:dPt>
            <c:idx val="0"/>
            <c:spPr>
              <a:solidFill>
                <a:srgbClr val="F3702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4BCAD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6DFD8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ChatGPT</c:v>
                </c:pt>
                <c:pt idx="1">
                  <c:v>Gemini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20</c:v>
                </c:pt>
                <c:pt idx="2">
                  <c:v>16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14141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000">
          <a:latin typeface="맑은 고딕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이용 경험률 %</c:v>
                </c:pt>
              </c:strCache>
            </c:strRef>
          </c:tx>
          <c:dPt>
            <c:idx val="0"/>
            <c:spPr>
              <a:solidFill>
                <a:srgbClr val="C4BCAD"/>
              </a:solidFill>
              <a:ln>
                <a:noFill/>
              </a:ln>
            </c:spPr>
          </c:dPt>
          <c:dPt>
            <c:idx val="1"/>
            <c:spPr>
              <a:solidFill>
                <a:srgbClr val="F37021"/>
              </a:solidFill>
              <a:ln>
                <a:noFill/>
              </a:ln>
            </c:spPr>
          </c:dPt>
          <c:dPt>
            <c:idx val="2"/>
            <c:spPr>
              <a:solidFill>
                <a:srgbClr val="6C6A64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네이버</c:v>
                </c:pt>
                <c:pt idx="1">
                  <c:v>ChatGPT</c:v>
                </c:pt>
                <c:pt idx="2">
                  <c:v>Gemini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81.6</c:v>
                </c:pt>
                <c:pt idx="1">
                  <c:v>54.5</c:v>
                </c:pt>
                <c:pt idx="2">
                  <c:v>28.9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4141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6DFD8"/>
            </a:solidFill>
          </a:ln>
        </c:spPr>
        <c:txPr>
          <a:bodyPr/>
          <a:lstStyle/>
          <a:p>
            <a:pPr>
              <a:defRPr sz="1000">
                <a:solidFill>
                  <a:srgbClr val="14141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4864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150">
                <a:solidFill>
                  <a:srgbClr val="6C6A64"/>
                </a:solidFill>
                <a:latin typeface="맑은 고딕"/>
                <a:ea typeface="맑은 고딕"/>
              </a:rPr>
              <a:t>AI 검색 시대 마케팅 — SEO·AEO·GEO 6강 완성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02920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spc="150">
                <a:solidFill>
                  <a:srgbClr val="6C6A64"/>
                </a:solidFill>
                <a:latin typeface="맑은 고딕"/>
                <a:ea typeface="맑은 고딕"/>
              </a:rPr>
              <a:t>SESSION 1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0890504" cy="10972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371600"/>
            <a:ext cx="3364992" cy="4114800"/>
          </a:xfrm>
          <a:prstGeom prst="roundRect">
            <a:avLst>
              <a:gd name="adj" fmla="val 7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4776" y="1682496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300">
                <a:solidFill>
                  <a:srgbClr val="A09D96"/>
                </a:solidFill>
                <a:latin typeface="맑은 고딕"/>
                <a:ea typeface="맑은 고딕"/>
              </a:rPr>
              <a:t>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508760"/>
            <a:ext cx="3364992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0" b="1">
                <a:solidFill>
                  <a:srgbClr val="FAF9F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94776" y="4617720"/>
            <a:ext cx="2743200" cy="10972"/>
          </a:xfrm>
          <a:prstGeom prst="rect">
            <a:avLst/>
          </a:prstGeom>
          <a:solidFill>
            <a:srgbClr val="2A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4776" y="4773168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100">
                <a:solidFill>
                  <a:srgbClr val="FAF9F5"/>
                </a:solidFill>
                <a:latin typeface="맑은 고딕"/>
                <a:ea typeface="맑은 고딕"/>
              </a:rPr>
              <a:t>AI SEARCH PARADIGM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755648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250">
                <a:solidFill>
                  <a:srgbClr val="6C6A64"/>
                </a:solidFill>
                <a:latin typeface="맑은 고딕"/>
                <a:ea typeface="맑은 고딕"/>
              </a:rPr>
              <a:t>AI SEARCH PARADIGM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7269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700" b="1">
                <a:solidFill>
                  <a:srgbClr val="141413"/>
                </a:solidFill>
                <a:latin typeface="맑은 고딕"/>
                <a:ea typeface="맑은 고딕"/>
              </a:rPr>
              <a:t>AI 검색 패러다임의 전환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611880"/>
            <a:ext cx="713232" cy="45720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822191"/>
            <a:ext cx="7040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3D3D3A"/>
                </a:solidFill>
                <a:latin typeface="맑은 고딕"/>
                <a:ea typeface="맑은 고딕"/>
              </a:rPr>
              <a:t>검색은 더 이상 '링크 목록'이 아니다. AI가 직접 답을 만드는 시대, 가장 먼저 다시 세워야 할 '가시성의 문법'.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754880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634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140년 미디어·검색史로 보는 패러다임 이동의 패턴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5138928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4748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SEO → AEO → GEO, 발견·채택·인용의 3단계 모델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5522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31536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AI는 콘텐츠를 키워드가 아니라 '의미'로 평가한다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5907024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81558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2026년 최신 데이터로 확인하는 AI 검색의 현재 위치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19088"/>
            <a:ext cx="10890504" cy="9144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50">
                <a:solidFill>
                  <a:srgbClr val="8E8B82"/>
                </a:solidFill>
                <a:latin typeface="맑은 고딕"/>
                <a:ea typeface="맑은 고딕"/>
              </a:rPr>
              <a:t>SEO · AEO · GEO — AI 검색 시대 마케팅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80">
                <a:solidFill>
                  <a:srgbClr val="8E8B82"/>
                </a:solidFill>
                <a:latin typeface="맑은 고딕"/>
                <a:ea typeface="맑은 고딕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120">
                <a:solidFill>
                  <a:srgbClr val="6C6A64"/>
                </a:solidFill>
                <a:latin typeface="맑은 고딕"/>
                <a:ea typeface="맑은 고딕"/>
              </a:rPr>
              <a:t>SEO · AEO · GEO · 6강 커리큘럼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41413"/>
                </a:solidFill>
                <a:latin typeface="맑은 고딕"/>
                <a:ea typeface="맑은 고딕"/>
              </a:rPr>
              <a:t>6강으로 완성하는 AI 검색 시대 마케팅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10890504" cy="12801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55064"/>
            <a:ext cx="658368" cy="27432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C6A64"/>
                </a:solidFill>
                <a:latin typeface="맑은 고딕"/>
                <a:ea typeface="맑은 고딕"/>
              </a:rPr>
              <a:t>기초 → 콘텐츠 → 신뢰 → 통합까지, 6단계로 쌓아 올리는 실전 로드맵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3496056" cy="1856232"/>
          </a:xfrm>
          <a:prstGeom prst="roundRect">
            <a:avLst>
              <a:gd name="adj" fmla="val 6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2560320"/>
            <a:ext cx="237744" cy="4114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038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AF9F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55264"/>
            <a:ext cx="2993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A09D96"/>
                </a:solidFill>
                <a:latin typeface="맑은 고딕"/>
                <a:ea typeface="맑은 고딕"/>
              </a:rPr>
              <a:t>AI SEARCH PARADIGM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993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F9F5"/>
                </a:solidFill>
                <a:latin typeface="맑은 고딕"/>
                <a:ea typeface="맑은 고딕"/>
              </a:rPr>
              <a:t>AI 검색 패러다임의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67328"/>
            <a:ext cx="2993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09D96"/>
                </a:solidFill>
                <a:latin typeface="맑은 고딕"/>
                <a:ea typeface="맑은 고딕"/>
              </a:rPr>
              <a:t>검색의 역사와 SEO·AEO·GEO 3단계 모델, AI 검색의 현재 위치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5592" y="2286000"/>
            <a:ext cx="3496056" cy="1856232"/>
          </a:xfrm>
          <a:prstGeom prst="roundRect">
            <a:avLst>
              <a:gd name="adj" fmla="val 6000"/>
            </a:avLst>
          </a:prstGeom>
          <a:solidFill>
            <a:srgbClr val="EFE9DE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29912" y="2560320"/>
            <a:ext cx="237744" cy="4114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1624" y="2651760"/>
            <a:ext cx="3038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41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912" y="3255264"/>
            <a:ext cx="2993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6C6A64"/>
                </a:solidFill>
                <a:latin typeface="맑은 고딕"/>
                <a:ea typeface="맑은 고딕"/>
              </a:rPr>
              <a:t>FOUNDATION &amp;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912" y="3474720"/>
            <a:ext cx="2993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413"/>
                </a:solidFill>
                <a:latin typeface="맑은 고딕"/>
                <a:ea typeface="맑은 고딕"/>
              </a:rPr>
              <a:t>기초 인프라 셋팅 &amp;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9912" y="3767328"/>
            <a:ext cx="2993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A"/>
                </a:solidFill>
                <a:latin typeface="맑은 고딕"/>
                <a:ea typeface="맑은 고딕"/>
              </a:rPr>
              <a:t>도메인·호스팅·CMS부터 검색엔진 등록까지 사이트 기초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2816" y="2286000"/>
            <a:ext cx="3496056" cy="1856232"/>
          </a:xfrm>
          <a:prstGeom prst="roundRect">
            <a:avLst>
              <a:gd name="adj" fmla="val 6000"/>
            </a:avLst>
          </a:prstGeom>
          <a:solidFill>
            <a:srgbClr val="EFE9DE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7136" y="2560320"/>
            <a:ext cx="237744" cy="4114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8848" y="2651760"/>
            <a:ext cx="3038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41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7136" y="3255264"/>
            <a:ext cx="2993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6C6A64"/>
                </a:solidFill>
                <a:latin typeface="맑은 고딕"/>
                <a:ea typeface="맑은 고딕"/>
              </a:rPr>
              <a:t>TECHNICAL 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7136" y="3474720"/>
            <a:ext cx="2993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413"/>
                </a:solidFill>
                <a:latin typeface="맑은 고딕"/>
                <a:ea typeface="맑은 고딕"/>
              </a:rPr>
              <a:t>테크니컬 SEO 완전정복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7136" y="3767328"/>
            <a:ext cx="2993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A"/>
                </a:solidFill>
                <a:latin typeface="맑은 고딕"/>
                <a:ea typeface="맑은 고딕"/>
              </a:rPr>
              <a:t>크롤링·색인·Core Web Vitals·구조화 데이터·보안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43400"/>
            <a:ext cx="3496056" cy="1856232"/>
          </a:xfrm>
          <a:prstGeom prst="roundRect">
            <a:avLst>
              <a:gd name="adj" fmla="val 6000"/>
            </a:avLst>
          </a:prstGeom>
          <a:solidFill>
            <a:srgbClr val="EFE9DE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617720"/>
            <a:ext cx="237744" cy="4114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3038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41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2993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6C6A64"/>
                </a:solidFill>
                <a:latin typeface="맑은 고딕"/>
                <a:ea typeface="맑은 고딕"/>
              </a:rPr>
              <a:t>CONTENT SEO &amp; AEO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532120"/>
            <a:ext cx="2993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413"/>
                </a:solidFill>
                <a:latin typeface="맑은 고딕"/>
                <a:ea typeface="맑은 고딕"/>
              </a:rPr>
              <a:t>콘텐츠 SEO &amp; AEO 실전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824728"/>
            <a:ext cx="2993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A"/>
                </a:solidFill>
                <a:latin typeface="맑은 고딕"/>
                <a:ea typeface="맑은 고딕"/>
              </a:rPr>
              <a:t>검색 의도·토픽 클러스터·AEO/GEO 콘텐츠 작성 전략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5592" y="4343400"/>
            <a:ext cx="3496056" cy="1856232"/>
          </a:xfrm>
          <a:prstGeom prst="roundRect">
            <a:avLst>
              <a:gd name="adj" fmla="val 6000"/>
            </a:avLst>
          </a:prstGeom>
          <a:solidFill>
            <a:srgbClr val="EFE9DE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9912" y="4617720"/>
            <a:ext cx="237744" cy="4114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1624" y="4709160"/>
            <a:ext cx="3038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413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9912" y="5312664"/>
            <a:ext cx="2993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6C6A64"/>
                </a:solidFill>
                <a:latin typeface="맑은 고딕"/>
                <a:ea typeface="맑은 고딕"/>
              </a:rPr>
              <a:t>LINK BUILDING &amp; GEO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9912" y="5532120"/>
            <a:ext cx="2993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413"/>
                </a:solidFill>
                <a:latin typeface="맑은 고딕"/>
                <a:ea typeface="맑은 고딕"/>
              </a:rPr>
              <a:t>링크빌딩 SEO &amp; GEO 실전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9912" y="5824728"/>
            <a:ext cx="2993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A"/>
                </a:solidFill>
                <a:latin typeface="맑은 고딕"/>
                <a:ea typeface="맑은 고딕"/>
              </a:rPr>
              <a:t>화이트햇 링크빌딩·Entity SEO·GEO 5대 전략과 KPI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2816" y="4343400"/>
            <a:ext cx="3496056" cy="1856232"/>
          </a:xfrm>
          <a:prstGeom prst="roundRect">
            <a:avLst>
              <a:gd name="adj" fmla="val 6000"/>
            </a:avLst>
          </a:prstGeom>
          <a:solidFill>
            <a:srgbClr val="EFE9DE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27136" y="4617720"/>
            <a:ext cx="237744" cy="4114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8848" y="4709160"/>
            <a:ext cx="3038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413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7136" y="5312664"/>
            <a:ext cx="2993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6C6A64"/>
                </a:solidFill>
                <a:latin typeface="맑은 고딕"/>
                <a:ea typeface="맑은 고딕"/>
              </a:rPr>
              <a:t>INTEGRATION &amp; OUTLOOK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7136" y="5532120"/>
            <a:ext cx="2993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413"/>
                </a:solidFill>
                <a:latin typeface="맑은 고딕"/>
                <a:ea typeface="맑은 고딕"/>
              </a:rPr>
              <a:t>통합 전략·자동화·전망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7136" y="5824728"/>
            <a:ext cx="2993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A"/>
                </a:solidFill>
                <a:latin typeface="맑은 고딕"/>
                <a:ea typeface="맑은 고딕"/>
              </a:rPr>
              <a:t>상황별 전략·콘텐츠 자동화·2026~2028 시장 전망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6419088"/>
            <a:ext cx="10890504" cy="9144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50">
                <a:solidFill>
                  <a:srgbClr val="8E8B82"/>
                </a:solidFill>
                <a:latin typeface="맑은 고딕"/>
                <a:ea typeface="맑은 고딕"/>
              </a:rPr>
              <a:t>SEO · AEO · GEO — AI 검색 시대 마케팅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473952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120">
                <a:solidFill>
                  <a:srgbClr val="8E8B82"/>
                </a:solidFill>
                <a:latin typeface="맑은 고딕"/>
                <a:ea typeface="맑은 고딕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1 · 오늘 다루는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검색 패러다임, 이렇게 짚는다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검색의 역사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구전→매스미디어→포털→소셜→생성형 AI, 140년 패권 이동의 법칙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SEO·AEO·GEO 3단 모델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발견→채택→인용, 셋은 경쟁이 아니라 순차적 보완 관계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608576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AI의 콘텐츠 평가 방식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키워드 빈도 채점에서 의미·맥락(임베딩) 기반 평가로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2026 데이터로 보는 현재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ChatGPT·Gemini 트래픽, AI 검색 도달률, 한국 시장 점유율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SEO는 끝났는가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흔한 오해를 데이터로 검증하고 실전 로드맵을 미리 그린다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03 / 39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검색은 어떻게 여기까지 왔는가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구전에서 생성형 AI까지, 140년 미디어·검색 역사를 압축해 훑는다. 패턴을 보면 다음 변화도 예측할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역사를 보는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미디어 패권은 늘 '발견 방식'을 따라 이동했다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발견 채널이 곧 권력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정보를 찾는 첫 관문을 쥔 채널이 그 시대 마케팅 예산을 가장 많이 흡수했다.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6422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6422" y="22860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1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기술은 대체가 아닌 누적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라디오가 신문을, 포털이 TV를 없애지 않았다. 새 채널은 기존 위에 '한 겹'을 얹는다.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2764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2764" y="22860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검색의 본질은 불변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'신뢰할 답을 가장 빨리 찾으려는 욕구'는 1883년이나 2026년이나 같다. 바뀐 건 '누가 답을 골라주는가'.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106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9106" y="22860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3426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그래서 역사가 전략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매체 전환기에 살아남은 브랜드는 새 채널을 가장 먼저 받아들였다. AI 검색기도 같은 기회의 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05 / 39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매스미디어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1883~1999, 정보 게이트키퍼의 탄생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86353"/>
            <a:ext cx="10332720" cy="10972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37159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1883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신문(한성순보)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근대 언론의 시작</a:t>
            </a:r>
          </a:p>
        </p:txBody>
      </p:sp>
      <p:sp>
        <p:nvSpPr>
          <p:cNvPr id="9" name="Oval 8"/>
          <p:cNvSpPr/>
          <p:nvPr/>
        </p:nvSpPr>
        <p:spPr>
          <a:xfrm>
            <a:off x="337870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602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1927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라디오(경성방송)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음성 동시 송출</a:t>
            </a:r>
          </a:p>
        </p:txBody>
      </p:sp>
      <p:sp>
        <p:nvSpPr>
          <p:cNvPr id="12" name="Oval 11"/>
          <p:cNvSpPr/>
          <p:nvPr/>
        </p:nvSpPr>
        <p:spPr>
          <a:xfrm>
            <a:off x="596188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TV(대한방송)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영상 매체 등장</a:t>
            </a:r>
          </a:p>
        </p:txBody>
      </p:sp>
      <p:sp>
        <p:nvSpPr>
          <p:cNvPr id="15" name="Oval 14"/>
          <p:cNvSpPr/>
          <p:nvPr/>
        </p:nvSpPr>
        <p:spPr>
          <a:xfrm>
            <a:off x="854506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238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1998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666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Google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페이지랭크·SEO 탄생</a:t>
            </a:r>
          </a:p>
        </p:txBody>
      </p:sp>
      <p:sp>
        <p:nvSpPr>
          <p:cNvPr id="18" name="Oval 17"/>
          <p:cNvSpPr/>
          <p:nvPr/>
        </p:nvSpPr>
        <p:spPr>
          <a:xfrm>
            <a:off x="11128248" y="3172968"/>
            <a:ext cx="237744" cy="237744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1999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한국형 포털·SEO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한 시대를 대표하는 '발견 채널'이 약 30~70년 주기로 교체되어 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06 / 39</a:t>
            </a:r>
          </a:p>
        </p:txBody>
      </p:sp>
      <p:sp>
        <p:nvSpPr>
          <p:cNvPr id="24" name="AccentRect24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게이트키퍼(Gatekeeper) — 정보 유통의 문지기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'무엇을 대중에게 보여줄지 선별하는 주체'가 두 번 바뀌었다. 사람 → 알고리즘 → 생성형 AI로.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15412" y="360456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9572" y="310896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43484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사람 (편집자·PD)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신문·라디오·TV 시대엔 사람이 직접 선별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0236" y="360456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54396" y="310896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7784" y="443484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알고리즘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PageRank·C-Rank 등 알고리즘으로 이동</a:t>
            </a:r>
          </a:p>
        </p:txBody>
      </p:sp>
      <p:sp>
        <p:nvSpPr>
          <p:cNvPr id="12" name="Oval 11"/>
          <p:cNvSpPr/>
          <p:nvPr/>
        </p:nvSpPr>
        <p:spPr>
          <a:xfrm>
            <a:off x="8999219" y="310896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2607" y="443484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답변 합성 모델이 다시 선별 주체가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07 / 39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소셜 플랫폼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2004~2021, 검색이 플랫폼 안으로 들어가다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86353"/>
            <a:ext cx="10332720" cy="10972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37159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Facebook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소셜형 발견</a:t>
            </a:r>
          </a:p>
        </p:txBody>
      </p:sp>
      <p:sp>
        <p:nvSpPr>
          <p:cNvPr id="9" name="Oval 8"/>
          <p:cNvSpPr/>
          <p:nvPr/>
        </p:nvSpPr>
        <p:spPr>
          <a:xfrm>
            <a:off x="337870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602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YouTube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영상 검색 부상</a:t>
            </a:r>
          </a:p>
        </p:txBody>
      </p:sp>
      <p:sp>
        <p:nvSpPr>
          <p:cNvPr id="12" name="Oval 11"/>
          <p:cNvSpPr/>
          <p:nvPr/>
        </p:nvSpPr>
        <p:spPr>
          <a:xfrm>
            <a:off x="596188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Instagram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이미지 기반 발견</a:t>
            </a:r>
          </a:p>
        </p:txBody>
      </p:sp>
      <p:sp>
        <p:nvSpPr>
          <p:cNvPr id="15" name="Oval 14"/>
          <p:cNvSpPr/>
          <p:nvPr/>
        </p:nvSpPr>
        <p:spPr>
          <a:xfrm>
            <a:off x="854506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238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666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TikTok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알고리즘 추천형</a:t>
            </a:r>
          </a:p>
        </p:txBody>
      </p:sp>
      <p:sp>
        <p:nvSpPr>
          <p:cNvPr id="18" name="Oval 17"/>
          <p:cNvSpPr/>
          <p:nvPr/>
        </p:nvSpPr>
        <p:spPr>
          <a:xfrm>
            <a:off x="11128248" y="3172968"/>
            <a:ext cx="237744" cy="237744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2020~21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Reels·Shorts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숏폼 검색 일상화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포털 검색창 밖에서도 '발견'이 일어나기 시작 — 알고리즘 피드가 검색창을 대체하기 시작했다.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08 / 39</a:t>
            </a:r>
          </a:p>
        </p:txBody>
      </p:sp>
      <p:sp>
        <p:nvSpPr>
          <p:cNvPr id="24" name="AccentRect24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생성형 AI 검색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2022~2028, 답을 '찾는' 시대에서 '받는' 시대로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86353"/>
            <a:ext cx="10332720" cy="10972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37159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ChatGPT·Perplexity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생성형 답변 검색 시작</a:t>
            </a:r>
          </a:p>
        </p:txBody>
      </p:sp>
      <p:sp>
        <p:nvSpPr>
          <p:cNvPr id="9" name="Oval 8"/>
          <p:cNvSpPr/>
          <p:nvPr/>
        </p:nvSpPr>
        <p:spPr>
          <a:xfrm>
            <a:off x="337870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602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Bard→Gemini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포털의 생성형 대응</a:t>
            </a:r>
          </a:p>
        </p:txBody>
      </p:sp>
      <p:sp>
        <p:nvSpPr>
          <p:cNvPr id="12" name="Oval 11"/>
          <p:cNvSpPr/>
          <p:nvPr/>
        </p:nvSpPr>
        <p:spPr>
          <a:xfrm>
            <a:off x="596188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Claude·AI Overview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답변이 검색에 통합</a:t>
            </a:r>
          </a:p>
        </p:txBody>
      </p:sp>
      <p:sp>
        <p:nvSpPr>
          <p:cNvPr id="15" name="Oval 14"/>
          <p:cNvSpPr/>
          <p:nvPr/>
        </p:nvSpPr>
        <p:spPr>
          <a:xfrm>
            <a:off x="8545068" y="3172968"/>
            <a:ext cx="237744" cy="23774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238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666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AI 브리핑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한국 포털의 AEO 대응</a:t>
            </a:r>
          </a:p>
        </p:txBody>
      </p:sp>
      <p:sp>
        <p:nvSpPr>
          <p:cNvPr id="18" name="Oval 17"/>
          <p:cNvSpPr/>
          <p:nvPr/>
        </p:nvSpPr>
        <p:spPr>
          <a:xfrm>
            <a:off x="11128248" y="3172968"/>
            <a:ext cx="237744" cy="237744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전통검색 -25% 전망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Gartner (2026년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ChatGPT 등장 5년 만에 검색 결과물이 '링크 목록'에서 '합성된 답변'으로 바뀌고 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09 / 39</a:t>
            </a:r>
          </a:p>
        </p:txBody>
      </p:sp>
      <p:sp>
        <p:nvSpPr>
          <p:cNvPr id="24" name="AccentRect24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전환 주기의 가속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채널 전환 주기, 점점 짧아지고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44년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신문(1883) → 라디오(1927)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한 세대가 통째로 바뀌어야 새 채널이 자리 잡던 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6년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구글(1998) → 페이스북(2004)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포털이 자리잡기도 전에 소셜 발견이 등장했다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1~2년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ChatGPT(2022) → AI 주류화(2024~25)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마케터가 대응할 시간은 1~2년 단위로 줄었다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전환 주기가 짧아질수록, 먼저 움직이는 사람이 가져가는 상대적 우위는 더 커진다.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10 / 39</a:t>
            </a:r>
          </a:p>
        </p:txBody>
      </p:sp>
      <p:sp>
        <p:nvSpPr>
          <p:cNvPr id="14" name="AccentRect14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2026년 전망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전통 검색은 사라지지 않는다 — 줄어들 뿐이다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754880" cy="3657600"/>
          </a:xfrm>
          <a:prstGeom prst="roundRect">
            <a:avLst>
              <a:gd name="adj" fmla="val 4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206240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-25%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3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2026년까지 전통 검색엔진 사용량 감소 전망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생성형 AI 비서·답변 엔진의 확산 때문. '검색'이 사라지는 게 아니라 '검색창에 입력하는 행위'가 줄어든다.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Gartner, 2024.02 (Alan Antin)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377440"/>
            <a:ext cx="57607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패러다임 전환기를 알아채는 4가지 신호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971800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새로운 발견 채널이 등장하고 빠르게 사용자를 모은다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3685032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85032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광고·마케팅 예산이 기존 채널에서 새 채널로 이동한다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4398264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98264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초기 진입자가 압도적 도달률·점유율 우위를 가져간다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5111496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11496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기존 채널의 게이트키퍼 역할·영향력이 약해진다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11 / 39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 → AEO → GEO, 검색의 3단계 모델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셋은 경쟁하는 전략이 아니다. 발견되고(SEO), 채택되고(AEO), 인용되는(GEO) 순차적 보완 관계다.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출발점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 — 검색엔진 최적화 (Search Engine Optimization)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검색엔진이 내 콘텐츠를 발견·이해·평가해 상위 노출시키도록 하는 모든 과정. 광고는 켜둔 동안만 노출되지만, SEO·GEO는 한 번 구축하면 꺼지지 않는 '자산'이 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DA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Domain Authority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사이트 전체 순위 경쟁력을 0~100 점수로 환산한 종합 권위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32004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TF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Trust Flow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연결된 링크의 '품질' 기준 신뢰도 — 양보다 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32004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CF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Citation Flow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연결된 링크의 '수' 기준 영향력 — 질보다 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32004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SS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Spam Score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스팸성 링크·패턴 감지 정도를 나타내는 위험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도메인 권위 4대 지표 — Ahrefs·Moz·Majestic 등 백링크 도구에서 공통으로 확인한다.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13 / 39</a:t>
            </a:r>
          </a:p>
        </p:txBody>
      </p:sp>
      <p:sp>
        <p:nvSpPr>
          <p:cNvPr id="21" name="AccentRect2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왜 SEO가 여전히 중요한가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상위 노출은 '켜둔 동안만'이 아니라 '쌓이는' 자산이다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27.6%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검색 결과 1위의 평균 클릭률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1위 하나가 전체 클릭의 1/4 이상을 가져간다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Backlinko, 400만 결과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54.4%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상위 3개 결과가 가져가는 클릭 비중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4위 아래로는 클릭률이 급격히 떨어진다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Backlinko, 400만 결과 분석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상위 노출 이후 추가 클릭당 광고비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광고는 예산이 꺼지면 노출도 꺼지지만 SEO는 꺼지지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검색 광고와 SEO·GEO의 근본적 차이 — 하나는 '켜둔 동안만'의 비용, 다른 하나는 '쌓이는' 자산이다.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14 / 39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SEO 실무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SEO는 한 번의 작업이 아니라 6단계 운영 과정이다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511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비즈니스·웹사이트 진단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2~3주 · 기술 상태·콘텐츠 경쟁력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23317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5511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로드맵·전략 수립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2~4주 · 우선순위와 실행 계획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23317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18704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5511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기술 SEO 개선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4~8주 · 크롤링·색인·속도 인프라 정비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799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SEO 실행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월 단위 지속 · 검색 의도 맞춤 콘텐츠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41605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41605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3799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분석 도구 활용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구글·네이버·빙 애널리틱스로 성과 추적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8704" y="41605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18704" y="41605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3799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모니터링·재학습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알고리즘 변화에 맞춰 지속 보완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15 / 39</a:t>
            </a:r>
          </a:p>
        </p:txBody>
      </p:sp>
      <p:sp>
        <p:nvSpPr>
          <p:cNvPr id="25" name="AccentRect2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1단계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— 답변엔진 최적화 (Answer Engine Optimization)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질문에 대해 AI 답변엔진이 내 콘텐츠를 '신뢰할 수 있는 정답'으로 채택하게 만드는 최적화. Featured Snippet·AI Overview·챗봇 즉답에서 직접 인용·발췌되는 것이 목표.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5148072" cy="2560320"/>
          </a:xfrm>
          <a:prstGeom prst="roundRect">
            <a:avLst>
              <a:gd name="adj" fmla="val 571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3602736"/>
            <a:ext cx="4489704" cy="2011679"/>
          </a:xfrm>
          <a:prstGeom prst="roundRect">
            <a:avLst>
              <a:gd name="adj" fmla="val 7272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효과 발현 · 빠르다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4~8 WEEKS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4~8주로 비교적 빠르게 결과가 나타난다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거래형 키워드·스타트업에 적합하다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291840"/>
            <a:ext cx="5148072" cy="2560320"/>
          </a:xfrm>
          <a:prstGeom prst="roundRect">
            <a:avLst>
              <a:gd name="adj" fmla="val 5714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3602736"/>
            <a:ext cx="4489704" cy="2011679"/>
          </a:xfrm>
          <a:prstGeom prst="roundRect">
            <a:avLst>
              <a:gd name="adj" fmla="val 7272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콘텐츠 구조 · 간결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500~800자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간결하고 완결된 답변형 구조가 핵심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글 서두에 핵심 답을 먼저 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 / 39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2단계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 — 생성형 엔진 최적화 (Generative Engine Optimization)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12344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생성형 AI가 답변을 합성할 때 우리 브랜드·콘텐츠가 신뢰할 수 있는 출처로 인용·추천되도록 만드는 전략.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프린스턴·조지아텍·앨런AI 공동연구진(Aggarwal 외, KDD 2024)이 처음 체계화 — 9가지 콘텐츠 전략을 10개 생성 검색엔진·1만 개 질의로 실험해 AI 응답 내 가시성을 최대 40%까지 끌어올릴 수 있음을 확인했다.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5148072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288536"/>
            <a:ext cx="4489704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효과 발현 · 장기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3~6 MONTHS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3~6개월의 장기 관점 필요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B2B·전문 서비스업에 효과적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977639"/>
            <a:ext cx="5148072" cy="1828800"/>
          </a:xfrm>
          <a:prstGeom prst="roundRect">
            <a:avLst>
              <a:gd name="adj" fmla="val 8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4288536"/>
            <a:ext cx="4489704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콘텐츠 구조 · 심층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2,000~4,000자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심층적·권위 있는 분석형 콘텐츠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통계·출처 인용이 핵심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17 / 39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한눈에 보는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vs GEO 실전 비교표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231256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113" y="2331720"/>
            <a:ext cx="383177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1340" y="2331720"/>
            <a:ext cx="383177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07208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효과 발현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113" y="2807208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4~8주 (빠른 결과)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340" y="2807208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3~6개월 (장기적 효과)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0712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적합 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113" y="3410712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스타트업·거래형 키워드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340" y="3410712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B2B·전문 서비스업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014215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콘텐츠 길이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113" y="4014215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500~800자 간결한 답변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340" y="4014215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2,000~4,000자 심층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617720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투자 비용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0113" y="4617720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상대적 저비용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340" y="4617720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상대적 고비용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21224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성과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113" y="5221224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Featured Snippet·AI 답변 인용률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340" y="5221224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모델 내 브랜드 언급 빈도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18 / 39</a:t>
            </a:r>
          </a:p>
        </p:txBody>
      </p:sp>
      <p:sp>
        <p:nvSpPr>
          <p:cNvPr id="29" name="AccentRect2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통합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발견(SEO) → 채택(AEO) → 인용(GEO)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640080" y="2651760"/>
            <a:ext cx="3383280" cy="960120"/>
          </a:xfrm>
          <a:prstGeom prst="chevron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400" b="1" i="0" spc="10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94760"/>
            <a:ext cx="30175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발견 · Discovery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전통 검색엔진 · 상위 노출 · 키워드와 링크</a:t>
            </a:r>
          </a:p>
        </p:txBody>
      </p:sp>
      <p:sp>
        <p:nvSpPr>
          <p:cNvPr id="7" name="Chevron 6"/>
          <p:cNvSpPr/>
          <p:nvPr/>
        </p:nvSpPr>
        <p:spPr>
          <a:xfrm>
            <a:off x="4297680" y="2651760"/>
            <a:ext cx="3383280" cy="960120"/>
          </a:xfrm>
          <a:prstGeom prst="chevron">
            <a:avLst/>
          </a:prstGeom>
          <a:solidFill>
            <a:srgbClr val="51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400" b="1" i="0" spc="10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794760"/>
            <a:ext cx="30175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채택 · Adoption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답변엔진 · 신뢰 출처 인식 · 정답형 구조</a:t>
            </a:r>
          </a:p>
        </p:txBody>
      </p:sp>
      <p:sp>
        <p:nvSpPr>
          <p:cNvPr id="9" name="Chevron 8"/>
          <p:cNvSpPr/>
          <p:nvPr/>
        </p:nvSpPr>
        <p:spPr>
          <a:xfrm>
            <a:off x="7955279" y="2651760"/>
            <a:ext cx="3383280" cy="960120"/>
          </a:xfrm>
          <a:prstGeom prst="chevron">
            <a:avLst/>
          </a:prstGeom>
          <a:solidFill>
            <a:srgbClr val="7C7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400" b="1" i="0" spc="10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3794760"/>
            <a:ext cx="30175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인용 · Citation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생성형 AI · 답변에 직접 인용 · 구조화·신뢰도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634472" cy="86868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24128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순서가 있는 깔때기다 — 발견되지 않으면 채택될 수 없고, 채택되지 않으면 인용될 수 없다.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19 / 39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실무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무엇을 먼저 바꿔야 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실무 · 빠르게 적용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QUICK WINS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글 서두에 핵심 답을 50자 내로 먼저 배치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FAQ로 질문-답변 구조를 명시적으로 분리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숫자·단계로 답을 구조화해 발췌하기 쉽게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기존 블로그·상세페이지에 즉시 적용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 실무 · 쌓는 자산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LONG-TERM TRUST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통계·데이터·출처 인용을 적극 포함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한 페이지 = 하나의 일관된 전문 주제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E-E-A-T를 전면에 노출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schema.org 구조화 데이터로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20 / 39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자산의 재정의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 자산 vs GEO 자산, 무엇이 쌓이는가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 자산 · 랭킹·링크 기반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RANK &amp; LINK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백링크 네트워크와 도메인 권위(DA·TF·CF)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특정 키워드의 검색 결과 순위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사이트맵·색인 상태 등 기술적 기반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애널리틱스에 누적된 트래픽 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 자산 · 신뢰·인용 기반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TRUST &amp; CITATION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구조화된 데이터와 일관된 전문 주제 권위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AI 모델 응답 내 브랜드 언급 빈도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리뷰·외부 채널에 쌓인 신뢰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E-E-A-T를 입증하는 저자·출처·경험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21 / 39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AI는 콘텐츠를 어떻게 다르게 평가하는가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키워드를 몇 번 썼는지 세던 시대는 끝났다. AI는 문장의 '의미'를 벡터로 변환해 맥락과 신뢰도를 함께 평가한다.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평가 기준의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키워드 빈도 채점에서 의미 기반 평가로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전통 검색엔진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KEYWORD-BASED SCORING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키워드가 몇 번·어디에 나오는지 계산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제목·헤딩·본문의 키워드 일치율이 핵심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문맥보다 정확한 일치(exact match) 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키워드를 반복 삽입하는 최적화가 통하던 시대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EMBEDDING-BASED EVALUATION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문장을 고차원 벡터로 변환해 '의미 유사도' 계산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같은 의미면 다른 단어를 써도 동일하게 인식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문맥적 일관성과 정보 신뢰도를 함께 평가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키워드 반복은 무의미하고 오히려 역효과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23 / 39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GEO 연구 핵심 수치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9가지 전략을 10개 엔진·1만 질의로 실험한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+40%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 전략 적용 시 AI 응답 내 가시성 최대 상승폭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인용·통계·출처를 더하는 전략이 가장 효과적이었다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Aggarwal 외, KDD 2024 (arXiv:2311.09735)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통계·인용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단일 전략 중 가장 효과가 컸던 유형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구체적 숫자와 출처를 더하는 것이 핵심이다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Aggarwal 외, KDD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역효과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의미 없는 키워드 반복(스터핑)의 결과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전통 SEO의 상식이 GEO에서는 통하지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Aggarwal 외, KDD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핵심 — GEO에서 보상받는 것은 '반복'이 아니라 '근거'다. 통계와 출처가 가시성을 만든다.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24 / 39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실무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AI가 콘텐츠를 평가하는 8가지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의미와 맥락을 담아라 — 키워드보다 스토리텔링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286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286000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서두에 핵심 요약을 먼저 배치하라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8211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82112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한 페이지 = 하나의 일관된 전문 주제로 좁혀라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18211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182112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숫자·데이터·경험·의견을 구체적으로 담아라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7822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78224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Q&amp;A·FAQ 구조를 적극 활용하라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407822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078224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주장에는 반드시 출처를 명시하라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74336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74336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상/하위 카테고리로 콘텐츠를 구조화하라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4974336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974336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E-E-A-T 네 요소를 모두 갖추라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25 / 39</a:t>
            </a:r>
          </a:p>
        </p:txBody>
      </p:sp>
      <p:sp>
        <p:nvSpPr>
          <p:cNvPr id="23" name="AccentRect2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핵심 신뢰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E-E-A-T — 구글과 AI가 공유하는 신뢰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구글의 콘텐츠 품질 4대 기준. 생성형 AI도 동일한 신뢰 신호를 학습·평가에 활용한다. 특히 건강·금융·법률 같은 YMYL 영역에서 노출과 인용을 좌우한다.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E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Experience · 경험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실제 경험한 사람만 쓸 수 있는 1차 정보가 있는가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30632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E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Expertise · 전문성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해당 분야 전문성이 콘텐츠에 드러나는가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30632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A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Authoritativeness · 권위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업계에서 권위 있는 출처로 인정받는가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30632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T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Trust · 신뢰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정보의 정확성·투명성이 검증 가능한가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26 / 39</a:t>
            </a:r>
          </a:p>
        </p:txBody>
      </p:sp>
      <p:sp>
        <p:nvSpPr>
          <p:cNvPr id="20" name="AccentRect2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AI 인용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생성형 AI가 실제로 인용하는 콘텐츠 5가지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67712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리스트·비교형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'Best X' 목록형이 ChatGPT 인용 페이지 유형의 43.8%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99232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80944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통계·데이터 중심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구체적 숫자와 출처가 명시된 문단이 발췌되기 쉽다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12464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94176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외부 채널 언급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브랜드 언급의 85%는 자사 도메인이 아닌 외부에서 발생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25696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07408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리뷰 플랫폼 등록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G2·Capterra 관리만으로 ChatGPT 인용 확률 3배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138928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Q&amp;A 구조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질문-답변으로 명확히 구조화된 콘텐츠가 발췌되기 쉽다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출처 : Ahrefs·업계 AI 인용 분석 (2026). 수치는 인용 유형별 관측치.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27 / 39</a:t>
            </a:r>
          </a:p>
        </p:txBody>
      </p:sp>
      <p:sp>
        <p:nvSpPr>
          <p:cNvPr id="18" name="AccentRect18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발견 경로의 단절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순위가 높다고 AI가 인용하는 것은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4754880" cy="3611880"/>
          </a:xfrm>
          <a:prstGeom prst="roundRect">
            <a:avLst>
              <a:gd name="adj" fmla="val 405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4206240" cy="2926080"/>
          </a:xfrm>
          <a:prstGeom prst="roundRect">
            <a:avLst>
              <a:gd name="adj" fmla="val 5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AI(ChatGPT·Gemini·Copilot)가 인용한 URL 중 구글 검색 상위 10위 안에도 있는 비율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즉 88%의 AI 인용 출처는 구글 순위와 무관하게 결정된다. SEO 순위와 GEO 인용은 서로 다른 게임의 규칙을 따른다.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Ahrefs, 2026 AI 검색 인용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331720"/>
            <a:ext cx="5513832" cy="1737360"/>
          </a:xfrm>
          <a:prstGeom prst="roundRect">
            <a:avLst>
              <a:gd name="adj" fmla="val 8421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2331720"/>
            <a:ext cx="54864" cy="173736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2542032"/>
            <a:ext cx="502920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검색 · RANKING-DRIVEN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백링크·권위 신호로 정렬 · 사용자가 목록에서 클릭 선택 · 한 번에 여러 링크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4206240"/>
            <a:ext cx="5513832" cy="1737360"/>
          </a:xfrm>
          <a:prstGeom prst="roundRect">
            <a:avLst>
              <a:gd name="adj" fmla="val 8421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4206240"/>
            <a:ext cx="54864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4416552"/>
            <a:ext cx="502920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AI 답변엔진 · CITATION-DRIVEN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신뢰도 높은 일부만 선별 인용 · 출처 클릭은 선택적 · 인용 수가 제한적이라 경쟁이 더 치열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28 / 39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E-E-A-T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YMYL 영역에서는 E-E-A-T가 생존 조건이 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'Your Money or Your Life' — 잘못된 정보가 실제 피해로 이어질 수 있는 영역에서는 신뢰 신호가 노출·인용을 좌우한다.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건강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의학 조언은 전문의·자격 정보가 없으면 AI가 인용을 꺼린다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292608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금융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투자·대출 콘텐츠는 출처·면책조항이 신뢰도에 직결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292608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법률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법률 자문성 콘텐츠는 작성자 자격·최신성이 중요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292608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재난·안전 정보는 권위 기관 출처 인용이 핵심 신호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29 / 39</a:t>
            </a:r>
          </a:p>
        </p:txBody>
      </p:sp>
      <p:sp>
        <p:nvSpPr>
          <p:cNvPr id="20" name="AccentRect2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2026 데이터로 보는 대전환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추세가 아니라 숫자로 확인한다. 글로벌·한국 시장 모두에서 AI 검색은 이미 일상의 일부가 되었다.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글로벌 검색 시장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점유율, 측정 방식에 따라 다르게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89.98%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전통 검색엔진 간 구글 점유율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검색엔진끼리만 비교한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StatCounter, 2026.02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73.7%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챗봇 포함 '검색 아레나' 미국 데스크톱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41개 플랫폼을 함께 비교하면 크게 낮아진다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검색 아레나 방식, 2025 Q4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동일 기준 유럽·영국 구글 점유율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지역별 AI 챗봇 침투율 차이가 존재한다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검색 아레나 방식, 2025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측정 기준을 'AI 챗봇 포함'으로 넓히는 순간 구글의 절대 우위는 빠르게 줄어든다.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31 / 39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점유율 재편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ChatGPT 독주에서 다극 체제로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286000"/>
          <a:ext cx="4846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52160"/>
            <a:ext cx="47548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생성형 AI 서비스 트래픽 점유율 · 2026.1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651760"/>
            <a:ext cx="5852160" cy="3200400"/>
          </a:xfrm>
          <a:prstGeom prst="roundRect">
            <a:avLst>
              <a:gd name="adj" fmla="val 457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2025년 초 → 2026년 1월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ChatGPT 87% → 64%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생성형 AI 트래픽의 대부분을 차지하던 ChatGPT의 절대 비중이 낮아졌다.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Gemini 20% 돌파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 Gemini가 빠르게 점유율을 끌어올렸다. 단일 플랫폼만 최적화하는 것의 위험이 커지는 신호다.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32 / 39</a:t>
            </a:r>
          </a:p>
        </p:txBody>
      </p:sp>
      <p:sp>
        <p:nvSpPr>
          <p:cNvPr id="10" name="AccentRect1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한국 AI 검색 트렌드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한국에서도 AI 검색은 이미 일상이 되었다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최근 3개월 내 서비스 이용 경험률(%) — 네이버는 여전히 1위지만 하락세, AI 서비스는 급성장.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514600"/>
          <a:ext cx="108813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ChatGPT 54.5%(2명 중 1명 이상) · Gemini 전년 대비 약 3배 · 네이버 81.6%지만 하락세.  출처 : 오픈서베이 AI 검색 트렌드 리포트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33 / 39</a:t>
            </a:r>
          </a:p>
        </p:txBody>
      </p:sp>
      <p:sp>
        <p:nvSpPr>
          <p:cNvPr id="10" name="AccentRect1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구글의 AI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검색창 자체가 대화형으로 바뀌고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77977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25억+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AI Overviews 월간 활성 이용자(MAU)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검색 결과 최상단을 AI 합성 답변이 차지하는 비중이 늘고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10235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Google, I/O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46888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77977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10억+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Mode 월간 활성 이용자, 출시 1년 만에 돌파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분기별 질의량이 빠르게 증가하고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10235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Google, I/O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46888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7977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9억+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Gemini 앱 MAU (1년 전 4억 → 2배 이상)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일일 요청량은 같은 기간 크게 늘었다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10235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Google,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509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검색창이 '입력하는 곳'에서 '대화하는 곳'으로 전환되는 흐름이 가속화되고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34 / 39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AI 트래픽의 진짜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양은 적지만, 질은 압도적이다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120640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57200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0.5% → 12.1%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AI 검색이 차지하는 트래픽 비중은 0.5%지만, 회원가입 전환 비중은 12.1%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방문자 수는 적지만 실제 행동(가입·구매)으로 이어지는 비율이 일반 트래픽보다 훨씬 높다.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Ahrefs,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377440"/>
            <a:ext cx="528523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788920"/>
            <a:ext cx="457200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22%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가시성을 실제로 추적·관리하는 마케터 비율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78%의 마케터는 아직 GEO 성과를 측정조차 못 한다. 지금 측정을 시작하는 것 자체가 경쟁자보다 앞서는 일이다.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53212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2026 마케터 서베이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35 / 39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한국 시장 특수성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블로그 vs 자체 도메인, 구조의 차이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286000"/>
            <a:ext cx="2253677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1229" y="2286000"/>
            <a:ext cx="3861213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네이버 블로그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1898" y="2286000"/>
            <a:ext cx="3861213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자체 도메인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61488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URL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1229" y="276148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naver.com/blog/ID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1898" y="276148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내 도메인(.com/.co.kr)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310128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소유권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1229" y="331012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네이버(정책 변경 위험)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1898" y="331012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운영자 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858768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테크니컬 SEO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1229" y="385876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직접 통제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1898" y="385876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직접 통제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07407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407407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콘텐츠 SEO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1229" y="440740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가능(네이버 알고리즘)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1898" y="440740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가능(구글·네이버 모두)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956047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링크빌딩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1229" y="495604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불가(백링크 효과 제한)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1898" y="495604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가능(장기 자산 누적)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28600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단기 도달엔 네이버 블로그가 유리하지만, 장기 자산 축적에는 자체 도메인이 필수다.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36 / 39</a:t>
            </a:r>
          </a:p>
        </p:txBody>
      </p:sp>
      <p:sp>
        <p:nvSpPr>
          <p:cNvPr id="30" name="AccentRect3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SEO는 끝났는가, 확장되었는가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10634472" cy="9601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“SEO는 끝난 것이 아니라 AEO와 GEO라는 두 개의 새로운 층으로 확장되고 있다. 발견되지 않으면 채택될 수 없고, 채택되지 않으면 인용될 수 없다.”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기초 인프라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테크니컬 SEO 없이는 AI 크롤러도 접근할 수 없다. GEO는 SEO 위에서 작동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6422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6422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0741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검색량 다수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답변이 없는 일반 검색이 아직 압도적 다수를 차지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2764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2764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7084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측정 가능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전통 검색은 서치콘솔로 성과를 정확히 추적할 수 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49106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9106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신뢰 자산 누적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백링크·도메인 권위는 GEO 신뢰도 평가에도 그대로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SEO가 여전히 필요한 4가지 이유 — 끝이 아니라 확장이다.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37 / 39</a:t>
            </a:r>
          </a:p>
        </p:txBody>
      </p:sp>
      <p:sp>
        <p:nvSpPr>
          <p:cNvPr id="22" name="AccentRect2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오늘의 핵심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검색은 구전→매스미디어→포털→소셜→생성형 AI로 계속 '확장'되어 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SEO(발견)→AEO(채택)→GEO(인용)는 경쟁이 아니라 순차적 보완 관계다.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AI는 키워드 빈도가 아니라 문맥적 의미와 신뢰도를 임베딩으로 평가한다.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2026년 한국에서도 ChatGPT 이용 경험률이 과반(54.5%)을 넘어섰다.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24128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NEXT · Session 2 테크니컬 SEO — 크롤링·색인·Core Web Vitals·구조화·보안, AI도 읽을 수 있는 사이트의 기초.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38 / 39</a:t>
            </a:r>
          </a:p>
        </p:txBody>
      </p:sp>
      <p:sp>
        <p:nvSpPr>
          <p:cNvPr id="25" name="AccentRect2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1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참고 자료 ·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Aggarwal, P. et al. (2024). GEO: Generative Engine Optimization. arXiv:2311.09735 · KDD 2024 — arxiv.org/abs/2311.09735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Gartner (2024.02). Search engine volume to drop 25% by 2026 — gartner.com/en/newsroom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Backlinko (2023). Google Organic CTR Stats (400만 결과): #1위 27.6%·상위3 54.4% — backlinko.com/google-ctr-stats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(I/O 2026). AI Overviews·AI Mode 사용자 지표 — blog.google/products/search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Ahrefs (2026). AI 검색 인용 패턴 및 전환 데이터 분석 — ahrefs.com/blog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오픈서베이 (2026). AI 검색 트렌드 리포트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StatCounter · Similarweb · Semrush (2026). 글로벌 검색·트래픽 점유율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넥스트티 next-t.co.kr · SEO코리아 seo.co.kr — 국내 GEO·SEO 실무 인사이트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39 / 39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732788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