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1.png"/><Relationship Id="rId3" Type="http://schemas.openxmlformats.org/officeDocument/2006/relationships/image" Target="../media/image-26-1.png"/><Relationship Id="rId4" Type="http://schemas.openxmlformats.org/officeDocument/2006/relationships/image" Target="../media/image-26-1.png"/><Relationship Id="rId5" Type="http://schemas.openxmlformats.org/officeDocument/2006/relationships/image" Target="../media/image-2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1.png"/><Relationship Id="rId3" Type="http://schemas.openxmlformats.org/officeDocument/2006/relationships/image" Target="../media/image-32-1.png"/><Relationship Id="rId4" Type="http://schemas.openxmlformats.org/officeDocument/2006/relationships/image" Target="../media/image-32-1.png"/><Relationship Id="rId5" Type="http://schemas.openxmlformats.org/officeDocument/2006/relationships/image" Target="../media/image-32-1.png"/><Relationship Id="rId6" Type="http://schemas.openxmlformats.org/officeDocument/2006/relationships/image" Target="../media/image-32-1.png"/><Relationship Id="rId7" Type="http://schemas.openxmlformats.org/officeDocument/2006/relationships/image" Target="../media/image-32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1.png"/><Relationship Id="rId3" Type="http://schemas.openxmlformats.org/officeDocument/2006/relationships/image" Target="../media/image-38-1.png"/><Relationship Id="rId4" Type="http://schemas.openxmlformats.org/officeDocument/2006/relationships/image" Target="../media/image-3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1.png"/><Relationship Id="rId3" Type="http://schemas.openxmlformats.org/officeDocument/2006/relationships/image" Target="../media/image-42-1.png"/><Relationship Id="rId4" Type="http://schemas.openxmlformats.org/officeDocument/2006/relationships/image" Target="../media/image-4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1.png"/><Relationship Id="rId3" Type="http://schemas.openxmlformats.org/officeDocument/2006/relationships/image" Target="../media/image-45-1.png"/><Relationship Id="rId4" Type="http://schemas.openxmlformats.org/officeDocument/2006/relationships/image" Target="../media/image-45-1.png"/><Relationship Id="rId5" Type="http://schemas.openxmlformats.org/officeDocument/2006/relationships/image" Target="../media/image-4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1.png"/><Relationship Id="rId3" Type="http://schemas.openxmlformats.org/officeDocument/2006/relationships/image" Target="../media/image-5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1.png"/><Relationship Id="rId3" Type="http://schemas.openxmlformats.org/officeDocument/2006/relationships/image" Target="../media/image-6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914400"/>
            <a:ext cx="2377440" cy="2377440"/>
          </a:xfrm>
          <a:prstGeom prst="ellipse">
            <a:avLst/>
          </a:prstGeom>
          <a:solidFill>
            <a:srgbClr val="FF7A4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/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 SEO &amp; GEO 실전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신뢰를 자산으로 쌓는 법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콘텐츠를 만들었다면, 이제 그 콘텐츠가 외부에서도 신뢰받도록 만들 시간이다. 백링크부터 엔티티까지, 그리고 GEO 성과를 측정하는 법까지 다룬다.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4791456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6451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화이트햇 링크빌딩 5대 전략과 좋은 백링크 vs 위험한 백링크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808" y="5212080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06577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 7단계 실행법 — 브랜드를 하나의 '개체'로 만들기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" y="5632704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486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5대 전략 총정리와 인용률·점유율 등 새로운 KPI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" y="6053328"/>
            <a:ext cx="100584" cy="10058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90702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EF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대행사 판별법, 5회차로 이어지는 실전 기준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5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 시대 마케팅 — SEO·AEO·GEO 5주 완성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&amp; GEO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다루는 5가지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178308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링크빌딩 SEO 기본 원리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49240" y="1783080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백링크는 왜 신뢰 투표인가, 화이트햇 5대 전략은 무엇인가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642616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679192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실무와 한국 시장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49240" y="2679192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네이버·구글 이중 구조, 대행사가 실제로 하는 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538728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575304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575304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Entity SEO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49240" y="3575304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브랜드를 키워드가 아닌 '개체'로 인식시키는 7단계 실행법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434840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471416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4471416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GEO 5대 전략과 KPI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49240" y="4471416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인용률·점유율 등 GEO 시대의 새로운 성과 지표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330952"/>
            <a:ext cx="10789920" cy="0"/>
          </a:xfrm>
          <a:prstGeom prst="line">
            <a:avLst/>
          </a:prstGeom>
          <a:noFill/>
          <a:ln w="12700">
            <a:solidFill>
              <a:srgbClr val="E2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36752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536752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좋은 대행사 판별법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349240" y="5367528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그린 플래그·레드 플래그로 보는 대행사 선택 기준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 SEO의 기본 원리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백링크는 단순한 링크가 아니라, 다른 사이트가 내 콘텐츠에 보내는 신뢰의 투표다.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핵심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 (Link Building)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 획득 전략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웹사이트에서 자사 사이트로 연결되는 하이퍼링크(백링크)를 획득하는 SEO 전략이다.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구글은 백링크를 해당 사이트에 대한 신뢰 투표로 해석하며, 관련성·권위·자연스러움이 높은 백링크가 많을수록 검색 순위에 긍정적 영향을 준다.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87375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1" descr="/home/claude/seo_course/icons/wre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9736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776472"/>
            <a:ext cx="10241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SEO와의 관계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기술적 기반이 건강해야 획득한 백링크의 효과(링크 주스)가 사이트 내부에 제대로 전달된다.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정당한 방법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화이트햇 링크빌딩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White-hat Link Building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가이드라인을 준수하면서 콘텐츠의 가치와 관계성을 기반으로 자연스러운 백링크를 획득하는 방법이다.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기준 디지털 PR·토픽 권위 허브·전문가 인용·게스트 포스팅·테크니컬 기반 자산 구축이 5대 핵심 전략으로 꼽힌다.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5대 전략 (1/2)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화이트햇 링크빌딩, 첫 3가지 전략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newspap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디지털 PR 링크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언론사·미디어에 뉴스 가치가 있는 데이터·연구를 제공해 기사 내 자연스러운 백링크를 획득한다. 브랜드 신뢰와 검색 결과 점유에 가장 강력한 효과를 낸다.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토픽 권위 허브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특정 주제에 대해 깊이 있는 콘텐츠 클러스터(필러+서브토픽)를 구축한다. 해당 주제의 레퍼런스가 되면 업계에서 자발적으로 링크한다.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quo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전문가 인용 (HARO)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Help A Reporter Out 등 언론인 질의에 업계 전문가로 응답해, 기사에 인용과 함께 백링크를 획득한다. E-E-A-T의 경험·전문성 신호를 강화한다.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5대 전략 (2/2)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화이트햇 링크빌딩, 나머지 2가지 전략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고품질 게스트 포스팅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 업종의 권위 있는 사이트에 실질적 가치가 있는 콘텐츠를 기고한다. 편집적 맥락에서 자연스러운 링크를 획득하는 전통적 전략이다.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wre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테크니컬 기반 자산 구축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4315968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기술적으로 완벽한 사이트(속도·구조·색인·스키마)를 구축하면 자연 상위 노출되고, 다른 사이트에서 자발적으로 인용한다. 가장 지속 가능한 장기 전략이다.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AI 기반 스팸 탐지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SpamBrain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구글의 AI 스팸 탐지 시스템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 패턴·앵커 텍스트·사이트 네트워크 관계까지 분석하는 구글의 AI 기반 스팸 탐지 시스템이다.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기준, 인위적 링크는 단순 무효화를 넘어 누적 시 알고리즘 페널티로 사이트 전체 순위가 하락할 수 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신뢰받는 링크의 조건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구글이 신뢰하는 링크 vs 페널티 대상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93392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34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평가 기준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신뢰하는 링크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페널티 대상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출처 사이트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관련 업종의 권위 있는 사이트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PBN·링크 팜·무관한 사이트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링크 맥락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흐름 안의 편집적 배치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사이드바·푸터·댓글 스팸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트래픽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실제 사용자가 클릭하는 링크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클릭 제로, 봇만 방문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앵커 텍스트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브랜드명·URL·자연 문맥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정확 일치 키워드 반복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획득 속도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시간에 따라 자연스러운 증가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단기간 급격한 링크 폭증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대가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가치로 자연 획득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유료 Dofollow (표시 없음)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2026년 권장 비율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앵커 텍스트, 비율까지 관리해야 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50%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브랜드명 앵커 텍스트 권장 비율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'베놈애드'처럼 브랜드명 그대로 사용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앵커 텍스트 비율 가이드,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644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104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25%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1104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04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URL 앵커 텍스트 권장 비율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1104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'venomad.com'처럼 URL을 그대로 노출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1104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앵커 텍스트 비율 가이드, 2026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25968" y="1627632"/>
            <a:ext cx="3505200" cy="4160520"/>
          </a:xfrm>
          <a:prstGeom prst="roundRect">
            <a:avLst>
              <a:gd name="adj" fmla="val 2348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5400000">
              <a:srgbClr val="1E1B4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0560" y="1920240"/>
            <a:ext cx="317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20%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8290560" y="2834640"/>
            <a:ext cx="3176016" cy="0"/>
          </a:xfrm>
          <a:prstGeom prst="line">
            <a:avLst/>
          </a:prstGeom>
          <a:noFill/>
          <a:ln w="12700">
            <a:solidFill>
              <a:srgbClr val="3B37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0560" y="2980944"/>
            <a:ext cx="3176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문구 앵커 텍스트 권장 비율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0560" y="4398264"/>
            <a:ext cx="3176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'여기', '이 글'처럼 자연스러운 일반 표현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0560" y="5330952"/>
            <a:ext cx="3176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A8AB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앵커 텍스트 비율 가이드, 2026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595274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 5%는 키워드 앵커(예: '병원마케팅', 'SEO 업체')로, 비율이 높을수록 인위적 패턴으로 탐지될 위험이 커진다.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링크 속성 이해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Dofollow vs Nofollow, 둘 다 자연스러워야 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Dofollow 백링크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 주스 전달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일반적인 기본 링크 구조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79440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 주스(권위)가 그대로 전달됨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05592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효과를 직접적으로 기대할 수 있음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Nofollow 백링크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 주스 미전달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권위는 전달되지 않지만 링크 자체는 전달됨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90413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리뷰 사이트·커뮤니티 등에서 자주 발생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198571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자연스러운 링크 프로필에는 둘 다 섞여 있어야 함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특별히 강력한 백링크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Edu·Gov 백링크가 특별히 강력한 이유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graduation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교육·정부 도메인의 신뢰도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.edu·.go.kr 같은 도메인은 발급 자체가 엄격해 구글이 기본적으로 높은 신뢰를 부여한다.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shield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스팸 가능성이 낮다는 신호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4315968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이런 도메인에서의 링크는 상업적 거래로 얻기 어렵기 때문에, 자연스러운 인용으로 평가받기 쉽다.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실무 용어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 주스 (Link Juice)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백링크를 통해 전달되는 권위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페이지의 권위(PageRank)가 링크를 통해 다른 페이지로 전달되는 것을 비유적으로 이르는 말이다.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권위가 높은 페이지에서 받는 링크일수록, 그리고 그 페이지에 외부 링크가 적을수록 전달되는 링크 주스가 크다.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사후 관리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Disavow (링크 부인)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유해 링크 무효화 신청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스팸성이거나 유해한 백링크가 내 사이트로 연결될 때, 구글에게 해당 링크를 평가에서 제외해달라고 요청하는 절차다.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43941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539264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주의사항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일반적으로는 자연 발생한 저품질 링크까지 과도하게 부인 신청할 필요는 없으며, 명백한 스팸 패턴에만 신중하게 사용한다.</a:t>
            </a:r>
            <a:endParaRPr lang="en-US" sz="126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정기 점검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 감사, 4가지를 확인하라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 생긴 백링크의 관련성과 출처를 점검한다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앵커 텍스트 분포가 권장 비율에서 벗어나지 않는지 확인한다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PBN·스팸 패턴으로 보이는 유해 링크를 식별한다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C42348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명백한 스팸 링크는 Disavow 파일로 제출해 관리한다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아웃리치 실전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효과적인 링크 아웃리치 메일의 구조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 — 상대방에게 명확한 가치를 한눈에 전달한다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도입 — 왜 이 메일을 받는지 짧고 구체적으로 설명한다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가치 제안 — 상대방 독자에게 어떤 도움이 되는지 제시한다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명확한 요청 — 무엇을 원하는지 모호하지 않게 전달한다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1 · 게스트 포스팅 품질 기준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사이트에 게스트 포스팅을 해야 하는가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업종과 관련성이 높은 사이트인가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방문자 트래픽이 존재하는 사이트인가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명확한 편집 기준과 검토 절차가 있는가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과거 게스트 콘텐츠의 품질이 일정한가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buil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 실무와 한국 시장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이론을 알았다면, 실제로 어떻게 운영되고 한국 시장에서는 무엇이 다른지 살펴본다.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자주 묻는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링크빌딩, 가장 많이 묻는 질문들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 수가 많으면 무조건 좋은 건가요?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11226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1226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아니다. 양보다 질이 절대적으로 중요하다. 관련성 없는 사이트의 수백 개 링크보다, 권위 있는 사이트 하나에서 편집적 맥락으로 걸린 링크가 훨씬 가치 있다.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PBN 링크는 왜 위험한가요?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366674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6674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PBN(사설 블로그 네트워크)은 링크 조작만을 위해 만들어진 네트워크다. SpamBrain이 유사 IP·동일 템플릿·상호 링크 구조를 정밀 탐지하며, 누적 시 사이트 전체 순위가 하락할 수 있다.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66928" y="480060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SEO와 링크빌딩은 어떤 관계인가요?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566928" y="5221224"/>
            <a:ext cx="420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221224"/>
            <a:ext cx="10332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테크니컬 SEO는 링크빌딩의 기초다. 크롤링·색인·속도가 건강해야 백링크의 링크 주스가 내부에 제대로 전달되고, 기술적으로 건강한 사이트는 자발적 인용도 더 잘 받는다.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한국 시장 특수성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 vs 구글코리아, 이중 구조를 이해하라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네이버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커뮤니티 신호 중심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 가치보다 커뮤니티(블로그·카페) 실사용 흔적을 중시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300289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 언급 자체가 신뢰 신호로 작동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28635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정보성 포스팅이 PR보다 효과적인 경우가 많음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코리아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글로벌 기준 그대로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글로벌 기준과 동일하게 권위 있는 백링크를 평가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93705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언론 PR과 권위 사이트 인용이 핵심 전략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253435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한국에서는 PR + 커뮤니티 포스팅 + 자사 자산의 조합이 가장 효과적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실무 들여다보기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대행사가 실제로 하는 일</a:t>
            </a:r>
            <a:endParaRPr lang="en-US" sz="2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60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테크니컬 SEO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SEO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링크 빌딩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리포팅·분석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크롤링·색인 최적화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키워드 리서치·매핑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백링크 프로필 분석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KPI 대시보드 구축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사이트 속도(CWV)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콘텐츠 기획·제작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고품질 외부 링크 확보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월간·분기별 리포트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모바일 최적화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메타태그 최적화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디지털 PR·아웃리치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경쟁사 벤치마크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구조화 데이터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내부 링크 설계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유해 링크 부인 처리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전략 피드백·제안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대행사 판별법 (1/2)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그린 플래그 — 신뢰할 수 있는 대행사의 특징</a:t>
            </a:r>
            <a:endParaRPr lang="en-US" sz="2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76856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항목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그린 플래그 (신뢰)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전략 접근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장기 전략 수립, 우선순위 설명, 로드맵 제시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보고 체계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월간 리포트, 대시보드 공유, 작업 내역 투명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백링크 정책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화이트햇 기반, 자연적 링크 획득, 앵커 비율 관리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성과 약속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KPI 기반 목표(트래픽·전환), 현실적 타임라인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계정 소유권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고객 명의 GA·GSC 계정, 뷰어 권한만 요청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대행사 판별법 (2/2)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레드 플래그 — 피해야 할 대행사의 특징</a:t>
            </a:r>
            <a:endParaRPr lang="en-US" sz="2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항목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레드 플래그 (위험)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성과 약속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"1~2개월 안에 1위" 같은 단기 결과 약속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보고 체계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리포트가 순위표 한 장, 작업 내역 비공개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백링크 정책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PBN·저품질 링크 대량 구축, 출처 비공개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소통 방식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연락 두절, 질문 회피, 기술 설명 거부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접근권 범위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CMS 어드민·서버 FTP 등 과도한 접근권 요구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5595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"상위노출 보장", "1위 보장" 같은 표현은 구글 정책 위반이며, 이런 약속을 하는 곳은 피해야 한다.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아웃리치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 아웃리치, 보내기 전 3가지를 준비하라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가치 있는 데이터나 콘텐츠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상대방이 링크를 걸 만한 명확한 이유(독자적 데이터·연구·인사이트)를 먼저 준비한다.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idc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정확한 수신자 파악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발행물의 편집 방향과 맞는 담당자를 찾아 보내야 응답률이 올라간다.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팔로우업 타이밍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번의 메일로 끝내지 말고, 1주일 간격으로 정중하게 한 번 더 확인하는 것이 일반적이다.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두 가지 링크의 역할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링크 vs 외부 링크, 둘 다 필요한 이유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링크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안의 권위 분배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내 권위를 필요한 페이지로 분배한다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90413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토픽 클러스터 구조를 실제로 작동시킨다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198571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 직접 통제 가능한 영역이다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링크 (백링크)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사이트 밖의 신뢰 증명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제3자의 신뢰를 외부에서 증명받는다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86024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통제할 수 없어 시간이 걸리는 영역이다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187598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둘 다 갖춰야 권위가 완전히 작동한다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계약 전 체크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대행사와 계약하기 전 확인할 5가지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33042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018629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KPI가 구체적으로 정의되어 있는가 (트래픽·전환 등)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873045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958633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56763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범위가 문서로 명확히 명시되어 있는가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507638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콘텐츠·계정의 소유권이 고객에게 있는가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4753051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4838639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4764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해지 조건과 절차가 명확한가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5693054"/>
            <a:ext cx="329184" cy="329184"/>
          </a:xfrm>
          <a:prstGeom prst="ellipse">
            <a:avLst/>
          </a:prstGeom>
          <a:solidFill>
            <a:srgbClr val="13885B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5778642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538764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리포팅 주기와 형식이 사전에 합의되어 있는가</a:t>
            </a:r>
            <a:endParaRPr lang="en-US" sz="1260" dirty="0"/>
          </a:p>
        </p:txBody>
      </p:sp>
      <p:sp>
        <p:nvSpPr>
          <p:cNvPr id="19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추가 실무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 순서와 비용에 관한 질문들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링크빌딩은 콘텐츠 SEO보다 먼저 해야 하나요?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75234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75234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아니다. 링크는 '링크를 걸 만한 콘텐츠'가 먼저 있어야 의미가 있다. 콘텐츠 SEO로 기반을 다진 뒤 링크빌딩을 병행하는 순서가 안전하다.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402336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 비용은 어떻게 책정되나요?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444398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44398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디지털 PR 캠페인 단위, 월 리테이너 방식 등 업체마다 다르다. 핵심은 '몇 개의 링크'가 아니라 '어떤 품질의 링크'를 기준으로 비용을 논의하는 것이다.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실무 원칙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1개 &gt; 100개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관련성 높은 백링크 1개가 무관한 백링크 100개보다 가치 있다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구글은 백링크의 양보다 질을 본다. 권위 있는 사이트 하나의 자연스러운 인용이, 무관한 사이트 수백 개의 링크보다 훨씬 큰 신뢰 신호를 만든다.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 실무 원칙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디지털 PR 실전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기자가 관심을 가질 만한 것은 무엇인가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독자적 데이터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자체 조사·설문·운영 데이터처럼 다른 곳에는 없는 숫자가 가장 강력한 소재다.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시의성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업계 이슈나 시즌과 맞아떨어지는 타이밍에 제안할수록 채택률이 높다.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lightbul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독창적 관점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알려진 사실의 재탕이 아니라 새로운 해석이나 인사이트를 더해야 한다.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전문가로서의 위치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기자가 추가 인용이 필요할 때 떠올릴 수 있는 신뢰할 만한 전문가로 포지셔닝한다.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fingerpri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SEO: 브랜드를 하나의 개체로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시대에 약해지는 것은 키워드, 강화되는 것은 엔티티다. 브랜드를 명확한 '개체'로 인식시키는 법을 다룬다.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핵심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엔티티(개체) 기반 최적화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검색엔진과 AI가 브랜드·인물·제품을 명확한 '개체(Entity)'로 인식하도록 만드는 최적화 전략이다.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 SEO는 문자열을 최적화하지만, Entity SEO는 그 문자열 뒤에 있는 실제 사물·개체를 최적화한다. AI 시대로 갈수록 그 중요도는 더 강해진다.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7단계 실행법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SEO, 7가지로 실행하는 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98755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1884343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671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schema.org 마크업 — Organization·Person·Product·Article을 JSON-LD로 삽입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470186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555774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299063"/>
            <a:ext cx="10332720" cy="671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위키데이터 엔트리 구축 — 브랜드·창업자·핵심 제품, 단일 최고 레버리지 작업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141617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227205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2970494"/>
            <a:ext cx="10332720" cy="671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엔티티 명시적 정의 — 중요한 개체가 처음 등장할 때 'X란 무엇인가' 섹션 제공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3641925"/>
            <a:ext cx="10332720" cy="671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일관된 표기 — 브랜드명 표기를 하나로 고정해 사이트·바이오·PR·소셜에 동일 적용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4484479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4570067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4313355"/>
            <a:ext cx="10332720" cy="671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 엔티티와 공기 관계 — 경쟁사·보완 도구·업계 개념을 함께 언급해 문맥 형성</a:t>
            </a:r>
            <a:endParaRPr lang="en-US" sz="1260" dirty="0"/>
          </a:p>
        </p:txBody>
      </p:sp>
      <p:sp>
        <p:nvSpPr>
          <p:cNvPr id="19" name="Shape 12"/>
          <p:cNvSpPr/>
          <p:nvPr/>
        </p:nvSpPr>
        <p:spPr>
          <a:xfrm>
            <a:off x="566928" y="5155910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0" name="Image 5" descr="/home/claude/seo_cours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16" y="5241498"/>
            <a:ext cx="158008" cy="1580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24128" y="4984786"/>
            <a:ext cx="10332720" cy="671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저자 바이오의 엔티티 마크업 — 저자 페이지를 LinkedIn·위키피디아 등으로 연결</a:t>
            </a:r>
            <a:endParaRPr lang="en-US" sz="1260" dirty="0"/>
          </a:p>
        </p:txBody>
      </p:sp>
      <p:sp>
        <p:nvSpPr>
          <p:cNvPr id="22" name="Shape 14"/>
          <p:cNvSpPr/>
          <p:nvPr/>
        </p:nvSpPr>
        <p:spPr>
          <a:xfrm>
            <a:off x="566928" y="5827341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3" name="Image 6" descr="/home/claude/seo_course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516" y="5912928"/>
            <a:ext cx="158008" cy="1580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24128" y="5656217"/>
            <a:ext cx="10332720" cy="671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엔티티 기준 내부 링크 — 앵커 텍스트가 달라도 같은 엔티티 페이지로 일관되게 연결</a:t>
            </a:r>
            <a:endParaRPr lang="en-US" sz="1260" dirty="0"/>
          </a:p>
        </p:txBody>
      </p:sp>
      <p:sp>
        <p:nvSpPr>
          <p:cNvPr id="25" name="Text 16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패러다임의 전환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 vs 키워드 SEO</a:t>
            </a:r>
            <a:endParaRPr lang="en-US" sz="2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76856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3891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항목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키워드 SEO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엔티티 SEO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최적화 단위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문자열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사물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구글 매칭 방식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토큰 겹침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개념 + 관계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시대 강도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약화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강화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핵심 자산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키워드 타깃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스키마·위키데이터·저자 권위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실패 모드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키워드로 도배된 페이지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명확한 엔티티 없는 페이지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실전 예시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일관된 표기, 작은 디테일이 큰 차이를 만든다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브랜드를 여러 방식으로 표기하면 검색엔진이 하나의 엔티티로 통합하지 못한다.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흔한 실수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101864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"inblog", "InBlog", "Inblog Inc."를 상황마다 다르게 표기하면 구글이 이를 별개의 개체로 혼동할 수 있다.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29768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올바른 방법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70432" y="4645152"/>
            <a:ext cx="101864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표기를 정하고 사이트·바이오 링크·PR·소셜 미디어 전체에서 동일하게 사용해 엔티티를 명확히 고정한다.</a:t>
            </a:r>
            <a:endParaRPr lang="en-US" sz="123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균형 잡힌 시각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 SEO는 여전히 중요하다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둘은 대립이 아니라 보완 관계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쿼리는 여전히 문자열이다. Entity SEO가 키워드 SEO를 대체하는 것이 아니라, 키워드를 '저변 엔티티의 신호'로 활용하는 것이 승리 전략이다.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439412"/>
            <a:ext cx="384048" cy="384048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0" name="Image 1" descr="/home/claude/seo_course/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" y="4539264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07792"/>
            <a:ext cx="1024128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6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원칙 — </a:t>
            </a:r>
            <a:pPr indent="0" marL="0">
              <a:lnSpc>
                <a:spcPct val="122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 자체를 목표로 삼지 말고, 키워드가 엔티티를 가리키는 신호가 되도록 콘텐츠를 설계한다.</a:t>
            </a:r>
            <a:endParaRPr lang="en-US" sz="126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더 큰 그림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Knowledge Graph와 Entity SEO의 관계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Knowledge Graph란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구글이 세상의 사물·인물·브랜드를 서로 연결된 개체로 정리해둔 거대한 지식 데이터베이스다.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st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등재되었을 때의 효과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결과 우측에 지식 패널이 노출되며, 브랜드가 신뢰할 수 있는 명확한 개체로 인식된다.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wre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SEO와의 관계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schema.org 마크업과 위키데이터 구축이 이 Knowledge Graph에 정확히 등재되기 위한 실무 작업이다.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헷갈리기 쉬운 두 플랫폼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위키데이터 vs 위키피디아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위키데이터 (Wikidata)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구조화된 사실 데이터베이스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기계가 읽기 쉬운 구조화된 데이터 형태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82189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구글이 직접 참조하는 신뢰 소스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13273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SEO에서 단일 최고 레버리지 작업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위키피디아 (Wikipedia)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서술형 백과사전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읽는 서술형 백과사전 콘텐츠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86024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등재 기준이 까다롭고 편집 정책이 엄격함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165653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위키데이터와 함께 신뢰 신호를 보강함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즉시 점검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엔티티 일관성, 지금 바로 점검할 수 있는 것들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341857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회사명·서비스명 표기가 모든 페이지에서 동일한가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6099048" y="333298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636" y="341857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6248" y="30175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도메인·소셜 프로필의 브랜드명이 일관되는가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37869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Organization 스키마가 정확히 적용되어 있는가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6099048" y="4293108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636" y="4378696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39776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페이지의 sameAs 속성이 소셜 프로필과 연결되어 있는가</a:t>
            </a:r>
            <a:endParaRPr lang="en-US" sz="1260" dirty="0"/>
          </a:p>
        </p:txBody>
      </p:sp>
      <p:sp>
        <p:nvSpPr>
          <p:cNvPr id="16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저자 신뢰 강화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Author Bio, 어디까지 채워야 하는가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idc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이름과 직함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실명과 정확한 직함을 명시해 익명성을 줄인다.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aw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자격·경력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 자격증이나 경력을 구체적으로 제시한다.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im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사진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신뢰감을 높이는 데 생각보다 큰 영향을 준다.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li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소셜·외부 링크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LinkedIn·위키피디아 등으로 연결해 실제 인물임을 검증 가능하게 한다.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흔한 실수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 마크업, Entity 관점에서 자주 놓치는 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sameAs 속성 누락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Organization 스키마에 소셜 프로필·위키데이터 URL을 sameAs로 연결하지 않으면, 같은 엔티티라는 것을 검색엔진이 추론하기 어려워진다.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페이지마다 다른 엔티티 정보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4315968"/>
            <a:ext cx="10186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회사 소개 페이지마다 주소·이름이 조금씩 다르면 하나의 엔티티로 통합되지 못한다.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심화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Co-citation과 Co-occurrence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함께 언급되는 것의 힘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브랜드가 직접적인 링크 없이도 권위 있는 브랜드·개념과 같은 문맥에서 자주 함께 언급되는 것을 의미한다.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백링크가 없어도, 신뢰받는 출처들이 내 브랜드를 업계의 권위 있는 개념들과 나란히 언급하는 빈도가 쌓이면 엔티티의 권위를 함께 끌어올릴 수 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적용 우선순위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SEO, 어디서부터 시작할까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1순위 · 홈페이지 Organization 스키마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브랜드 정체성을 가장 먼저 명확히 선언하는 작업이다.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28346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fl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535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79806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2순위 · 표기 통일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145536"/>
            <a:ext cx="10186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회사명·서비스명 표기를 사이트 전체에서 하나로 고정한다.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fl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3순위 · 저자 페이지 정비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10186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Author Bio와 sameAs 연결로 신뢰 신호를 강화한다.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566928" y="517550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fla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9437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513892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4순위 · 위키데이터 엔트리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70432" y="5486400"/>
            <a:ext cx="10186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리소스가 허락한다면 가장 높은 레버리지를 가진 작업을 마지막에 추가한다.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5대 전략과 새로운 KPI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지난 회차들에서 조각조각 다뤘던 GEO 전략을 한자리에 모으고, AI 시대에 맞는 성과 측정법을 정리한다.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다시 보는 핵심 개념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(Generative Engine Optimization)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엔진 최적화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AI가 답변을 만들 때, 브랜드가 인용·추천되도록 최적화하는 전략이다.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전통적인 SEO의 목표가 '상위 노출'이었다면, GEO의 목표는 'AI가 인용'하는 것이다. ChatGPT, Gemini, Perplexity, 구글 AI Overview에서 출처로 사용되는 것이 목표다.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GEO 5대 전략 총정리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지금까지 배운 GEO 전략, 5가지로 다시 정리하기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33042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018629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2763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의미와 맥락 중심 설계 — 키워드 빈도가 아니라 문맥 속 의미로 콘텐츠를 설계한다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2873045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2958633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56763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Q&amp;A 구조로 작성 — 질문 형태로 입력하는 AI 사용자에 맞춰 질의응답 구조로 정리한다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507638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명시와 신뢰도 형성 — 주장에는 반드시 근거를 제시하고 외부 검증을 함께 관리한다</a:t>
            </a:r>
            <a:endParaRPr lang="en-US" sz="1260" dirty="0"/>
          </a:p>
        </p:txBody>
      </p:sp>
      <p:sp>
        <p:nvSpPr>
          <p:cNvPr id="13" name="Shape 8"/>
          <p:cNvSpPr/>
          <p:nvPr/>
        </p:nvSpPr>
        <p:spPr>
          <a:xfrm>
            <a:off x="566928" y="4753051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4" name="Image 3" descr="/home/claude/seo_cours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16" y="4838639"/>
            <a:ext cx="158008" cy="1580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4447642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주제의 일관성과 전문성 유지 — 무관한 주제를 섞지 않고 깊이 있는 허브를 구축한다</a:t>
            </a:r>
            <a:endParaRPr lang="en-US" sz="1260" dirty="0"/>
          </a:p>
        </p:txBody>
      </p:sp>
      <p:sp>
        <p:nvSpPr>
          <p:cNvPr id="16" name="Shape 10"/>
          <p:cNvSpPr/>
          <p:nvPr/>
        </p:nvSpPr>
        <p:spPr>
          <a:xfrm>
            <a:off x="566928" y="5693054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7" name="Image 4" descr="/home/claude/seo_cours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16" y="5778642"/>
            <a:ext cx="158008" cy="1580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5387645"/>
            <a:ext cx="10332720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구조화 — 표·번호 리스트·단계별 설명으로 AI가 이해하기 쉽게 정리한다</a:t>
            </a:r>
            <a:endParaRPr lang="en-US" sz="1260" dirty="0"/>
          </a:p>
        </p:txBody>
      </p:sp>
      <p:sp>
        <p:nvSpPr>
          <p:cNvPr id="19" name="Text 1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측정 방식의 전환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시대, 무엇을 측정해야 하는가</a:t>
            </a:r>
            <a:endParaRPr lang="en-US" sz="25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843784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34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차원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전통적인 SEO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생성형 엔진 최적화(GEO)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목표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트래픽 유도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답변 내 인용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지표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순위, 클릭 수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인용률, 점유율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초점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페이지 단위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구절 단위, 개체 권위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새로운 KPI 3가지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인용률·점유율·유입전환율, 정확히 알아두자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인용률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구매 의도 질문들에 대해 내 브랜드가 AI 답변에 언급되는 비율이다.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점유율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카테고리 질문에 대해 경쟁사 대비 내 브랜드가 얼마나 자주 추천되는지 비교하는 지표다.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유입 전환율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통해 유입된 방문자가 실제 구매나 가입으로 이어지는 비율이다. AI 유입 사용자는 이미 상세한 니즈를 설명한 뒤 추천받은 상태라 구매 의도가 높다.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42F8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균형 잡힌 결론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7D9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구글 검색에서 AI Overview가 노출되는 비율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EB1D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 75%의 검색에서는 여전히 기존 SEO 방식이 유지되고 있다. SEO를 버리고 GEO로 전면 전환하라는 뜻이 아니라, 기존 SEO 기반 위에 GEO 관점을 더하는 것이 가장 현실적인 접근이다.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88B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실무 가이드, 2026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측정 실전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성과, 실제로 어떻게 확인하는가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질문 테스트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ChatGPT·Claude·Perplexity에 관련 질문을 던져 내 브랜드가 언급되는지 직접 확인한다.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566928" y="3224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43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188208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AI Overview 확인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535680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타겟 키워드로 검색해 AI Overview에 내 콘텐츠가 출처로 잡히는지 점검한다.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7853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042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748784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 데이터 분석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5096256"/>
            <a:ext cx="10186416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플랫폼발 트래픽의 전환율을 일반 트래픽과 비교해 추적한다.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새로운 현상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Zero-click (제로 클릭) 검색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클릭 없이 끝나는 검색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검색 결과 화면에서 정보를 곧바로 요약해 보여줘, 사용자가 어떤 링크도 클릭하지 않고 검색을 끝내는 현상이다.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트래픽 자체가 줄어드는 것처럼 보이지만, 실제로는 '클릭'이라는 지표 자체가 점점 의미를 잃어가고 있다는 신호로 봐야 한다.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인용의 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순위 1위보다 중요해진 것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제로클릭 시대에는 '클릭되는 것'보다 '인용되는 것'이 마케팅 성과의 새로운 기준이 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/home/claude/seo_course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1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28600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인용은 신뢰의 다른 이름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70432" y="2633472"/>
            <a:ext cx="101864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내 콘텐츠를 출처로 선택하는 순간, 사용자는 클릭 없이도 이미 내 브랜드의 답을 신뢰하게 된다.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566928" y="43342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/home/claude/seo_course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5312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297680"/>
            <a:ext cx="10186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측정의 패러다임 전환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70432" y="4645152"/>
            <a:ext cx="101864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클릭률이 아닌 인용률·점유율로 캠페인의 성공을 판단하는 체계로 옮겨가야 한다.</a:t>
            </a:r>
            <a:endParaRPr lang="en-US" sz="1230" dirty="0"/>
          </a:p>
        </p:txBody>
      </p:sp>
      <p:sp>
        <p:nvSpPr>
          <p:cNvPr id="13" name="Text 9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업종별 적용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 vs B2C, GEO를 적용하는 방식이 다르다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EEF0FC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B2B 기업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9536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전문성 중심 GEO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독창적 프레임워크로 업계 전문가 포지셔닝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59536" y="289316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장기적 브랜드 빌딩에 GEO 투자가 집중됨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59536" y="3209544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의사결정자의 심층 리서치 단계를 공략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285232" cy="4700016"/>
          </a:xfrm>
          <a:prstGeom prst="roundRect">
            <a:avLst>
              <a:gd name="adj" fmla="val 1751"/>
            </a:avLst>
          </a:prstGeom>
          <a:solidFill>
            <a:srgbClr val="FFE9DC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65376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B2C 기업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병행 GEO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2587752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정보 제공이 필요해 AEO와 함께 운영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6556248" y="2915107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거래형 질문에 대한 즉답이 우선순위가 높음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56248" y="3231490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구매 직전 단계의 추천·비교 질문을 공략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다음 흐름 미리보기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713232" cy="713232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4" name="Image 0" descr="/home/claude/seo_cours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8" y="93524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에이전틱 검색 (Agentic Search)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81328" y="1207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직접 행동하는 검색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171907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1907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사용자를 대신해 AI 에이전트가 직접 정보를 찾고, 비교하고, 때로는 행동(예약·구매)까지 수행하는 검색 형태다.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90779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2회차에서 다룬 llms.txt가 단순한 옵션을 넘어, 에이전틱 웹 인프라의 일부로 재평가받는 흐름과 맞닿아 있다.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미리 준비하기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에이전틱 검색 시대, 지금 준비할 수 있는 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85292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5" name="Image 0" descr="/home/claude/seo_cours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6" y="2938516"/>
            <a:ext cx="158008" cy="158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5374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데이터를 빠짐없이 정확하게 유지한다</a:t>
            </a:r>
            <a:endParaRPr lang="en-US" sz="1260" dirty="0"/>
          </a:p>
        </p:txBody>
      </p:sp>
      <p:sp>
        <p:nvSpPr>
          <p:cNvPr id="7" name="Shape 4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8" name="Image 1" descr="/home/claude/seo_cours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898636"/>
            <a:ext cx="158008" cy="1580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34975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엔티티 정보를 일관되고 명확하게 관리한다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66928" y="4773168"/>
            <a:ext cx="329184" cy="329184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11" name="Image 2" descr="/home/claude/seo_cours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16" y="4858756"/>
            <a:ext cx="158008" cy="1580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44577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API·데이터 피드 등 기계가 읽기 쉬운 형태를 함께 고려한다</a:t>
            </a:r>
            <a:endParaRPr lang="en-US" sz="1260" dirty="0"/>
          </a:p>
        </p:txBody>
      </p:sp>
      <p:sp>
        <p:nvSpPr>
          <p:cNvPr id="13" name="Text 8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4 · 리스크 관리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검색에서 부정적으로 언급되지 않으려면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/home/claude/seo_course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정기적인 브랜드 모니터링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ChatGPT·Perplexity에 브랜드명을 직접 검색해 어떤 맥락으로 언급되는지 확인한다.</a:t>
            </a:r>
            <a:endParaRPr lang="en-US" sz="1230" dirty="0"/>
          </a:p>
        </p:txBody>
      </p:sp>
      <p:sp>
        <p:nvSpPr>
          <p:cNvPr id="8" name="Shape 5"/>
          <p:cNvSpPr/>
          <p:nvPr/>
        </p:nvSpPr>
        <p:spPr>
          <a:xfrm>
            <a:off x="6099048" y="1664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/home/claude/seo_course/icons/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6276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부정적 리뷰에 대한 대응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702552" y="1975104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리뷰 플랫폼의 부정적 평가도 학습하므로, 리뷰 응대 자체가 GEO 활동이 된다.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56692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/home/claude/seo_course/icons/shield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2394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오래된 정보 갱신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해결된 문제가 오래된 콘텐츠에 남아 AI가 과거 정보를 인용하지 않도록 주기적으로 갱신한다.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6099048" y="40050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/home/claude/seo_course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2394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9684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채널의 신뢰 신호 강화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702552" y="4315968"/>
            <a:ext cx="4654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발표·뉴스룸 콘텐츠를 꾸준히 발행해 AI가 참조할 신뢰할 만한 1차 출처를 제공한다.</a:t>
            </a:r>
            <a:endParaRPr lang="en-US" sz="1230" dirty="0"/>
          </a:p>
        </p:txBody>
      </p:sp>
      <p:sp>
        <p:nvSpPr>
          <p:cNvPr id="20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852160" cy="5852160"/>
          </a:xfrm>
          <a:prstGeom prst="ellipse">
            <a:avLst/>
          </a:prstGeom>
          <a:solidFill>
            <a:srgbClr val="342F8C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34440"/>
            <a:ext cx="960120" cy="960120"/>
          </a:xfrm>
          <a:prstGeom prst="ellipse">
            <a:avLst/>
          </a:prstGeom>
          <a:solidFill>
            <a:srgbClr val="FF7A45"/>
          </a:solidFill>
          <a:ln/>
        </p:spPr>
      </p:sp>
      <p:pic>
        <p:nvPicPr>
          <p:cNvPr id="4" name="Image 0" descr="/home/claude/seo_course/icons/aw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14840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정리: 신뢰는 어떻게 자산이 되는가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백링크부터 엔티티까지, 오늘 쌓은 신뢰 자산을 정리하고 마지막 회차로 향하는 다리를 놓는다.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5주 과정 연결하기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5대 전략, 어디서 무엇을 더 배웠나</a:t>
            </a:r>
            <a:endParaRPr lang="en-US" sz="25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76856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GEO 전략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관련 회차</a:t>
                      </a:r>
                      <a:endParaRPr lang="en-US" sz="12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의미와 맥락 중심 설계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1회차 — AI의 임베딩 기반 평가 원리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Q&amp;A 구조로 작성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3회차 — AEO 역피라미드·FAQ 작성법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출처 명시와 신뢰도 형성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3회차 — E-E-A-T 기반 작성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주제의 일관성과 전문성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1·4회차 — Topical Authority·Entity SEO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b="1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데이터 구조화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80" dirty="0">
                          <a:solidFill>
                            <a:srgbClr val="33364D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2·3회차 — 구조화 데이터·표·리스트 활용</a:t>
                      </a:r>
                      <a:endParaRPr lang="en-US" sz="11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5 · 마무리 질문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다룬 내용, 마지막 두 가지 질문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링크빌딩과 Entity SEO, 어느 쪽을 먼저 시작해야 하나요?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566928" y="275234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75234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리소스가 제한적이라면 Entity SEO(특히 일관된 표기와 schema 마크업)가 더 빠르고 저비용으로 시작할 수 있다. 링크빌딩은 콘텐츠 자산이 쌓인 뒤 병행하는 것이 자연스럽다.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66928" y="4023360"/>
            <a:ext cx="420624" cy="384048"/>
          </a:xfrm>
          <a:prstGeom prst="rect">
            <a:avLst/>
          </a:prstGeom>
          <a:solidFill>
            <a:srgbClr val="FF7A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KPI는 어떤 도구로 추적하나요?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66928" y="4443984"/>
            <a:ext cx="4206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443984"/>
            <a:ext cx="10332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아직 인용률·점유율을 자동으로 추적하는 표준 도구는 초기 단계다. 현재는 주요 질문 리스트를 만들어 AI 플랫폼에 주기적으로 직접 질문해보는 수동 방식이 가장 현실적이다.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핵심 4가지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92024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백링크는 신뢰 투표다. 화이트햇 5대 전략으로 자연스럽게 쌓아야 장기적으로 안전하다.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300609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300609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앵커 텍스트는 브랜드 50%·URL 25%·일반 20%·키워드 5% 비율을 지켜야 인위적 패턴을 피한다.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409194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409194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SEO는 브랜드를 '문자열'이 아닌 '개체'로 만드는 작업이며, AI 시대에 중요도가 강화되고 있다.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5177790"/>
            <a:ext cx="7315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5177790"/>
            <a:ext cx="950976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3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시대의 성과는 순위·클릭이 아니라 인용률·점유율로 측정해야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0844784" cy="960120"/>
          </a:xfrm>
          <a:prstGeom prst="roundRect">
            <a:avLst>
              <a:gd name="adj" fmla="val 8571"/>
            </a:avLst>
          </a:prstGeom>
          <a:solidFill>
            <a:srgbClr val="EEF0F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9436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2F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기초·콘텐츠·신뢰까지 쌓았다면, 이제 모든 것을 하나로 통합할 시간이다.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SESSION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2249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전략과 2026~2028 전망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80238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8" name="Image 0" descr="/home/claude/seo_course/icons/arrowr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3897478"/>
            <a:ext cx="175565" cy="1755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52044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AEO·GEO·통합 전략, 상황별로 무엇을 선택할지 결정하는 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473202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1" name="Image 1" descr="/home/claude/seo_course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6" y="4827118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45008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next-t.co.kr·seo.co.kr 심층 사례와 실제 서비스 구조 들여다보기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5661660"/>
            <a:ext cx="365760" cy="36576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4" name="Image 2" descr="/home/claude/seo_course/icons/arrowrigh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5756758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5379720"/>
            <a:ext cx="102412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2025~2026 최신 소비자 연구와 2026~2028 시장 전망으로 5주 과정 마무리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&amp; GEO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E1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자료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화이트햇 링크빌딩 실무 가이드. 디지털 PR·토픽 권위 허브 전략, 2026.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SpamBrain 공식 문서. 링크 스팸 탐지 정책.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앵커 텍스트 비율 가이드, 2026년 실무 기준.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154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SEO 실행 가이드. schema.org 및 위키데이터 활용법, 2026.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 실무 가이드. 생성형 엔진 최적화 KPI 및 5대 전략, 2026.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4069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6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 대행사 선택 가이드. 그린 플래그·레드 플래그 판별 기준, 2026.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6B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 4 · 링크빌딩 SEO &amp; GEO 실전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6547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 · 링크빌딩 SEO &amp; GEO 실전</dc:title>
  <dc:subject>PptxGenJS Presentation</dc:subject>
  <dc:creator>SEO·AEO·GEO 5주 과정</dc:creator>
  <cp:lastModifiedBy>SEO·AEO·GEO 5주 과정</cp:lastModifiedBy>
  <cp:revision>1</cp:revision>
  <dcterms:created xsi:type="dcterms:W3CDTF">2026-06-18T12:43:00Z</dcterms:created>
  <dcterms:modified xsi:type="dcterms:W3CDTF">2026-06-18T12:43:00Z</dcterms:modified>
</cp:coreProperties>
</file>