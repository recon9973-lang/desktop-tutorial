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권장 비율 %</c:v>
                </c:pt>
              </c:strCache>
            </c:strRef>
          </c:tx>
          <c:dPt>
            <c:idx val="0"/>
            <c:spPr>
              <a:solidFill>
                <a:srgbClr val="F37021"/>
              </a:solidFill>
              <a:ln>
                <a:noFill/>
              </a:ln>
            </c:spPr>
          </c:dPt>
          <c:dPt>
            <c:idx val="1"/>
            <c:spPr>
              <a:solidFill>
                <a:srgbClr val="4A4A4A"/>
              </a:solidFill>
              <a:ln>
                <a:noFill/>
              </a:ln>
            </c:spPr>
          </c:dPt>
          <c:dPt>
            <c:idx val="2"/>
            <c:spPr>
              <a:solidFill>
                <a:srgbClr val="767676"/>
              </a:solidFill>
              <a:ln>
                <a:noFill/>
              </a:ln>
            </c:spPr>
          </c:dPt>
          <c:dPt>
            <c:idx val="3"/>
            <c:spPr>
              <a:solidFill>
                <a:srgbClr val="C7C7C7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브랜드명</c:v>
                </c:pt>
                <c:pt idx="1">
                  <c:v>URL</c:v>
                </c:pt>
                <c:pt idx="2">
                  <c:v>일반·자연어</c:v>
                </c:pt>
                <c:pt idx="3">
                  <c:v>정확 일치 키워드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25</c:v>
                </c:pt>
                <c:pt idx="2">
                  <c:v>20</c:v>
                </c:pt>
                <c:pt idx="3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14141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6DFD8"/>
            </a:solidFill>
          </a:ln>
        </c:spPr>
        <c:txPr>
          <a:bodyPr/>
          <a:lstStyle/>
          <a:p>
            <a:pPr>
              <a:defRPr sz="1000">
                <a:solidFill>
                  <a:srgbClr val="14141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맑은 고딕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5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SESSION 5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20840" y="274320"/>
            <a:ext cx="4937760" cy="2926080"/>
          </a:xfrm>
          <a:prstGeom prst="roundRect">
            <a:avLst>
              <a:gd name="adj" fmla="val 5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sz="20000" b="1" i="0">
                <a:solidFill>
                  <a:srgbClr val="181715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9601200" cy="18288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1" i="0" spc="20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LINK BUILDING &amp; GEO</a:t>
            </a:r>
          </a:p>
          <a:p>
            <a:pPr algn="l">
              <a:lnSpc>
                <a:spcPct val="106000"/>
              </a:lnSpc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링크빌딩 SEO &amp; GEO 실전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611880"/>
            <a:ext cx="182880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96926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콘텐츠를 만들었다면, 이제 그 콘텐츠가 외부에서도 신뢰받게 만들 시간. 백링크·엔티티, 그리고 GEO 성과 측정까지.</a:t>
            </a:r>
          </a:p>
        </p:txBody>
      </p:sp>
      <p:sp>
        <p:nvSpPr>
          <p:cNvPr id="8" name="Oval 7"/>
          <p:cNvSpPr/>
          <p:nvPr/>
        </p:nvSpPr>
        <p:spPr>
          <a:xfrm>
            <a:off x="886968" y="4901183"/>
            <a:ext cx="109728" cy="109728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846320"/>
            <a:ext cx="969264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화이트햇 링크빌딩 5대 전략과 위험한 백링크 판별</a:t>
            </a:r>
          </a:p>
        </p:txBody>
      </p:sp>
      <p:sp>
        <p:nvSpPr>
          <p:cNvPr id="10" name="Oval 9"/>
          <p:cNvSpPr/>
          <p:nvPr/>
        </p:nvSpPr>
        <p:spPr>
          <a:xfrm>
            <a:off x="886968" y="5303520"/>
            <a:ext cx="109728" cy="109728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248656"/>
            <a:ext cx="969264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Entity SEO 7단계 — 브랜드를 하나의 '개체'로</a:t>
            </a:r>
          </a:p>
        </p:txBody>
      </p:sp>
      <p:sp>
        <p:nvSpPr>
          <p:cNvPr id="12" name="Oval 11"/>
          <p:cNvSpPr/>
          <p:nvPr/>
        </p:nvSpPr>
        <p:spPr>
          <a:xfrm>
            <a:off x="886968" y="5705856"/>
            <a:ext cx="109728" cy="109728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650992"/>
            <a:ext cx="969264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GEO 5대 전략과 인용률·점유율 등 새로운 KPI</a:t>
            </a:r>
          </a:p>
        </p:txBody>
      </p:sp>
      <p:sp>
        <p:nvSpPr>
          <p:cNvPr id="14" name="Oval 13"/>
          <p:cNvSpPr/>
          <p:nvPr/>
        </p:nvSpPr>
        <p:spPr>
          <a:xfrm>
            <a:off x="886968" y="6108192"/>
            <a:ext cx="109728" cy="109728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6053328"/>
            <a:ext cx="969264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좋은 대행사 판별법과 제로클릭·에이전틱 검색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437376"/>
            <a:ext cx="8229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AI 검색 시대 마케팅 — SEO·AEO·GEO 6강 완성 과정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SESSION 5 · 오늘 다루는 5가지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링크빌딩 &amp; GEO, 이렇게 짚는다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2267712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링크빌딩 기본 원리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백링크는 왜 '신뢰 투표'인가, 화이트햇 5대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56432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3438144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실무와 한국 시장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네이버·구글 이중 구조, 대행사가 실제로 하는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26864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4608576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Entity SEO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브랜드를 키워드가 아닌 '개체'로 인식시키는 7단계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86000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2267712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GEO 5대 전략과 KPI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인용률·점유율 등 GEO 시대의 새로운 성과 지표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456432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3438144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좋은 대행사 판별법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그린·레드 플래그로 보는 대행사 선택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02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링크빌딩 SEO의 기본 원리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백링크는 다른 사이트가 던지는 '신뢰 투표'다. 정당한 방법으로 그 표를 모으는 법을 다룬다.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03 / 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핵심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링크빌딩 — 다른 사이트가 던지는 신뢰 투표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백링크는 '다른 홈페이지에서 내 홈페이지로 연결되는 하이퍼링크'다. 구글의 전신 'Backrub'과 PageRank의 출발점이며, 링크는 곧 '이 페이지는 참고할 가치가 있다'는 투표로 작동한다.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신뢰 투표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권위 있는 사이트의 링크일수록 강한 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관련성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주제가 맞닿은 사이트의 링크가 유효하다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36992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36992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자연스러움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편집적 맥락에서 자발적으로 걸린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04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화이트햇 5대 전략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정당하게 링크를 얻는 첫 3가지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31720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디지털 PR 링크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언론·미디어에 뉴스 가치 있는 데이터를 제공해 기사 내 자연 백링크 — 가장 강력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83280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토픽 권위 허브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깊이 있는 콘텐츠 클러스터로 레퍼런스가 되면 업계가 자발적으로 링크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48056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434840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전문가 인용 (HARO)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기자 질의에 전문가로 응답해 기사 인용·백링크 — E-E-A-T 강화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05 / 38</a:t>
            </a:r>
          </a:p>
        </p:txBody>
      </p:sp>
      <p:sp>
        <p:nvSpPr>
          <p:cNvPr id="13" name="AccentRect13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화이트햇 5대 전략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나머지 2가지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04 고품질 게스트 포스팅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EDITORIAL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관련 업종 권위 사이트에 실질 가치 기고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편집적 맥락에서 자연스러운 링크 획득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전통적이면서도 유효한 전략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저품질 대량 기고는 오히려 위험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05 테크니컬 기반 자산 구축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MOST SUSTAINABLE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속도·구조·색인·스키마가 완벽한 사이트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자연 상위 노출되면 자발적으로 인용된다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가장 지속 가능한 장기 전략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'링크를 쌓는' 게 아니라 '링크받을 자산'을 만든다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06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백링크 방법의 위험도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존재하는 방법 ≠ 써도 되는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93392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현장에는 다양한 백링크 확보 방법이 있지만, 위험도는 극명히 갈린다. 페널티 위험이 있는 방법은 피해야 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14600"/>
            <a:ext cx="5148072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51460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825496"/>
            <a:ext cx="4489704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안전 · 화이트햇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권장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오가닉(자연 발생) 백링크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디지털 PR·전문가 인용(HARO)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고품질 게스트 포스팅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테크니컬 자산 구축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514600"/>
            <a:ext cx="5148072" cy="3108960"/>
          </a:xfrm>
          <a:prstGeom prst="roundRect">
            <a:avLst>
              <a:gd name="adj" fmla="val 4705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2825496"/>
            <a:ext cx="4489704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위험 · 페널티 대상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지양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PBN(사설 블로그 네트워크) 남용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저품질 대량 링크 구매(블랙햇)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무관한 스팸 사이트 링크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구글 정책 위반 — SpamBrain에 적발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07 / 38</a:t>
            </a:r>
          </a:p>
        </p:txBody>
      </p:sp>
      <p:sp>
        <p:nvSpPr>
          <p:cNvPr id="13" name="AccentRect13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AI 기반 스팸 탐지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SpamBrain — 구글의 AI가 스팸 링크를 걸러낸다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SpamBrain은 구글의 AI 기반 스팸 방지 시스템이다. 2022년 12월 링크 스팸 업데이트 이후 스팸성 링크를 탐지해 '무효화(neutralize)'한다 — 저품질 링크는 효과가 없을 뿐 아니라 신뢰를 깎는다.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383280"/>
            <a:ext cx="5148072" cy="2377440"/>
          </a:xfrm>
          <a:prstGeom prst="roundRect">
            <a:avLst>
              <a:gd name="adj" fmla="val 6153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38328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3694176"/>
            <a:ext cx="4489704" cy="1828800"/>
          </a:xfrm>
          <a:prstGeom prst="roundRect">
            <a:avLst>
              <a:gd name="adj" fmla="val 8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구글이 신뢰하는 링크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TRUSTED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관련성 높은 주제·권위 도메인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편집적 맥락의 자연스러운 링크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다양한 출처에서 유기적으로 발생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3383280"/>
            <a:ext cx="5148072" cy="2377440"/>
          </a:xfrm>
          <a:prstGeom prst="roundRect">
            <a:avLst>
              <a:gd name="adj" fmla="val 6153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3694176"/>
            <a:ext cx="4489704" cy="1828800"/>
          </a:xfrm>
          <a:prstGeom prst="roundRect">
            <a:avLst>
              <a:gd name="adj" fmla="val 8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페널티 대상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NEUTRALIZED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돈으로 산 링크·링크 교환 남용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무관한 대량 링크·PBN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조작 의도가 뚜렷한 앵커 패턴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08 / 38</a:t>
            </a:r>
          </a:p>
        </p:txBody>
      </p:sp>
      <p:sp>
        <p:nvSpPr>
          <p:cNvPr id="13" name="AccentRect13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앵커 텍스트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비율까지 관리해야 자연스럽다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93392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앵커 텍스트(링크에 걸리는 글자)의 분포가 부자연스러우면 조작 신호가 된다. 권장 비율 예시.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2468880"/>
          <a:ext cx="658368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2651760"/>
            <a:ext cx="3931920" cy="3291840"/>
          </a:xfrm>
          <a:prstGeom prst="roundRect">
            <a:avLst>
              <a:gd name="adj" fmla="val 444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브랜드명 50%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'베놈애드'처럼 브랜드명 그대로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URL 25%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도메인을 그대로 노출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정확 일치 5%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키워드 정확 일치는 최소로 — 과하면 조작 신호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앵커 텍스트 비율 가이드(예시) — 절대 기준이 아니라 '자연스러움'의 지향점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09 / 38</a:t>
            </a:r>
          </a:p>
        </p:txBody>
      </p:sp>
      <p:sp>
        <p:nvSpPr>
          <p:cNvPr id="11" name="AccentRect11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링크 속성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Dofollow vs Nofollow, 둘 다 자연스러워야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Dofollow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권위 전달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링크 권위(링크 주스)를 전달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순위에 직접 기여하는 링크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기본값(별도 표기 없으면 dofollow)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질 높은 dofollow가 핵심 자산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Nofollow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권위 미전달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rel='nofollow'로 권위 전달 안 함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댓글·광고·후원 링크에 사용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그래도 트래픽·인지도엔 기여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자연스러운 링크 프로필엔 둘 다 섞여야 정상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10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백링크의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링크는 왜 순위가 되는가 — PageRank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구글의 출발점은 스탠포드의 'Backrub' 프로젝트와 PageRank 알고리즘이다. '많은 좋은 페이지가 링크하는 페이지는 중요하다'는 아이디어를 수학적으로 정식화한 것 — 링크가 곧 순위 신호가 된 이유다.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링크 = 투표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한 페이지로 향하는 링크를 '지지'로 계산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가중 투표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권위 있는 페이지의 링크일수록 큰 가중치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36992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36992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원조 특허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PageRank 특허(US6285999B1, 발명자 L. Page, 스탠포드)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11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사후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Disavow(링크 부인) — 함부로 쓰지 마라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Disavow는 특정 백링크를 '무시해달라'고 구글에 요청하는 도구다. 그러나 구글은 대부분의 사이트가 이 도구를 쓸 필요가 없다고 안내한다 — SpamBrain이 이미 스팸 링크를 자동으로 무효화하기 때문이다.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언제 쓰나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수동 조치(penalty)를 받았거나 명백한 부정 SEO 공격 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함부로 쓰면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정상 링크까지 부인해 오히려 손해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36992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36992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기본 원칙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대부분은 손대지 않는 것이 정답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12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링크빌딩 실무와 한국 시장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이론을 실무로 옮긴다. 네이버·구글 이중 구조와 대행사를 판별하는 법을 다룬다.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13 / 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한국 시장 특수성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네이버 vs 구글코리아, 이중 구조를 이해하라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네이버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플랫폼 내부 신호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외부 백링크 효과가 제한적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C-Rank·D.I.A로 출처 신뢰·문서 품질 평가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블로그·카페 생태계 내 반응 중시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체류·공감·댓글 등 플랫폼 신호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구글코리아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외부 권위 신호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백링크·도메인 권위를 직접 반영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edu/gov라서가 아니라 '페이지 권위'가 핵심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구조화 데이터·E-E-A-T 중시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글로벌 표준 알고리즘 적용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14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실무 들여다보기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SEO 대행사가 실제로 하는 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기술 진단·개선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크롤·색인·속도·구조화 등 테크니컬 정비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콘텐츠 기획·제작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검색 의도 기반 콘텐츠와 토픽 클러스터 설계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링크·디지털 PR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화이트햇 방식의 백링크·미디어 노출 확보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측정·리포트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순위·유입·전환과 AI 인용 현황 추적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15 / 38</a:t>
            </a:r>
          </a:p>
        </p:txBody>
      </p:sp>
      <p:sp>
        <p:nvSpPr>
          <p:cNvPr id="15" name="AccentRect1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대행사 판별법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그린 플래그 vs 레드 플래그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GREEN FLAG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신뢰할 수 있는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데이터·근거로 설명한다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현실적인 기간을 제시한다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화이트햇 방법만 사용한다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투명한 리포트를 공유한다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AI 인용·점유율을 측정한다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RED FLAG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피해야 할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'1위 보장'을 약속한다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방법을 공개하지 않는다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대량 백링크를 판다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성과 근거가 모호하다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지나치게 빠른 결과를 장담한다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16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계약 전 체크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대행사와 계약하기 전 확인할 5가지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3172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286000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작업 범위 명시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무엇을 어디까지 하는지 계약서에 구체적으로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081527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035808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방법론 공개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링크 확보 방식이 화이트햇인지 확인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831335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785615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리포트 주기·항목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무엇을 어떤 주기로 보고하는지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581144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535424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성과 지표 합의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순위뿐 아니라 유입·전환·AI 인용까지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330952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5285232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계약 해지 조건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교체·해지 시 자산 이관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17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실무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1개 &gt; 100개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4937760" cy="3383280"/>
          </a:xfrm>
          <a:prstGeom prst="roundRect">
            <a:avLst>
              <a:gd name="adj" fmla="val 4324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4389120" cy="2651760"/>
          </a:xfrm>
          <a:prstGeom prst="roundRect">
            <a:avLst>
              <a:gd name="adj" fmla="val 5517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56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 &gt; 100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관련성 높은 권위 사이트의 백링크 1개가 저품질 링크 100개를 압도한다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2651760"/>
            <a:ext cx="5669280" cy="3108960"/>
          </a:xfrm>
          <a:prstGeom prst="roundRect">
            <a:avLst>
              <a:gd name="adj" fmla="val 4705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'양은 질을 이긴다'는 옛말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과거엔 링크 개수가 중요했지만, SpamBrain 이후 저품질 대량 링크는 무효화되거나 위험 요인이 된다.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이제는 '누가 링크했는가'가 '몇 개가 링크했는가'보다 훨씬 중요하다.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18 / 38</a:t>
            </a:r>
          </a:p>
        </p:txBody>
      </p:sp>
      <p:sp>
        <p:nvSpPr>
          <p:cNvPr id="10" name="AccentRect10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디지털 PR 실전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기자가 관심을 가질 만한 것은 무엇인가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2425446" cy="310896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88336"/>
            <a:ext cx="1922526" cy="256032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독자적 데이터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자체 조사·설문·운영 수치 등 '뉴스가 되는 숫자'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6422" y="2377440"/>
            <a:ext cx="2425446" cy="310896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76422" y="23774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0741" y="2688336"/>
            <a:ext cx="1922526" cy="256032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트렌드 해석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업계 변화에 대한 전문가의 관점·예측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12764" y="2377440"/>
            <a:ext cx="2425446" cy="310896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12764" y="23774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7084" y="2688336"/>
            <a:ext cx="1922526" cy="256032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사례·스토리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구체적 성공·실패 사례와 교훈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49106" y="2377440"/>
            <a:ext cx="2425446" cy="310896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9106" y="23774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3426" y="2688336"/>
            <a:ext cx="1922526" cy="256032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시의성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지금 이슈가 되는 주제와의 연결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19 / 38</a:t>
            </a:r>
          </a:p>
        </p:txBody>
      </p:sp>
      <p:sp>
        <p:nvSpPr>
          <p:cNvPr id="19" name="AccentRect19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Entity SEO — 브랜드를 하나의 개체로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키워드가 아니라 '개체(Entity)'로 인식되게 만든다. 지식 그래프에 브랜드를 새기는 7단계.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20 / 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핵심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Entity SEO — 브랜드를 '개체'로 인식시키기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Entity SEO는 브랜드·인물·제품을 검색엔진이 '하나의 명확한 개체(Entity)'로 인식하게 만드는 전략이다. 키워드 매칭을 넘어, 구글 지식 그래프(Knowledge Graph) 안에 브랜드를 하나의 노드로 새기는 것이 목표다.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일관성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브랜드 표기를 하나로 고정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연결성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관련 엔티티(창업자·제품·업계 개념)와 연결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36992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36992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검증 가능성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위키데이터·스키마로 기계가 확인 가능하게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21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7단계 실행법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Entity SEO, 7가지로 실행하는 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286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240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schema.org 마크업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Organization·Person·Product를 JSON-LD로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182112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136392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위키데이터 엔트리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브랜드·창업자·제품 — 단일 최고 레버리지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078224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032504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엔티티 명시적 정의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'X란 무엇인가' 섹션을 처음 등장 시 제공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974336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28616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일관된 표기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사이트·바이오·PR·소셜에 동일 표기</a:t>
            </a:r>
          </a:p>
        </p:txBody>
      </p:sp>
      <p:sp>
        <p:nvSpPr>
          <p:cNvPr id="13" name="Oval 12"/>
          <p:cNvSpPr/>
          <p:nvPr/>
        </p:nvSpPr>
        <p:spPr>
          <a:xfrm>
            <a:off x="6126480" y="2286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2240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공기(共起) 관계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경쟁사·보완 도구·업계 개념을 함께 언급</a:t>
            </a:r>
          </a:p>
        </p:txBody>
      </p:sp>
      <p:sp>
        <p:nvSpPr>
          <p:cNvPr id="15" name="Oval 14"/>
          <p:cNvSpPr/>
          <p:nvPr/>
        </p:nvSpPr>
        <p:spPr>
          <a:xfrm>
            <a:off x="6126480" y="3182112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3136392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저자 바이오 마크업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저자 페이지를 LinkedIn·위키피디아로 연결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4078224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032504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엔티티 기준 내부 링크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앵커가 달라도 같은 엔티티 페이지로 연결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22 / 38</a:t>
            </a:r>
          </a:p>
        </p:txBody>
      </p:sp>
      <p:sp>
        <p:nvSpPr>
          <p:cNvPr id="21" name="AccentRect21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패러다임의 전환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Entity SEO vs 키워드 SEO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키워드 SEO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STRING MATCHING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검색어 문자열과의 일치를 노린다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페이지 단위 키워드 최적화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같은 의미라도 다른 표현이면 별개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여전히 중요하지만 그것만으론 부족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Entity SEO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ENTITY UNDERSTANDING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브랜드를 하나의 개체로 인식시킨다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의미·관계 기반으로 이해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표현이 달라도 같은 개체로 연결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AI·지식 그래프 시대의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23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더 큰 그림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Knowledge Graph와 위키데이터 vs 위키피디아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8813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구글 지식 그래프(2012~)는 개체와 개체 사이의 관계를 저장한 거대한 지식 DB다. 여기에 브랜드를 새기는 관문이 위키데이터·위키피디아다.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34640"/>
            <a:ext cx="5148072" cy="2926080"/>
          </a:xfrm>
          <a:prstGeom prst="roundRect">
            <a:avLst>
              <a:gd name="adj" fmla="val 5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3145536"/>
            <a:ext cx="4489704" cy="2377440"/>
          </a:xfrm>
          <a:prstGeom prst="roundRect">
            <a:avLst>
              <a:gd name="adj" fmla="val 6153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위키데이터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STRUCTURED DATA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기계가 읽는 구조화된 사실 DB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개체·속성·관계를 항목으로 저장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지식 그래프가 직접 참조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브랜드 엔티티 구축의 최고 레버리지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834640"/>
            <a:ext cx="5148072" cy="2926080"/>
          </a:xfrm>
          <a:prstGeom prst="roundRect">
            <a:avLst>
              <a:gd name="adj" fmla="val 5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3145536"/>
            <a:ext cx="4489704" cy="2377440"/>
          </a:xfrm>
          <a:prstGeom prst="roundRect">
            <a:avLst>
              <a:gd name="adj" fmla="val 6153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위키피디아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ENCYCLOPEDIA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사람이 읽는 백과사전 문서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서술형 설명과 출처 중심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등재 기준(주목성)이 엄격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권위 있는 언급의 원천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24 / 38</a:t>
            </a:r>
          </a:p>
        </p:txBody>
      </p:sp>
      <p:sp>
        <p:nvSpPr>
          <p:cNvPr id="13" name="AccentRect13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저자 신뢰 강화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Author Bio — 어디까지 채워야 하는가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실명·직함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저자의 실명과 전문 분야·직함을 명시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경력·자격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관련 경력과 자격 증명을 구체적으로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외부 프로필 연결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LinkedIn·위키피디아 등으로 엔티티 연결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스키마 마크업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Person 스키마로 저자 정보를 구조화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YMYL(건강·금융·법률)일수록 저자의 자격·신뢰 정보가 노출·인용을 좌우한다.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25 / 38</a:t>
            </a:r>
          </a:p>
        </p:txBody>
      </p:sp>
      <p:sp>
        <p:nvSpPr>
          <p:cNvPr id="16" name="AccentRect16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GEO 5대 전략과 새로운 KPI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 답변에 '인용'되는 것이 새 목표다. GEO 전략을 총정리하고 성과 지표를 다시 정의한다.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26 / 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GEO 5대 전략 총정리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지금까지 배운 GEO 전략, 5가지로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3172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286000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의미·맥락 중심 설계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키워드 빈도가 아니라 문맥 속 의미로 설계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081527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035808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Q&amp;A 구조로 작성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질문형으로 입력하는 AI 사용자에 맞춘 구조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831335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785615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출처 명시·신뢰 형성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주장에 근거를 제시하고 외부 검증 관리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581144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535424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주제 일관성·전문성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무관한 주제를 섞지 않고 깊은 허브 구축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330952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5285232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데이터 구조화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표·리스트·단계별 설명으로 AI가 읽기 쉽게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27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새로운 KPI 3가지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인용률·점유율·유입전환율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88336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인용률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주요 구매 의도 질문에서 내 브랜드가 AI 답변에 언급되는 비율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37744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8536" y="237744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2688336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점유율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같은 카테고리 질문에서 경쟁사 대비 얼마나 자주 추천되는지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37744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36992" y="237744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2688336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유입 전환율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AI를 통해 유입된 방문자가 구매·가입으로 이어지는 비율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AI 유입 사용자는 이미 니즈를 설명한 뒤 추천받은 상태라 구매 의도가 높다 — 양보다 질의 채널이다.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28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새로운 현상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Zero-click — 클릭 없이 끝나는 검색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5120640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4572000" cy="2834640"/>
          </a:xfrm>
          <a:prstGeom prst="roundRect">
            <a:avLst>
              <a:gd name="adj" fmla="val 516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2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58.5%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2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클릭 없이 끝나는 미국 구글 검색 비율 (2024)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AI가 검색 화면에서 정보를 곧바로 요약해, 어떤 링크도 클릭하지 않고 검색이 끝난다. '클릭'이라는 지표 자체가 의미를 잃어가는 신호다.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532120"/>
            <a:ext cx="45720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SparkToro + Datos, 2024 제로클릭 검색 연구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651760"/>
            <a:ext cx="5394960" cy="3200400"/>
          </a:xfrm>
          <a:prstGeom prst="roundRect">
            <a:avLst>
              <a:gd name="adj" fmla="val 457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그래서 무엇이 바뀌나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· 순위 클릭 → AI 답변 내 '인용'으로 목표 이동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· 트래픽 지표만 보면 성과를 놓친다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· 인용률·점유율 같은 새 KPI가 필요하다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29 / 38</a:t>
            </a:r>
          </a:p>
        </p:txBody>
      </p:sp>
      <p:sp>
        <p:nvSpPr>
          <p:cNvPr id="11" name="AccentRect11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인용의 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검색 순위 1위보다 중요해진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AI 답변엔진은 신뢰도 높은 일부 출처만 선별해 인용한다. 순위 1위여도 인용되지 않을 수 있고, 순위가 낮아도 구조·신뢰가 좋으면 인용될 수 있다 — '인용'이 새로운 상위 노출이다.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인용 = 노출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 답변에 출처로 뜨는 것이 곧 브랜드 노출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신뢰 = 자격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E-E-A-T·구조화가 인용 자격을 만든다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36992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36992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경쟁 = 치열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인용 슬롯이 제한적이라 경쟁이 더 심하다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30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GEO 성과 측정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 인용은 '도구'로 추적한다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42615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 답변 모니터링 툴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Otterly·Writesonic·Peec 등으로 브랜드가 AI 답변에 언급되는지 추적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33172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8536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2642615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프롬프트 세트 관리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주요 구매 의도 질문 세트를 정해 반복 측정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33172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36992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2642615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경쟁사 비교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같은 질문에서 경쟁사 대비 점유율을 본다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한계 — GPT가 실제로 어떤 데이터를 인용하는지 완전히 알 수는 없다. 그래서 여러 툴을 교차 확인한다.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31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업종별 적용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B2B vs B2C, GEO를 적용하는 방식이 다르다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B2B · 전문 서비스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DEPTH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긴 구매 여정 — 심층 콘텐츠가 인용되기 유리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독자적 프레임워크·데이터로 권위 구축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GEO 우선 — 장기 브랜드 빌딩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전문성·신뢰 신호가 결정적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B2C · 이커머스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IMMEDIACY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짧은 구매 여정 — 즉답형 정보가 중요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가격·리뷰·비교 정보 구조화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AEO 우선 — 즉시 정보 제공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거래형 키워드·CTA 중심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32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다음 흐름 미리보기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에이전틱 검색(Agentic Search)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에이전틱 검색은 AI 에이전트가 사용자를 대신해 여러 사이트를 탐색·비교하고 행동(예약·구매)까지 수행하는 방식이다. 사람이 아니라 'AI 에이전트'가 내 콘텐츠의 독자가 되는 시대가 온다.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기계 가독성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 에이전트가 읽기 쉬운 구조·데이터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명확한 사실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가격·사양·정책을 구조화해 명시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36992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36992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행동 가능성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예약·구매 경로를 기계가 따라갈 수 있게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33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리스크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 검색에서 부정적으로 언급되지 않으려면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정확한 정보 관리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오래되거나 틀린 정보를 방치하지 않는다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부정 리뷰 대응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외부 리뷰·언급을 모니터링하고 대응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일관된 사실 제공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여러 채널의 브랜드 정보를 일치시킨다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출처 신뢰도 관리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AI가 참조하는 권위 채널에서의 평판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34 / 38</a:t>
            </a:r>
          </a:p>
        </p:txBody>
      </p:sp>
      <p:sp>
        <p:nvSpPr>
          <p:cNvPr id="15" name="AccentRect1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신뢰는 어떻게 자산이 되는가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40280"/>
            <a:ext cx="10634472" cy="9601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0058400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“링크는 신뢰 투표이고, 엔티티는 그 신뢰의 이름표다. 화이트햇으로 쌓은 신뢰는 SEO 순위이자 GEO 인용 자격으로 이어진다.”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52044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5204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31336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질 &gt; 양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권위 링크 1개가 저품질 100개를 이긴다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6422" y="352044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6422" y="35204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0741" y="3831336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개체로 각인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Entity SEO로 지식 그래프에 브랜드를 새긴다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2764" y="352044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12764" y="35204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7084" y="3831336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인용이 새 노출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순위보다 AI 답변 인용이 중요해진다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49106" y="352044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9106" y="35204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3831336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새 KPI로 측정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인용률·점유율·유입전환율을 추적한다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35 / 38</a:t>
            </a:r>
          </a:p>
        </p:txBody>
      </p:sp>
      <p:sp>
        <p:nvSpPr>
          <p:cNvPr id="21" name="AccentRect21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과정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GEO 5대 전략, 어디서 무엇을 배웠나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10634472" cy="475488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331720"/>
            <a:ext cx="4566056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GEO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53608" y="2331720"/>
            <a:ext cx="5629503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어디서 배웠나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807208"/>
            <a:ext cx="4566056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의미·맥락 중심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3608" y="2807208"/>
            <a:ext cx="5629503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S1 — AI의 의미 기반 평가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634472" cy="603504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410712"/>
            <a:ext cx="4566056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Q&amp;A·즉답형 구조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3608" y="3410712"/>
            <a:ext cx="5629503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S4 — AEO 3단계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014215"/>
            <a:ext cx="4566056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출처·신뢰(E-E-A-T)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3608" y="4014215"/>
            <a:ext cx="5629503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S4 — E-E-A-T / S5 — 링크·엔티티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17720"/>
            <a:ext cx="10634472" cy="603504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617720"/>
            <a:ext cx="4566056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주제 일관성·권위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3608" y="4617720"/>
            <a:ext cx="5629503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S4 — 토픽 클러스터·Topical Authority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5221224"/>
            <a:ext cx="4566056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데이터 구조화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3608" y="5221224"/>
            <a:ext cx="5629503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S3 — 구조화 데이터 / S4 — 콘텐츠 최적화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331720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36 / 38</a:t>
            </a:r>
          </a:p>
        </p:txBody>
      </p:sp>
      <p:sp>
        <p:nvSpPr>
          <p:cNvPr id="23" name="AccentRect23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SESSION 5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오늘의 핵심 4가지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28600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39" y="246888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백링크는 '신뢰 투표' — 화이트햇 5대 전략으로 얻고, PBN·블랙햇은 SpamBrain에 걸린다.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28600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228600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228600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46888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질 &gt; 양 — 관련성 높은 권위 링크 1개가 저품질 100개를 압도한다.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0624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20624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39" y="438912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Entity SEO 7단계로 브랜드를 지식 그래프의 '개체'로 각인시킨다.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20624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20624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420624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38912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GEO 시대의 KPI는 인용률·점유율·유입전환율 — '인용'이 새로운 상위 노출이다.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43600"/>
            <a:ext cx="10634472" cy="54864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943600"/>
            <a:ext cx="10241280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NEXT · Session 6 통합 전략·자동화·전망 — 상황별 선택, 콘텐츠 자동화, 그리고 2026~2028.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37 / 38</a:t>
            </a:r>
          </a:p>
        </p:txBody>
      </p:sp>
      <p:sp>
        <p:nvSpPr>
          <p:cNvPr id="25" name="AccentRect2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SESSION 5 ·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참고 자료 ·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Google Search Central. SpamBrain·링크 스팸 업데이트(2022.12) — developers.google.com/search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24328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Google Search Central. Disavow 링크 도구(대부분 불필요) — developers.google.com/search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91256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Google Patents. PageRank US6285999B1(L. Page·Stanford) — patents.google.com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58184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Stanford. 'Backrub' — 구글의 전신 프로젝트 — infolab.stanford.edu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057400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SparkToro + Datos (2024). 제로클릭 검색 58.5%(US) — sparktoro.com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624328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Google. Knowledge Graph(2012)·Wikidata·Wikipedia — 엔티티 기반 이해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191256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AI 답변 모니터링 — Otterly.ai · Writesonic · Peec.ai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758184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김보경(BK Kim). 백링크·외부 인용 전략 강의자료 (marketingmm.co.kr)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38 / 38</a:t>
            </a:r>
          </a:p>
        </p:txBody>
      </p:sp>
      <p:sp>
        <p:nvSpPr>
          <p:cNvPr id="15" name="AccentRect15"/>
          <p:cNvSpPr/>
          <p:nvPr/>
        </p:nvSpPr>
        <p:spPr>
          <a:xfrm>
            <a:off x="640080" y="1732788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