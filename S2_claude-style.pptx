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dPt>
            <c:idx val="0"/>
            <c:spPr>
              <a:solidFill>
                <a:srgbClr val="F3702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A4A4A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76767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0A0A0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7C7C7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콘텐츠 품질·전문성</c:v>
                </c:pt>
                <c:pt idx="1">
                  <c:v>메타·HTML 구조</c:v>
                </c:pt>
                <c:pt idx="2">
                  <c:v>링크빌딩(내·외부)</c:v>
                </c:pt>
                <c:pt idx="3">
                  <c:v>사용자 참여</c:v>
                </c:pt>
                <c:pt idx="4">
                  <c:v>테크니컬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17</c:v>
                </c:pt>
                <c:pt idx="2">
                  <c:v>17</c:v>
                </c:pt>
                <c:pt idx="3">
                  <c:v>11</c:v>
                </c:pt>
                <c:pt idx="4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14141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000">
          <a:latin typeface="맑은 고딕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 %</c:v>
                </c:pt>
              </c:strCache>
            </c:strRef>
          </c:tx>
          <c:dPt>
            <c:idx val="0"/>
            <c:spPr>
              <a:solidFill>
                <a:srgbClr val="F37021"/>
              </a:solidFill>
              <a:ln>
                <a:noFill/>
              </a:ln>
            </c:spPr>
          </c:dPt>
          <c:dPt>
            <c:idx val="1"/>
            <c:spPr>
              <a:solidFill>
                <a:srgbClr val="2E2E2E"/>
              </a:solidFill>
              <a:ln>
                <a:noFill/>
              </a:ln>
            </c:spPr>
          </c:dPt>
          <c:dPt>
            <c:idx val="2"/>
            <c:spPr>
              <a:solidFill>
                <a:srgbClr val="4A4A4A"/>
              </a:solidFill>
              <a:ln>
                <a:noFill/>
              </a:ln>
            </c:spPr>
          </c:dPt>
          <c:dPt>
            <c:idx val="3"/>
            <c:spPr>
              <a:solidFill>
                <a:srgbClr val="4A4A4A"/>
              </a:solidFill>
              <a:ln>
                <a:noFill/>
              </a:ln>
            </c:spPr>
          </c:dPt>
          <c:dPt>
            <c:idx val="4"/>
            <c:spPr>
              <a:solidFill>
                <a:srgbClr val="767676"/>
              </a:solidFill>
              <a:ln>
                <a:noFill/>
              </a:ln>
            </c:spPr>
          </c:dPt>
          <c:dPt>
            <c:idx val="5"/>
            <c:spPr>
              <a:solidFill>
                <a:srgbClr val="A0A0A0"/>
              </a:solidFill>
              <a:ln>
                <a:noFill/>
              </a:ln>
            </c:spPr>
          </c:dPt>
          <c:dPt>
            <c:idx val="6"/>
            <c:spPr>
              <a:solidFill>
                <a:srgbClr val="C7C7C7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콘텐츠 품질</c:v>
                </c:pt>
                <c:pt idx="1">
                  <c:v>메타 제목</c:v>
                </c:pt>
                <c:pt idx="2">
                  <c:v>전문성</c:v>
                </c:pt>
                <c:pt idx="3">
                  <c:v>백링크</c:v>
                </c:pt>
                <c:pt idx="4">
                  <c:v>사용자참여</c:v>
                </c:pt>
                <c:pt idx="5">
                  <c:v>신선함</c:v>
                </c:pt>
                <c:pt idx="6">
                  <c:v>신뢰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</c:v>
                </c:pt>
                <c:pt idx="1">
                  <c:v>15</c:v>
                </c:pt>
                <c:pt idx="2">
                  <c:v>14</c:v>
                </c:pt>
                <c:pt idx="3">
                  <c:v>14</c:v>
                </c:pt>
                <c:pt idx="4">
                  <c:v>11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4141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DFD8"/>
            </a:solidFill>
          </a:ln>
        </c:spPr>
        <c:txPr>
          <a:bodyPr/>
          <a:lstStyle/>
          <a:p>
            <a:pPr>
              <a:defRPr sz="1000">
                <a:solidFill>
                  <a:srgbClr val="14141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4864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AI 검색 시대 마케팅 — SEO·AEO·GEO 6강 완성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02920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SESSION 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0890504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371600"/>
            <a:ext cx="3364992" cy="4114800"/>
          </a:xfrm>
          <a:prstGeom prst="roundRect">
            <a:avLst>
              <a:gd name="adj" fmla="val 7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68249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300">
                <a:solidFill>
                  <a:srgbClr val="A09D96"/>
                </a:solidFill>
                <a:latin typeface="맑은 고딕"/>
                <a:ea typeface="맑은 고딕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508760"/>
            <a:ext cx="3364992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0" b="1">
                <a:solidFill>
                  <a:srgbClr val="FAF9F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94776" y="4617720"/>
            <a:ext cx="2743200" cy="10972"/>
          </a:xfrm>
          <a:prstGeom prst="rect">
            <a:avLst/>
          </a:prstGeom>
          <a:solidFill>
            <a:srgbClr val="2A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47731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100">
                <a:solidFill>
                  <a:srgbClr val="FAF9F5"/>
                </a:solidFill>
                <a:latin typeface="맑은 고딕"/>
                <a:ea typeface="맑은 고딕"/>
              </a:rPr>
              <a:t>FOUNDATION &amp;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55648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250">
                <a:solidFill>
                  <a:srgbClr val="6C6A64"/>
                </a:solidFill>
                <a:latin typeface="맑은 고딕"/>
                <a:ea typeface="맑은 고딕"/>
              </a:rPr>
              <a:t>FOUNDATION &amp;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7269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00" b="1">
                <a:solidFill>
                  <a:srgbClr val="141413"/>
                </a:solidFill>
                <a:latin typeface="맑은 고딕"/>
                <a:ea typeface="맑은 고딕"/>
              </a:rPr>
              <a:t>기초 인프라 셋팅 &amp; 실전 구축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611880"/>
            <a:ext cx="713232" cy="45720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822191"/>
            <a:ext cx="7040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3D3D3A"/>
                </a:solidFill>
                <a:latin typeface="맑은 고딕"/>
                <a:ea typeface="맑은 고딕"/>
              </a:rPr>
              <a:t>콘텐츠가 아무리 좋아도 '기초'가 없으면 노출되지 않는다. 도메인부터 검색엔진 등록까지, 사이트를 실제로 짓는 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754880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구글 알고리즘 순위 요인 — 무엇이 순위를 만드는가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138928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4748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시장조사·키워드 리서치와 사전진단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5522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3153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도메인·호스팅·CMS 선택과 테크니컬 3대 필수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59070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8155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검색엔진 등록과 콘텐츠 발행 루틴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19088"/>
            <a:ext cx="10890504" cy="9144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">
                <a:solidFill>
                  <a:srgbClr val="8E8B82"/>
                </a:solidFill>
                <a:latin typeface="맑은 고딕"/>
                <a:ea typeface="맑은 고딕"/>
              </a:rPr>
              <a:t>SEO · AEO · GEO — AI 검색 시대 마케팅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80">
                <a:solidFill>
                  <a:srgbClr val="8E8B82"/>
                </a:solidFill>
                <a:latin typeface="맑은 고딕"/>
                <a:ea typeface="맑은 고딕"/>
              </a:rPr>
              <a:t>02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2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인프라,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순위 요인 이해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구글은 무엇으로 순위를 매기는가 — 콘텐츠·링크·테크니컬 비중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시장조사·사전진단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 리서치 3경로와 기존·신규 사이트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 셋팅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연령·샌드박스·EMD/PMD·스팸지수, 첫 단추를 제대로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호스팅·CMS·테크니컬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플랫폼 비교와 API 인덱싱·WebP·레이지 로딩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 등록·발행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 등록, robots·sitemap, 발행 루틴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무엇이 순위를 만드는가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기초를 다지기 전에 '무엇이 평가되는가'를 먼저 알아야 한다. 구글 알고리즘 순위 요인을 숫자로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알고리즘 순위 요인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순위의 절반은 콘텐츠에서 결정된다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148840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2468880"/>
            <a:ext cx="4846320" cy="3383280"/>
          </a:xfrm>
          <a:prstGeom prst="roundRect">
            <a:avLst>
              <a:gd name="adj" fmla="val 432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46%</a:t>
            </a:r>
          </a:p>
          <a:p>
            <a:pPr algn="l">
              <a:lnSpc>
                <a:spcPct val="140000"/>
              </a:lnSpc>
              <a:spcAft>
                <a:spcPts val="13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품질·일관성 21 · 전문성 14 · 신선함 6 · 신뢰 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메타·HTML 17% · 링크빌딩 17%</a:t>
            </a:r>
          </a:p>
          <a:p>
            <a:pPr algn="l">
              <a:lnSpc>
                <a:spcPct val="140000"/>
              </a:lnSpc>
              <a:spcAft>
                <a:spcPts val="1300"/>
              </a:spcAft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메타 태그 15·스키마 1 / 백링크 14·내부 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사용자 참여 11% · 테크니컬 9%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체류·이탈·세션 / 모바일·속도·보안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출처 : FirstPageSage, 2024 Google Algorithm Ranking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38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세부 요인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'콘텐츠 46%' 안에서도 우선순위가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개별 항목별 비중(%) — 콘텐츠 품질과 전문성, 그리고 메타 제목이 가장 크다.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514600"/>
          <a:ext cx="108813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실무 시사점 — 전문성 있는 양질의 콘텐츠와 메타 제목 최적화가 '가성비'가 가장 높다.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38</a:t>
            </a:r>
          </a:p>
        </p:txBody>
      </p:sp>
      <p:sp>
        <p:nvSpPr>
          <p:cNvPr id="10" name="AccentRect1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실전 구축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셋팅은 9단계 순서로 진행된다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1965960" cy="822960"/>
          </a:xfrm>
          <a:prstGeom prst="chevron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알고리즘 이해</a:t>
            </a:r>
          </a:p>
        </p:txBody>
      </p:sp>
      <p:sp>
        <p:nvSpPr>
          <p:cNvPr id="7" name="Chevron 6"/>
          <p:cNvSpPr/>
          <p:nvPr/>
        </p:nvSpPr>
        <p:spPr>
          <a:xfrm>
            <a:off x="2761487" y="2651760"/>
            <a:ext cx="1965960" cy="822960"/>
          </a:xfrm>
          <a:prstGeom prst="chevron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7" y="356616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시장조사·키워드</a:t>
            </a:r>
          </a:p>
        </p:txBody>
      </p:sp>
      <p:sp>
        <p:nvSpPr>
          <p:cNvPr id="9" name="Chevron 8"/>
          <p:cNvSpPr/>
          <p:nvPr/>
        </p:nvSpPr>
        <p:spPr>
          <a:xfrm>
            <a:off x="4882896" y="2651760"/>
            <a:ext cx="1965960" cy="822960"/>
          </a:xfrm>
          <a:prstGeom prst="chevron">
            <a:avLst/>
          </a:prstGeom>
          <a:solidFill>
            <a:srgbClr val="51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96" y="356616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도메인</a:t>
            </a:r>
          </a:p>
        </p:txBody>
      </p:sp>
      <p:sp>
        <p:nvSpPr>
          <p:cNvPr id="11" name="Chevron 10"/>
          <p:cNvSpPr/>
          <p:nvPr/>
        </p:nvSpPr>
        <p:spPr>
          <a:xfrm>
            <a:off x="7004303" y="2651760"/>
            <a:ext cx="1965960" cy="822960"/>
          </a:xfrm>
          <a:prstGeom prst="chevron">
            <a:avLst/>
          </a:prstGeom>
          <a:solidFill>
            <a:srgbClr val="61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3" y="356616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호스팅·CMS</a:t>
            </a:r>
          </a:p>
        </p:txBody>
      </p:sp>
      <p:sp>
        <p:nvSpPr>
          <p:cNvPr id="13" name="Chevron 12"/>
          <p:cNvSpPr/>
          <p:nvPr/>
        </p:nvSpPr>
        <p:spPr>
          <a:xfrm>
            <a:off x="9125711" y="2651760"/>
            <a:ext cx="1965960" cy="822960"/>
          </a:xfrm>
          <a:prstGeom prst="chevron">
            <a:avLst/>
          </a:prstGeom>
          <a:solidFill>
            <a:srgbClr val="7C7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1" y="356616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사이트 구축</a:t>
            </a:r>
          </a:p>
        </p:txBody>
      </p:sp>
      <p:sp>
        <p:nvSpPr>
          <p:cNvPr id="15" name="Chevron 14"/>
          <p:cNvSpPr/>
          <p:nvPr/>
        </p:nvSpPr>
        <p:spPr>
          <a:xfrm>
            <a:off x="640080" y="4297680"/>
            <a:ext cx="1965960" cy="822960"/>
          </a:xfrm>
          <a:prstGeom prst="chevron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검색엔진 등록</a:t>
            </a:r>
          </a:p>
        </p:txBody>
      </p:sp>
      <p:sp>
        <p:nvSpPr>
          <p:cNvPr id="17" name="Chevron 16"/>
          <p:cNvSpPr/>
          <p:nvPr/>
        </p:nvSpPr>
        <p:spPr>
          <a:xfrm>
            <a:off x="2761487" y="4297680"/>
            <a:ext cx="1965960" cy="822960"/>
          </a:xfrm>
          <a:prstGeom prst="chevron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7" y="521208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robots·sitemap</a:t>
            </a:r>
          </a:p>
        </p:txBody>
      </p:sp>
      <p:sp>
        <p:nvSpPr>
          <p:cNvPr id="19" name="Chevron 18"/>
          <p:cNvSpPr/>
          <p:nvPr/>
        </p:nvSpPr>
        <p:spPr>
          <a:xfrm>
            <a:off x="4882896" y="4297680"/>
            <a:ext cx="1965960" cy="822960"/>
          </a:xfrm>
          <a:prstGeom prst="chevron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521208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발행</a:t>
            </a:r>
          </a:p>
        </p:txBody>
      </p:sp>
      <p:sp>
        <p:nvSpPr>
          <p:cNvPr id="21" name="Chevron 20"/>
          <p:cNvSpPr/>
          <p:nvPr/>
        </p:nvSpPr>
        <p:spPr>
          <a:xfrm>
            <a:off x="7004303" y="4297680"/>
            <a:ext cx="1965960" cy="822960"/>
          </a:xfrm>
          <a:prstGeom prst="chevron">
            <a:avLst/>
          </a:prstGeom>
          <a:solidFill>
            <a:srgbClr val="51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303" y="5212080"/>
            <a:ext cx="19659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성과측정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06440"/>
            <a:ext cx="10634472" cy="59436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10241280" cy="5943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이번 회차는 1~9단계의 '기초 인프라'를 다룬다 — 콘텐츠·링크·GEO는 다음 회차부터 그 위에 쌓는다.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38</a:t>
            </a:r>
          </a:p>
        </p:txBody>
      </p:sp>
      <p:sp>
        <p:nvSpPr>
          <p:cNvPr id="27" name="AccentRect2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시장조사 &amp; 사전진단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키워드는 '감'이 아니라 '데이터'로 찾는다. 고객이 실제로 검색하는 말과 현재 사이트 상태를 먼저 진단한다.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키워드 리서치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키워드는 세 갈래에서 뽑는다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키워드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검색광고 시스템 · M-자비스 · 마피아넷 — 국내 실검색량과 연관어를 본다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키워드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트렌드 · 구글 애즈 — 글로벌·계절성 트렌드와 검색량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경쟁사 키워드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Ahrefs · 우버서제스트 — 경쟁사가 트래픽을 얻는 키워드를 역분석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자사·경쟁사 키워드를 비교해 '핵심 키워드'와 '연관 키워드'를 선정하는 것이 출발점이다.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키워드 추출 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도구별로 얻는 데이터가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958662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6214" y="2331720"/>
            <a:ext cx="4058779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제공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4449" y="2331720"/>
            <a:ext cx="2958662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07208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네이버 검색광고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6214" y="2807208"/>
            <a:ext cx="4058779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월간 검색량·연관 키워드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4449" y="2807208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국내 실검색량 기준 잡기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M-자비스 · 마피아넷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6214" y="3410712"/>
            <a:ext cx="4058779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연관·세부 키워드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4449" y="3410712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롱테일 키워드 발굴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014215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 트렌드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6214" y="4014215"/>
            <a:ext cx="4058779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시간·지역별 관심도 추이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4449" y="4014215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계절성·트렌드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617720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 애즈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6214" y="4617720"/>
            <a:ext cx="4058779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글로벌 검색량·경쟁도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4449" y="4617720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타깃 키워드 선정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221224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Ahrefs · 우버서제스트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6214" y="5221224"/>
            <a:ext cx="4058779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경쟁사 유입 키워드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4449" y="5221224"/>
            <a:ext cx="2958662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경쟁사 역분석·갭 발굴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38</a:t>
            </a:r>
          </a:p>
        </p:txBody>
      </p:sp>
      <p:sp>
        <p:nvSpPr>
          <p:cNvPr id="29" name="AccentRect2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사전진단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시작 전, 현재 상태부터 진단한다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기존 사이트가 있다면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EXISTING SITE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구글 서치콘솔에 사이트 등록·연결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네이버 서치어드바이저로 색인 상태 확인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현재 색인된 페이지 수·검색 유입 점검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기술적 오류(robots·sitemap) 여부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새로 만들어야 한다면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NEW SITE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도메인·호스팅·CMS부터 순서대로 결정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처음부터 테크니컬 SEO를 통제 가능하게 설계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검색엔진 등록을 구축 직후 진행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초기 '샌드박스' 기간을 감안한 계획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 — 성공의 첫 단추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 SEO의 첫 단추는 도메인이다. 연령·신뢰도·키워드가 초기 노출 속도를 좌우한다.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도메인 연령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새 도메인은 바로 상위에 오르지 못한다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4937760" cy="3611880"/>
          </a:xfrm>
          <a:prstGeom prst="roundRect">
            <a:avLst>
              <a:gd name="adj" fmla="val 405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4389120" cy="2926080"/>
          </a:xfrm>
          <a:prstGeom prst="roundRect">
            <a:avLst>
              <a:gd name="adj" fmla="val 5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1.74%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새로 발행된 페이지가 1년 내 구글 상위 10위에 오를 확률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상위 10위 페이지의 72.9%는 3년 이상 된 도메인이며, 1위 페이지의 평균 연령은 약 5년이다. 도메인 연령이 초기 노출 속도에 영향을 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32120"/>
            <a:ext cx="43891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Ahrefs, 2025 — How long does it take to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0"/>
            <a:ext cx="5669280" cy="3291840"/>
          </a:xfrm>
          <a:prstGeom prst="roundRect">
            <a:avLst>
              <a:gd name="adj" fmla="val 444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실무 결론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새 사이트를 구축한다면 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연령 1년 이상 도메인을 확보하면 유리하다 (가비아 만기·고대디 입찰 활용)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도메인에 비즈니스 연관 키워드를 포함한다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스팸 지수가 낮은 도메인을 고른다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샌드박스 현상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초기 미노출 기간을 이해하고 계획하라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새 도메인은 발행 초기에 콘텐츠가 검색에 잘 노출되지 않는 '샌드박스(Sandbox)' 기간을 겪는다. 구글이 신규 사이트의 신뢰도를 검증하는 동안 순위 노출을 유보하는 현상이다.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6941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초기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콘텐츠를 발행해도 노출이 지연되는 구간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조급하게 판단하지 말고 꾸준히 발행한다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33832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36941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13.7%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상위 10위 페이지 중 1년 미만 도메인 비율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신규 도메인이 초기에 불리하다는 실측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528523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Ahrefs,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33832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941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1년 이상 도메인 + 꾸준한 발행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샌드박스 기간을 단축하는 현실적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도메인 고르는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좋은 도메인의 4가지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 연령 1년 이상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연령이 오래될수록 초기 노출에 유리하다 (약 3배)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스팸 지수 30% 미만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스팸 스코어 체커로 확인 — 낮을수록 안전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8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3756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비즈니스 연관 키워드 포함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EMD(정확 일치) 또는 PMD(부분 일치) 도메인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8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33756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소유권·만료 관리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소유권 공개 여부와 도메인 만료 기간을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키워드 도메인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EMD vs PMD, 도메인에 키워드를 담는 두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EMD · 정확 일치 도메인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EXACT MATCH DOMAIN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도메인과 핵심 키워드가 완전히 일치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해당 키워드에 강한 연관 신호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희소해서 상대적으로 비싸다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예: 키워드.com 형태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PMD · 부분 일치 도메인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PARTIAL MATCH DOMAIN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키워드가 도메인 일부에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브랜드+키워드 조합이 자연스럽다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확보가 쉽고 현실적이다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예: marketingmm.co.kr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도메인 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연령 있는 도메인은 어디서 구하나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337560" cy="2743200"/>
          </a:xfrm>
          <a:prstGeom prst="roundRect">
            <a:avLst>
              <a:gd name="adj" fmla="val 533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283464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가비아 만기 도메인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만료되어 재등록 대기 중인 도메인을 확보 — 연령 있는 도메인을 얻을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468880"/>
            <a:ext cx="3337560" cy="2743200"/>
          </a:xfrm>
          <a:prstGeom prst="roundRect">
            <a:avLst>
              <a:gd name="adj" fmla="val 533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46888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779776"/>
            <a:ext cx="283464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고대디 도메인 입찰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GoDaddy 경매에서 기존 도메인을 입찰로 매입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468880"/>
            <a:ext cx="3337560" cy="2743200"/>
          </a:xfrm>
          <a:prstGeom prst="roundRect">
            <a:avLst>
              <a:gd name="adj" fmla="val 5333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46888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779776"/>
            <a:ext cx="2834640" cy="2194560"/>
          </a:xfrm>
          <a:prstGeom prst="roundRect">
            <a:avLst>
              <a:gd name="adj" fmla="val 6666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후이즈(WHOIS) 조회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소유권 공개 여부·만료 기간 등 도메인 이력을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EMD(정확 일치)는 비싸므로, 현실적으로는 브랜드+키워드의 PMD를 연령 있는 도메인으로 확보하는 전략이 유효하다.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호스팅·CMS &amp; 테크니컬 기초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플랫폼 선택이 테크니컬 SEO의 '통제 가능 범위'를 결정한다. 그리고 색인·속도의 3대 필수를 챙긴다.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CMS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플랫폼마다 '테크니컬 SEO 통제 범위'가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86000"/>
            <a:ext cx="146855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6107" y="2286000"/>
            <a:ext cx="1806157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워드프레스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721" y="2286000"/>
            <a:ext cx="146855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고스트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9732" y="2286000"/>
            <a:ext cx="146855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윅스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7744" y="2286000"/>
            <a:ext cx="129975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티스토리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6954" y="2286000"/>
            <a:ext cx="1806157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아임웹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테크니컬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6107" y="2761488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통제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1721" y="2761488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옵션 따라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9732" y="2761488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제한적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7744" y="2761488"/>
            <a:ext cx="129975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제한적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6954" y="2761488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제한적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364992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364992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요금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6107" y="3364992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코어 무료+호스팅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1721" y="3364992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셀프 무료/Pro 유료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9732" y="3364992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구독제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7744" y="3364992"/>
            <a:ext cx="129975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54" y="3364992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구독제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968496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확장성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6107" y="3968496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매우 높음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1721" y="3968496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9732" y="3968496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7744" y="3968496"/>
            <a:ext cx="129975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6954" y="3968496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72000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572000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추천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6107" y="4572000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SEO 본격 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1721" y="4572000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콘텐츠 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9732" y="4572000"/>
            <a:ext cx="1468555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간편 구축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57744" y="4572000"/>
            <a:ext cx="129975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블로그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6954" y="4572000"/>
            <a:ext cx="1806157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국내 쇼핑몰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28600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요금은 플랜에 따라 수시로 변동하므로 '구조'만 표기했다. 핵심은 '테크니컬 SEO를 직접 통제할 수 있는가' — 본격 SEO에는 워드프레스가 표준으로 꼽힌다.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38</a:t>
            </a:r>
          </a:p>
        </p:txBody>
      </p:sp>
      <p:sp>
        <p:nvSpPr>
          <p:cNvPr id="42" name="AccentRect4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플랫폼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왜 확장성 높은 플랫폼이 주목받는가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200400"/>
          </a:xfrm>
          <a:prstGeom prst="roundRect">
            <a:avLst>
              <a:gd name="adj" fmla="val 4571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테크니컬 SEO 통제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robots·sitemap·스키마·속도까지 직접 제어 — GEO의 기초 인프라를 손댈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200400"/>
          </a:xfrm>
          <a:prstGeom prst="roundRect">
            <a:avLst>
              <a:gd name="adj" fmla="val 4571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플러그인 생태계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SEO·다국어(WPML)·캐시·이미지 최적화 등 확장이 자유롭다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200400"/>
          </a:xfrm>
          <a:prstGeom prst="roundRect">
            <a:avLst>
              <a:gd name="adj" fmla="val 4571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자산의 소유권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자체 도메인 위에서 운영 — 플랫폼 정책에 휘둘리지 않는 장기 자산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간편함(윅스·아임웹)과 통제력(워드프레스)의 트레이드오프 — 본격 SEO·GEO를 노린다면 통제력이 우선이다.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저비용 구축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해외 아웃소싱으로 150~250달러 구축도 가능하다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$150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워드프레스 메인 페이지 제작 (해외 프리랜서 기준)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해외 아웃소싱을 활용한 저비용 구축 사례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8536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$100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블로그 등 기타 페이지 제작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페이지 단위로 저렴하게 확장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936992" y="246888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77977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$250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총 구축 비용 예시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메인+기타 페이지를 합친 실제 프로젝트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19472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핵심은 '얼마나 저렴한가'보다 '테크니컬 SEO를 통제 가능한 구조로 짓는가'다. 워드프레스면 저비용 구축도 SEO 친화적으로 가능하다.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38</a:t>
            </a:r>
          </a:p>
        </p:txBody>
      </p:sp>
      <p:sp>
        <p:nvSpPr>
          <p:cNvPr id="14" name="AccentRect14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테크니컬 3대 필수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구축 직후 반드시 챙겨야 할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색인 요청(인덱싱)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서치콘솔·IndexNow로 색인을 요청해 페이지 발견을 앞당긴다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WebP 이미지 변환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이미지 용량을 크게 줄여 페이지 로딩 속도를 높인다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레이지 로딩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용량 큰 이미지의 로딩을 지연시켜 초기 속도를 확보한다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셋 다 '검색엔진·AI가 사이트를 빠르고 정확하게 읽게 하는' 기초 작업이다.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인스턴트 인덱싱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색인은 '자동으로 기다리는' 것이 아니라 '요청하는' 것이다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200400"/>
          </a:xfrm>
          <a:prstGeom prst="roundRect">
            <a:avLst>
              <a:gd name="adj" fmla="val 4571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색인 요청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GOOGLE INDEXING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서치콘솔 URL 검사로 색인 요청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색인까지 보통 수 시간~수 일 (보장 없음)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범용 즉시 제출은 IndexNow(빙·얀덱스)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구글 Indexing API는 채용·이벤트 페이지 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200400"/>
          </a:xfrm>
          <a:prstGeom prst="roundRect">
            <a:avLst>
              <a:gd name="adj" fmla="val 4571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2651760"/>
          </a:xfrm>
          <a:prstGeom prst="roundRect">
            <a:avLst>
              <a:gd name="adj" fmla="val 5517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네이버 색인 요청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NAVER INDEXING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서치어드바이저로 수집 요청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블로그는 비교적 빠르게 수집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웹 문서는 더 오래 걸릴 수 있다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콘텐츠 유형별 색인 속도 차이가 크다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이미지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WebP 변환만으로 속도가 눈에 띄게 빨라진다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WebP는 구글이 만든 이미지 포맷으로, 같은 화질에서 JPEG·PNG보다 파일 용량이 작다. 이미지가 많은 페이지일수록 로딩 속도·Core Web Vitals에 큰 영향을 준다.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383280"/>
            <a:ext cx="3337560" cy="2194560"/>
          </a:xfrm>
          <a:prstGeom prst="roundRect">
            <a:avLst>
              <a:gd name="adj" fmla="val 6666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694176"/>
            <a:ext cx="27889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25~34%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동일 화질에서 JPEG 대비 WebP 용량 절감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무손실은 PNG 대비 약 26% 작다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19379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Google, developers.google.com/speed/webp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383280"/>
            <a:ext cx="3337560" cy="2194560"/>
          </a:xfrm>
          <a:prstGeom prst="roundRect">
            <a:avLst>
              <a:gd name="adj" fmla="val 6666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3694176"/>
            <a:ext cx="27889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더 빠르게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이미지 로딩이 빨라져 이탈률 감소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속도는 순위·전환에 직접 영향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3383280"/>
            <a:ext cx="3337560" cy="2194560"/>
          </a:xfrm>
          <a:prstGeom prst="roundRect">
            <a:avLst>
              <a:gd name="adj" fmla="val 6666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694176"/>
            <a:ext cx="2788920" cy="137160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자동화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플러그인으로 일괄 변환 가능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워드프레스면 발행 시 자동 변환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레이지 로딩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화면에 보일 때 이미지를 불러온다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레이지 로딩(Lazy Loading)은 페이지 속도를 높이기 위해, 용량이 큰 이미지 파일의 로딩을 '화면에 보이는 시점까지' 지연시키는 기법이다.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초기 로딩 경량화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처음에 보이지 않는 이미지는 나중에 불러와 첫 화면을 빠르게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서버 부담 감소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한 번에 모든 이미지를 요청하지 않아 리소스를 아낀다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체감 속도 개선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사용자가 느끼는 반응 속도가 빨라져 이탈이 줄어든다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구축 직후 점검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홈페이지 제작 후 반드시 알아야 할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46888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42316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홈페이지 주소(도메인)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최종 접속 주소와 www·https 정규화 확인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520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74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크롤러의 '출입국 심사' — 무엇을 수집·차단할지 정의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57200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52628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사이트맵(sitemap.xml)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사이트의 '목차' — 전체 페이지를 검색엔진에 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38</a:t>
            </a:r>
          </a:p>
        </p:txBody>
      </p:sp>
      <p:sp>
        <p:nvSpPr>
          <p:cNvPr id="13" name="AccentRect1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 등록 &amp; 발행 루틴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지은 사이트를 세상에 알린다. 검색엔진에 등록하고, 반복 가능한 발행 루틴으로 콘텐츠를 쌓는다.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검색엔진 등록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최소 6개 검색엔진에 사이트를 등록한다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331720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331720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331720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331720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서치어드바이저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331720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2331720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빙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Bing 웹마스터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69079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69079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4069079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검색등록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069079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069079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4069079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바이두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站长平台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4069079"/>
            <a:ext cx="3337560" cy="14630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4069079"/>
            <a:ext cx="54864" cy="14630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069079"/>
            <a:ext cx="283464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얀덱스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Webmaster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최소 구글 서치콘솔 + 네이버 서치어드바이저는 필수. 등록해야 색인·성과 추적이 시작된다.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38</a:t>
            </a:r>
          </a:p>
        </p:txBody>
      </p:sp>
      <p:sp>
        <p:nvSpPr>
          <p:cNvPr id="26" name="AccentRect2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크롤 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robots.txt와 sitemap.xml, 역할이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출입국 심사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크롤러의 접근 허용·차단을 정의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수집하면 안 되는 경로를 지정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 예산을 효율적으로 배분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잘못 설정하면 전체 색인이 막힐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sitemap.xml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사이트 목차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사이트 전체 페이지 목록을 제공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검색엔진이 페이지를 빠르게 발견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우선순위·갱신 주기 정보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서치콘솔·서치어드바이저에 제출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콘텐츠 발행 루틴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반복 가능한 10단계 루틴으로 쌓는다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28600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키워드 서치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28600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경쟁 콘텐츠 분석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0896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10896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콘텐츠 작성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10896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10896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썸네일 제작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93192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93192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영문 콘텐츠 생성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393192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93192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 서치콘솔 등록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5488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5488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네이버 서치콘솔 등록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75488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475488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네이버 백링크 만들기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7784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557784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순위 체크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5577840"/>
            <a:ext cx="493776" cy="493776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5577840"/>
            <a:ext cx="4663440" cy="49377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리라이팅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38</a:t>
            </a:r>
          </a:p>
        </p:txBody>
      </p:sp>
      <p:sp>
        <p:nvSpPr>
          <p:cNvPr id="27" name="AccentRect2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발행 루틴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기획 → 제작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 서치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네이버·구글·경쟁사 도구로 핵심·연관 키워드 확정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27248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81528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경쟁 콘텐츠 분석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상위 콘텐츠의 검색 의도·형식·깊이를 파악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77056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31336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콘텐츠 작성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음성·초안을 활용해 검색 의도에 맞춰 작성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26864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81144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썸네일 제작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주제에 맞는 대표 이미지로 클릭률을 높인다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76672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30952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영문 콘텐츠 생성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다국어 플러그인(WPML)으로 글로벌 노출 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발행 루틴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색인 → 관리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서치콘솔 등록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발행 즉시 URL 색인 요청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27248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81528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서치콘솔 등록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서치어드바이저로 수집 요청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77056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31336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백링크 만들기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초기 신뢰 신호 확보 (4회차에서 심화)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26864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81144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순위 체크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목표 키워드의 순위 변동을 주기적으로 추적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76672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330952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리라이팅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성과가 낮은 글은 최신 정보로 개선·재발행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성과 측정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숫자로 확인해야 개선할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서치콘솔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노출·클릭·평균 순위·색인 상태를 무료로 추적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서치어드바이저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수집·색인 현황과 사이트 진단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3172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317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42615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애널리틱스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유입 경로·체류·전환 등 사용자 행동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측정 없이는 개선도 없다 — 발행 후 순위·유입·색인 상태를 정기적으로 모니터링한다.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기초 셋팅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 항목이 끝나면 '기초'는 완성이다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31720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514600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연령·스팸지수·키워드 확인 후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331720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331720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331720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514600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호스팅·CMS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테크니컬 통제 가능한 플랫폼 선택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02152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02152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502152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3685032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robots·sitemap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생성·검증 후 검색엔진에 제출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02152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02152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502152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685032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 등록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구글·네이버 최소 2곳 등록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72583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72583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672583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39" y="4855464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테크니컬 3대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API 인덱싱·WebP·레이지 로딩 적용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672583"/>
            <a:ext cx="5148072" cy="100584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672583"/>
            <a:ext cx="822960" cy="100584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4672583"/>
            <a:ext cx="603504" cy="10058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855464"/>
            <a:ext cx="393192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성과 측정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서치콘솔·애널리틱스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38</a:t>
            </a:r>
          </a:p>
        </p:txBody>
      </p:sp>
      <p:sp>
        <p:nvSpPr>
          <p:cNvPr id="31" name="AccentRect3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애즈 광고는 SEO에도 도움을 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유료 광고(구글 애즈)와 SEO는 별개가 아니다. 광고로 초기 트래픽과 데이터를 확보하면, 어떤 키워드가 전환되는지 학습해 SEO·콘텐츠 전략에 반영할 수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초기 트래픽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신규 사이트의 샌드박스 기간 동안 유입을 만든다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 데이터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실제 전환되는 키워드를 광고로 먼저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행동 신호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방문·체류 등 사용자 신호가 간접적으로 축적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인프라는 GEO의 토대다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10634472" cy="9601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10058400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“콘텐츠가 아무리 좋아도 검색엔진·AI가 사이트에 접근조차 못 하면 의미가 없다. 도메인·호스팅·CMS·색인이라는 기초가 모든 성과의 출발점이다.”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도메인이 첫 단추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연령·신뢰·키워드가 초기 노출 속도를 좌우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6422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6422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0741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통제 가능한 CMS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테크니컬 SEO를 직접 손댈 수 있어야 GEO도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2764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2764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7084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색인이 시작점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등록·robots·sitemap 없이는 노출도 없다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49106" y="352044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9106" y="352044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3831336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측정이 개선을 만든다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서치콘솔로 성과를 추적해야 다음 단계가 보인다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38</a:t>
            </a:r>
          </a:p>
        </p:txBody>
      </p:sp>
      <p:sp>
        <p:nvSpPr>
          <p:cNvPr id="21" name="AccentRect2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2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구글 순위의 절반은 콘텐츠(46%)에서 결정된다 — 그러나 기초 없이는 콘텐츠도 노출되지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도메인은 성공의 첫 단추 — 연령 1년 이상·스팸지수 30% 미만·키워드 포함이 유리하다.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테크니컬 SEO를 통제할 수 있는 CMS(워드프레스)와 API 인덱싱·WebP·레이지 로딩이 기초 3대다.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검색엔진 등록·robots·sitemap 없이는 색인도 성과 측정도 시작되지 않는다.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NEXT · Session 3 테크니컬 SEO 완전정복 — 크롤·색인·Core Web Vitals·구조화·보안을 깊게 판다.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38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2 · 실무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기초 셋팅에서 자주 놓치는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도메인만 좋으면 된다는 착각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도메인은 '첫 단추'일 뿐 — 꾸준한 콘텐츠 발행이 함께여야 한다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7744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3172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 등록을 미룸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구축 직후 등록해야 색인·성과 추적이 빨리 시작된다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42900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8328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 설정 오류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전체 크롤을 막아버리는 실수 — 반드시 검증한다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42900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38328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사이트맵 누락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제출하지 않으면 페이지 발견이 느려진다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8056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3484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이미지 최적화 생략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WebP·레이지 로딩 없이는 속도·순위에서 손해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4480560"/>
            <a:ext cx="530352" cy="530352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434840"/>
            <a:ext cx="457200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측정 도구 미연결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 없이는 무엇을 고칠지 알 수 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2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FirstPageSage (2024). Google Algorithm Ranking Factors — firstpagesage.com/seo-blog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Ahrefs. How long does it take to rank in Google? — ahrefs.com/blog/how-long-does-it-take-to-rank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Developers. WebP 이미지 포맷(JPEG 대비 25~34%↓) — developers.google.com/speed/webp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Google. Indexing API는 JobPosting·BroadcastEvent 전용 — developers.google.com/search/apis/indexing-api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Bing IndexNow — 범용 색인 즉시 제출 프로토콜 — bing.com/indexnow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네이버 서치어드바이저 — searchadvisor.naver.com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김보경(BK Kim). SEO 루틴·기초셋팅 강의자료 (marketingmm.co.kr)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도메인 스팸 스코어 체커 · 가비아 만기도메인 · GoDaddy 경매 · 후이즈(WHOIS)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38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732788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