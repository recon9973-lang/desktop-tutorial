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image" Target="../media/image-34-1.png"/><Relationship Id="rId4" Type="http://schemas.openxmlformats.org/officeDocument/2006/relationships/image" Target="../media/image-3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1.png"/><Relationship Id="rId4" Type="http://schemas.openxmlformats.org/officeDocument/2006/relationships/image" Target="../media/image-4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image" Target="../media/image-5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1.png"/><Relationship Id="rId3" Type="http://schemas.openxmlformats.org/officeDocument/2006/relationships/image" Target="../media/image-5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1.png"/><Relationship Id="rId3" Type="http://schemas.openxmlformats.org/officeDocument/2006/relationships/image" Target="../media/image-5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2377440" cy="2377440"/>
          </a:xfrm>
          <a:prstGeom prst="ellipse">
            <a:avLst/>
          </a:prstGeom>
          <a:solidFill>
            <a:srgbClr val="FF7A4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/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전략과 2026~2028 전망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과정을 하나로 묶기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기초·콘텐츠·신뢰까지 모두 쌓았다. 마지막 회차에서는 언제 무엇을 선택할지 결정하는 법, 실제 시장 사례, 그리고 앞으로 2년의 흐름을 정리한다.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91456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AEO·GEO·통합 전략, 상황별로 무엇을 먼저 선택할지 결정하는 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5212080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65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next-t.co.kr·seo.co.kr 심층 사례로 보는 한국 GEO 시장의 실제 모습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5632704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86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2025~2026 최신 소비자·AI 검색 연구로 보는 행동 변화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6053328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9070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2026~2028 시장 전망과 5주 과정 총정리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전망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5가지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상황별 전략 선택 가이드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9240" y="178308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우선·GEO 우선·통합 전략, 무엇을 기준으로 결정하는가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42616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대행사 선택 심층 가이드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9240" y="26791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그린·레드 플래그를 실제 미팅에서 어떻게 확인하는가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7530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57530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한국 GEO 시장 심층 사례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924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next-t.co.kr·seo.co.kr의 실제 서비스 구조와 차별점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7141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47141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2025~2026 소비자 연구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9240" y="44714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구매 결정에 미치는 영향, 최신 학술·업계 연구 종합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675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3675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2026~2028 전망과 총정리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9240" y="536752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제로클릭 시대의 마케팅, 그리고 5주 과정 전체 회고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상황별 전략 선택 심층 가이드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AEO와 GEO는 경쟁 관계가 아니라 순서의 문제다. 우리 회사는 무엇부터 시작해야 하는가.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5주의 결론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AEO와 GEO는 상호 보완 관계다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선택이 아니라 순서의 문제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AEO와 GEO 중 하나를 선택하는 것이 아니라, 어떤 순서로 접근할지를 결정하는 것이다.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리소스가 제한적이라면 AEO부터 시작해 빠른 성과로 팀 내 신뢰를 얻은 뒤 GEO로 확장하는 것이 현실적이다. 장기적으로는 두 전략을 통합 운영할 때 시너지가 극대화된다.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다시 보는 선택 기준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우선 vs GEO 우선, 핵심 기준 다시 정리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우선 — 빠른 결과가 필요할 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스타트업·초기 단계 기업, 이커머스·금융상품·부동산 등 거래형 키워드 중심 업종, 고객지원 비용 절감이 시급한 경우에 적합하다.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graduationc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우선 — 전문성이 차별화 요소일 때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기업·전문 서비스업, 마케팅 에이전시·IT 컨설팅처럼 경쟁이 치열한 성숙 시장, 장기적 브랜드 빌딩이 중요한 경우에 적합하다.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전략 — 리소스가 충분할 때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충분한 리소스를 보유한 중견기업 이상, 다양한 고객층(B2C는 AEO로 즉시 정보 제공, B2B 의사결정자는 GEO로 전문성 어필)을 보유한 경우에 적합하다.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선택을 돕는 한눈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vs GEO, 투자 결정 전 마지막 체크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효과 발현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4~8주 (빠른 결과)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3~6개월 (장기적 효과)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적합 상황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스타트업, 거래형 키워드 많은 업종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B2B 기업, 전문 서비스업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길이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500~800자 간결한 답변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2,000~4,000자 심층 분석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투자 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상대적 저비용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상대적 고비용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성과 지표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Featured Snippet 획득률, AI 답변 인용률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모델 내 브랜드 언급 빈도, 업계 리더십 인식도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실제로 효과가 있었던 순서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AEO로 시작해서 GEO로 나아간 기업들의 패턴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순서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AEO를 먼저 운영한 뒤 GEO를 추가한 기업들은 AI 검색 노출이 크게 증가하고, 브랜드 언급률도 함께 향상되는 성과를 보였다.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중요한 것은 시작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완벽한 전략을 기다리기보다 지금 당장 AEO 체크리스트 한 가지부터 시작하는 것이 가장 현실적인 첫걸음이다.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통합 전략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B2C와 B2B를 동시에 가진 기업이라면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B2C 고객 대상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AEO로 즉시 정보 제공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 직전 단계의 즉답형 질문에 집중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7121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FAQ·가격·이용 방법을 빠르게 노출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5468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4~8주 내 성과를 기대할 수 있음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의사결정자 대상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GEO로 전문성 어필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심층 리서치 단계의 전문성 질문을 공략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8218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독창적 프레임워크로 업계 리더십 구축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656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3~6개월 단위로 누적되는 장기 자산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결정 전 자가진단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전략을 정하기 전, 우리 회사를 먼저 진단하라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마케팅팀·예산 규모는 어느 정도인가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경쟁사 대비 콘텐츠·기술 기반이 얼마나 갖춰져 있는가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B2B인가 B2C인가, 혹은 둘 다인가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당장 필요한 것은 빠른 리드인가, 장기적 브랜드 인지도인가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흔한 실패 패턴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 선택에서 가장 자주 실패하는 패턴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것을 동시에 시작하기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테크니컬·콘텐츠·링크빌딩·GEO를 한꺼번에 시작하면 리소스가 분산되어 어느 것도 제대로 끝내지 못한다.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없이 전략만 바꾸기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성과를 측정하지 않은 채 몇 주 만에 전략을 바꾸면, 무엇이 효과가 있었는지 끝내 알 수 없다.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성장 단계별 접근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단계 기업 vs 성숙 단계 기업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단계 기업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EARLY STAGE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기초부터 빠르게 다진다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382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AEO로 첫 가시성을 확보한다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07787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가능한 작은 성공부터 쌓는다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성숙 단계 기업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MATURE STAGE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자산(콘텐츠·백링크)을 GEO 관점으로 재정비한다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8094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SEO로 브랜드 권위를 명확히 한다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33024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전략으로 카테고리 리더십을 굳힌다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전환의 시점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 전환의 신호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 AEO에서 GEO로 넘어가야 하는가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AEO로 얻은 빠른 성과(Featured Snippet 획득, 트래픽 증가)가 안정화되기 시작하면, GEO 투자를 늘려야 할 신호다.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57759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3677442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172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신호 1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지표(Featured Snippet 획득률)의 성장세가 둔화될 때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66928" y="530123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3" name="Image 2" descr="/home/claude/seo_course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40108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4631436"/>
            <a:ext cx="10241280" cy="172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신호 2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내에 GEO 콘텐츠를 꾸준히 만들 여력이 생겼을 때</a:t>
            </a:r>
            <a:endParaRPr lang="en-US" sz="1260" dirty="0"/>
          </a:p>
        </p:txBody>
      </p:sp>
      <p:sp>
        <p:nvSpPr>
          <p:cNvPr id="15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 선택에 관한 마지막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예산이 매우 제한적이라면 어디부터 시작해야 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비용이 거의 들지 않는 AEO 1주 체크리스트(질문 수집과 FAQ 작성)부터 시작하는 것이 가장 합리적이다. 테크니컬 기초(robots.txt·sitemap.xml)도 비용 없이 점검할 수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담당자가 한 명뿐이라면 어떻게 해야 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영역을 동시에 하려 하지 말고, 가장 효과가 빠른 AEO부터 1개월간 집중한 뒤, 안정화되면 다음 영역으로 순차적으로 확장하는 것을 권장한다.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마음에 새길 메시지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시작한 전략 &gt; 완벽한 전략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완벽을 기다리지 말고, 작은 체크리스트 하나부터 실행하라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동안 다룬 모든 체크리스트는 완벽하게 끝내야 하는 시험이 아니라, 지금 당장 한 줄이라도 실행할 수 있는 실전 도구다.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과정 핵심 메시지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가상 시나리오로 이해하기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회사, 같은 5주 과정 다른 선택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사례가 아닌, 의사결정 과정을 보여주기 위한 예시 시나리오다.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A — B2C 이커머스 스타트업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예산이 제한적이고 빠른 매출이 필요한 상황. AEO 1주 체크리스트부터 시작해 거래형 질문에 즉답하는 콘텐츠를 우선 발행하기로 결정했다.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4~8주 내 Featured Snippet 성과를 보고 GEO로 확장 검토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620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1" descr="/home/claude/seo_course/icons/graduationc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496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566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B — B2B 컨설팅 기업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5566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경쟁이 치열한 성숙 시장에서 전문성 차별화가 필요한 상황. 처음부터 GEO 중심으로 독창적 프레임워크 콘텐츠에 투자하기로 결정했다.</a:t>
            </a:r>
            <a:endParaRPr lang="en-US" sz="1160" dirty="0"/>
          </a:p>
        </p:txBody>
      </p:sp>
      <p:sp>
        <p:nvSpPr>
          <p:cNvPr id="16" name="Text 12"/>
          <p:cNvSpPr/>
          <p:nvPr/>
        </p:nvSpPr>
        <p:spPr>
          <a:xfrm>
            <a:off x="645566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3~6개월 단위로 업계 인용 빈도를 추적하며 누적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선택 심층 가이드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4회차에서 그린·레드 플래그 표를 봤다면, 이번에는 실제 미팅에서 그것을 어떻게 확인하는지 다룬다.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첫 미팅에서 던질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첫 미팅, 이 질문으로 그린·레드 플래그를 가려낸다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"3개월 안에 1위를 보장하시나요?"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확신에 찬 "보장합니다"라는 답이 나온다면 레드 플래그다. 구글 정책상 순위를 보장할 수 있는 주체는 없다.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"백링크 출처를 보여주실 수 있나요?"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"영업 기밀"이라며 거부한다면 레드 플래그다. 신뢰할 수 있는 대행사는 출처 리스트를 정기 리포트에 포함한다.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"GA·서치콘솔 계정은 누구 명의로 하나요?"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명의로 새로 만들겠다고 한다면 레드 플래그다. 고객 명의 계정에 뷰어 권한만 요청하는 것이 정상이다.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계약 전 마지막 체크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계약서에 반드시 명시되어야 할 5가지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구체적인 KPI와 측정 방법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범위와 제외 항목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콘텐츠·계정·데이터의 소유권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리포팅 주기와 형식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해지 조건과 절차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내부 역량과의 균형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대행사에 맡기더라도, 내부에 남겨야 할 역량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 소유권 관리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GA·서치콘솔·도메인 등 핵심 자산의 최종 소유권은 항상 내부에 둔다.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리포트를 읽는 능력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최소한 리포트의 핵심 지표가 무엇을 의미하는지는 내부에서 이해하고 있어야 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보이스 가이드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톤·스타일 가이드는 대행사가 바뀌어도 유지되도록 내부 문서로 보관한다.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handshak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 검토 체계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 단위로 성과와 전략을 함께 검토하는 자리를 정례화한다.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비용 구조 이해하기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비용, 어떤 방식으로 책정되는가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43784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방식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특징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적합한 경우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월 리테이너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매월 고정 비용으로 지속적인 작업 수행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장기적 관계, 꾸준한 콘텐츠·관리가 필요할 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프로젝트 단위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특정 작업(감사·이전 등) 완료 시 비용 지급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일회성 작업, 명확히 범위가 정해진 경우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성과형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합의된 KPI 달성 시에만 비용 지급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리스크를 줄이고 싶을 때, 단 KPI 정의가 핵심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운영 모델 3가지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내부팀 vs 대행사 vs 하이브리드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내부팀 전담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장기적으로 가장 비용 효율적이지만, 전문성을 갖춘 인력을 확보·유지하는 데 시간이 걸린다.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전담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전문성을 확보할 수 있지만, 내부에 노하우가 쌓이지 않을 위험이 있다.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하이브리드 (혼합형)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전략·핵심 콘텐츠는 내부에서, 실행·기술 작업은 대행사가 맡는 방식으로 양쪽의 장점을 취한다. 많은 중견기업이 선택하는 현실적인 모델이다.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추가 실무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 기간과 교체에 관한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대행사와의 계약 기간은 보통 얼마나 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SEO·GEO는 성과가 누적되는 데 시간이 걸리므로 최소 6개월, 일반적으로 1년 단위 계약이 흔하다. 너무 짧은 계약(1~2개월)을 강요하는 곳은 오히려 의심해볼 필요가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대행사를 바꾸면 그동안의 성과도 사라지나요?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아니다. 콘텐츠·백링크·구조화 데이터 등은 자산으로 남는다. 단, 계정 소유권이 고객에게 있어야 인수인계가 매끄럽다 — 그래서 그린 플래그 중 '계정 소유권' 항목이 중요하다.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교체를 고려할 시점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교체를 고려해야 할 신호 5가지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약속한 리포트가 반복적으로 지연되거나 부실하다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질문에 대한 답변이 점점 모호해진다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성과가 정체되어도 전략 변경 제안이 없다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 접근 권한 요청이 점점 과도해진다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변화(예: GEO)에 대한 대응이 전혀 없다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셀프 체크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우리는 이미 좋은 파트너십을 갖고 있는가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질문에 명확히 답하는가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기술적인 질문에도 회피하지 않고 설명해주는지 돌이켜본다.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투명하게 공유하는가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순위표가 아니라 작업 내역과 근거를 함께 공유하는지 확인한다.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로드맵을 제시하는가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 작업뿐 아니라 다음 분기 방향까지 논의하는지 본다.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흐름에 대응하는가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GEO·AI 검색 같은 변화에 대해 먼저 제안해오는지 살펴본다.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GEO 시장 심층 사례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1회차에서 짧게 소개했던 두 업체를 이번에는 서비스 구조까지 깊게 들여다본다.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심층 사례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넥스트티 (next-t.co.kr) — GEO 전문 솔루션 라인업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전문 업체로서 기능별로 세분화된 자체 솔루션을 운영한다.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/home/claude/seo_cours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OPTISEO · OPTIGEO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SEO 최적화와 생성형 엔진 최적화를 각각 전담하는 솔루션으로, ChatGPT·Perplexity·Claude·구글·네이버에서의 실시간 인용 현황을 추적한다.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학습봇·인용봇 구분 같은 실무 개념을 시장에 처음 제시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620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1" descr="/home/claude/seo_course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496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566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OPTIBLOG · OPTIANALYTICS · OPTIENTITY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5566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제작(OPTIBLOG), 성과 분석(OPTIANALYTICS), 엔티티 관리(OPTIENTITY)까지 GEO 운영의 전 과정을 기능별로 분리해 제공한다.</a:t>
            </a:r>
            <a:endParaRPr lang="en-US" sz="1160" dirty="0"/>
          </a:p>
        </p:txBody>
      </p:sp>
      <p:sp>
        <p:nvSpPr>
          <p:cNvPr id="16" name="Text 12"/>
          <p:cNvSpPr/>
          <p:nvPr/>
        </p:nvSpPr>
        <p:spPr>
          <a:xfrm>
            <a:off x="645566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콘텐츠부터 엔티티까지 GEO 운영 전 과정을 솔루션화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차별점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인용 카운터, 왜 의미 있는 기능인가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측정의 공백을 채움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4회차에서 다룬 인용률·점유율은 아직 표준 측정 도구가 부족한 영역이다. 실시간으로 AI 답변 내 인용 여부를 추적하는 기능은 이 공백을 직접 해결한다.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의사결정에 바로 연결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콘텐츠가 실제로 인용되는지 보여주면, 다음에 만들 콘텐츠의 방향을 데이터 기반으로 정할 수 있다.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심층 사례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코리아 (seo.co.kr) — 업종별 맞춤 컨설팅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SEO·GEO 컨설팅과 백링크·툴·교육을 함께 제공하며, 업종별 세분화된 전략을 운영한다.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/home/claude/seo_course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· 엔터프라이즈 트랙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의사결정 구조를 가진 B2B 기업과 대규모 엔터프라이즈를 대상으로, 긴 영업 사이클에 맞춘 콘텐츠·링크빌딩 전략을 제공한다.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계약·전문 서비스업 중심의 깊은 트랙 레코드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620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1" descr="/home/claude/seo_course/icons/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496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566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스타트업 · 이커머스 트랙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5566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성장과 거래 전환이 중요한 스타트업·이커머스 대상으로, AEO 중심의 빠른 성과형 전략을 별도로 운영한다.</a:t>
            </a:r>
            <a:endParaRPr lang="en-US" sz="1160" dirty="0"/>
          </a:p>
        </p:txBody>
      </p:sp>
      <p:sp>
        <p:nvSpPr>
          <p:cNvPr id="16" name="Text 12"/>
          <p:cNvSpPr/>
          <p:nvPr/>
        </p:nvSpPr>
        <p:spPr>
          <a:xfrm>
            <a:off x="645566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업종 특성에 따라 AEO·GEO 비중을 다르게 설계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두 업체에서 배우는 시사점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공통점과 차이점, 우리 전략에 적용하기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공통점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업체 모두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가능한 데이터를 핵심 가치로 제시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8218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업종·상황별 세분화된 접근을 강조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437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SEO와 GEO를 분리하지 않고 통합 운영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전략에 적용할 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측정 도구가 없다면 수동으로라도 인용 테스트를 정례화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300289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업종(B2B/B2C, 거래형/정보형)에 맞는 비중 조정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42900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대행사를 쓰더라도 '무엇을 측정하는지'는 직접 정의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한국 시장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한국에서 GEO가 특히 중요해지는 이유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이중 생태계 구조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네이버와 구글이 공존하는 한국은 두 생태계 모두를 신경 써야 하는 독특한 시장이다.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커뮤니티 신호의 비중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블로그·카페 같은 플랫폼 내 신호가 한국어 AI 모델 학습과 평가에도 영향을 줄 가능성이 크다.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중심 사용 패턴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1회차에서 다룬 75% 이상의 모바일 비중은 AI 검색에서도 비슷하게 반영될 것으로 예상된다.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신기술 수용성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소비자는 신규 플랫폼 수용 속도가 빠른 편이라 AI 검색 전환도 상대적으로 빠르게 진행될 수 있다.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언어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콘텐츠, AI는 어떻게 평가하는가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고려해야 할 점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특수성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조사·어미 변화가 많아 임베딩 처리가 영어보다 복잡함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699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존댓말·반말 등 톤 차이가 신뢰도 인식에 영향을 줄 수 있음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39608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학습 데이터의 절대량이 영어보다 적음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 주는 시사점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정의문과 완결된 문장이 한국어에서 더 중요함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589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지나치게 구어체나 줄임말은 신뢰도를 낮출 수 있음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31927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데이터로 언어 처리의 불확실성을 보완할 수 있음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지역 비즈니스를 위한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AI 검색 최적화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기반 GEO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병원·식당·학원처럼 특정 지역을 기반으로 하는 비즈니스가 AI 검색에서 추천받도록 최적화하는 것이다.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43941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53926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작업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LocalBusiness 스키마, 정확한 지역명·영업시간 명시, 그리고 리뷰 플랫폼에서의 신뢰 신호 관리가 기본이다.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시장의 잠재력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GEO 시장, 아직 초기 단계라는 것이 기회다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선점의 기회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1회차에서 다룬 '먼저 움직이는 사람이 가져가는 상대적 우위'는 한국 GEO 시장에서 아직 유효하다. 경쟁자 대부분이 아직 전통 SEO에만 머물러 있다.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graduationc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 인력의 희소성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GEO를 깊이 이해하는 전문가가 아직 많지 않다는 것은, 지금 학습하는 사람에게는 오히려 차별화 기회가 된다.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한국 시장 진출 체크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시장 대응, 5주 과정 통합 체크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서치어드바이저와 구글 서치콘솔에 모두 등록되어 있다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네이버용·구글용 작성 팁을 구분해 콘텐츠를 운영한다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자연어 질문(지식iN·카페)을 기반으로 AEO 콘텐츠를 만든다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브랜드명 표기를 한국어·영어 모두 일관되게 고정한다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플랫폼 선호 패턴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사용자는 어떤 AI 플랫폼을 선택하고 있는가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1회차에서 다룬 수치(네이버 81.6%·ChatGPT 54.5%·Gemini 28.9%)가 보여주는 패턴을 다시 짚어본다.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trending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네이버는 여전히 1위지만 하락세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절대적 우위는 유지하고 있으나, 다른 AI 플랫폼의 빠른 성장이 점유율을 잠식하고 있다.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생태계의 동반 성장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464515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Gemini의 가파른 성장은 구글 검색 자체의 AI 전환과 함께 한국 시장에서도 동반 확산되고 있음을 보여준다.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2025~2026 소비자·AI 검색 연구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단순한 검색 도구를 넘어 구매 결정의 핵심 채널로 부상하고 있다. 최신 연구로 그 근거를 확인한다.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검색 행태의 변화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소비자는 이미 AI 검색을 의도적으로 선택하고 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1/2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의도적으로 AI 기반 검색엔진을 찾는 소비자 비율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이상 우연히 마주치는 것이 아니라 의도적인 선택이다.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McKinsey,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검색을 전통적인 검색보다 선호하는 AI 검색 사용자 비율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검색을 보완재가 아닌 대체재로 인식하는 비중이다.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McKinsey, 2025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8단어+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Z세대 생성형 AI 사용자의 평균 검색어 길이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검색의 3~7단어보다 훨씬 길고 구체적인 문장형이다.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2025~2026 소비자 검색행태 연구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검색어 78%는 감정적 또는 개인적 맥락을 포함한다 — 단순 정보 탐색이 아니라 상황을 설명하고 답을 구하는 대화형 검색으로 바뀌고 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학계의 발견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개인화가 소비자 행동에 미치는 영향, 학술 연구 4편</a:t>
            </a:r>
            <a:endParaRPr lang="en-US" sz="2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680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연구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발견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Sandhu et al. (2024)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개인화 엔진이 소비자 니즈를 예측해 쇼핑 프로세스를 더 빠르고 쉽게 개선함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Dai &amp; Liu (2024)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기반 개인화 전략이 소비자의 구매 의도와 만족도를 현저히 높임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Wilson et al. (2024)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AI의 맞춤형 지원이 고객 참여도를 높여 브랜드 충성도와 판매 수치를 상승시킴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Klaviyo (2026)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Enthusiasts(열성 사용자)의 83%가 AI 추천을 통해 전혀 모르던 제품을 구매함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다시 보는 핵심 수치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유입 트래픽, 양은 적지만 질은 압도적이다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art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0.5% → 12.1%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 사례에 따르면 AI를 통해 유입된 트래픽은 전체의 0.5%에 불과했지만, 전체 가입의 12.1%를 차지했다. AI 유입 사용자는 이미 니즈를 상세히 설명한 뒤 추천받은 상태라 구매 의도가 매우 높다.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새로운 현상 다시 보기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제로클릭과 인용의 시대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4회차에서 다룬 개념의 확장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검색 결과 화면에서 정보를 곧바로 요약해 주면서, 클릭이라는 행위 자체가 점점 의미를 잃어가는 현상이다.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단순히 검색 순위 1위에 오르는 것보다, AI 답변 안에서 인용되는 것이 실질적인 영향력을 갖는 시대로 이동하고 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데이터가 주는 시사점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검색어에 감정이 담긴다는 것, 무엇을 의미하는가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78%라는 수치의 의미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사용자 10명 중 8명에 가까운 비율이 감정적·개인적 맥락을 담아 질문한다는 것은, 콘텐츠도 그 맥락에 공감하는 어조로 답해야 한다는 뜻이다.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적용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"○○ 방법"이라는 건조한 답변보다 "바쁜 직장인이라면 ○○부터 시작하세요"처럼 상황을 함께 짚어주는 답변이 AI에게도, 사람에게도 더 잘 읽힌다.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세대별 차이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Z세대 vs 기존 세대, 검색하는 방식이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세대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 검색 패턴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3~7단어의 짧은 키워드 중심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2732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링크를 직접 비교하는 데 익숙함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437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사이트를 옮겨다니며 정보를 직접 종합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Z세대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대화형 검색 패턴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8단어 이상의 문장형·문단형 질문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4927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종합해준 하나의 답을 신뢰하는 경향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656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감정적·개인적 맥락을 자연스럽게 포함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용어 정리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Enthusiast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열성 사용자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Klaviyo(2026) 연구에서 정의한, AI 추천과 개인화 기능을 적극적으로 활용해 구매 결정을 내리는 소비자 그룹이다.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43941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sto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53926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특징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그룹의 83%가 AI 추천을 통해 전혀 모르던 제품을 구매한 경험이 있다 — 브랜드 인지도보다 AI의 추천 신뢰도가 구매를 좌우하는 그룹이다.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연구가 주는 전략적 시사점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소비자 연구, 콘텐츠 전략에 어떻게 반영할까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감정적·상황적 맥락을 포함한 질문 형태로 콘텐츠를 기획한다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Z세대 타겟이라면 장문형 자연어 질문에 대응하는 콘텐츠를 우선한다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Enthusiast 그룹을 겨냥한다면 브랜드 설득보다 AI 신뢰 신호 확보가 우선이다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개인화된 추천 경험을 모방하는 콘텐츠 구조(상황별 추천)를 고려한다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균형 잡힌 시각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그래도 잊지 말아야 할 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고객이 AI Enthusiast는 아니다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여전히 전통적인 검색과 직접 비교를 선호하는 고객층도 존재한다. AEO·GEO가 기존 SEO를 대체하는 것이 아니라 확장하는 것이라는 1회차의 메시지가 여기서도 유효하다.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두 소비자 페르소나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Enthusiast vs 전통적 소비자, 설득 포인트가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Enthusiast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신뢰 우선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AI의 추천 자체를 신뢰의 근거로 받아들임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0413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브랜드를 처음 들어봐도 추천이면 시도함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985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GEO를 통한 AI 인용 확보가 직접적 효과로 이어짐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 소비자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비교 우선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사이트를 직접 비교하며 결정함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6024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인지도·리뷰 수가 더 중요한 신호임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7662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SEO와 리뷰 관리가 여전히 효과적임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2026~2028 전망과 5주 과정 총정리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마지막으로, 앞으로 2년의 흐름을 정리하고 5주 동안 쌓아온 것을 하나로 묶는다.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다시 보는 전망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-25%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대비 2028년, 전통 검색엔진 사용량 감소 전망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Gartner는 생성형 AI 비서·답변 엔진의 확산으로 2028년까지 전통적인 검색엔진 사용량이 최대 25% 줄어들 것으로 전망했다. 검색이 사라지는 것이 아니라 '검색창에 입력하는 행위'가 줄어드는 것이다.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Gartner, 2025 전망 보고서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2026~2028 흐름 읽기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앞으로 2년, 무엇이 달라지는가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검색의 확산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직접 비교·예약·구매까지 수행하는 검색이 점차 일상화되며, 구조화 데이터와 엔티티 관리의 중요성이 더 커진다.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도구의 성숙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현재는 수동 테스트에 의존하는 인용률·점유율 측정이, 다음 2년 안에 더 표준화된 도구로 자리잡을 가능성이 높다.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SEO·AEO·GEO의 통합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전략이 별개의 작업이 아니라 하나의 통합된 가시성 전략으로 운영되는 것이 표준이 될 것이다.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5주 과정 한눈에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함께 쌓아온 5주</a:t>
            </a:r>
            <a:endParaRPr lang="en-US" sz="25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회차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핵심 자산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1회차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검색 패러다임 이해 — SEO→AEO→GEO 3단계 모델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2회차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테크니컬 기반 — 크롤링·색인·Core Web Vitals·구조화 데이터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3회차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자산 — 검색 의도 분석, 역피라미드 작성, E-E-A-T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4회차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신뢰 자산 — 화이트햇 링크빌딩, Entity SEO, GEO KPI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5회차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 전략 — 상황별 선택 가이드, 시장 사례, 2026~2028 전망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오늘부터 시작하기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과정을 마친 지금, 가장 먼저 할 3가지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1주 체크리스트 — 고객 질문 10개를 수집해 즉답형 콘텐츠로 만든다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기초 점검 — Search Console·서치어드바이저 등록 상태를 확인한다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44577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인용 테스트 — ChatGPT·Claude에 브랜드 관련 질문을 직접 던져본다</a:t>
            </a:r>
            <a:endParaRPr lang="en-US" sz="1260" dirty="0"/>
          </a:p>
        </p:txBody>
      </p:sp>
      <p:sp>
        <p:nvSpPr>
          <p:cNvPr id="13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미래를 위한 역량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2026~2028년, 마케터에게 필요해지는 새로운 역량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플랫폼 직접 테스트 능력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ChatGPT·Claude·Perplexity에 직접 질문하며 결과를 해석하는 것이 일상 업무가 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 기본 이해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개발자에게 전적으로 의존하지 않고 schema.org의 기본 구조를 읽을 수 있어야 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KPI 해석력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클릭률 중심 사고에서 인용률·점유율 중심 사고로 전환해야 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채널을 통합하는 시각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SEO·AEO·GEO·소셜을 분리된 업무가 아니라 하나의 가시성 전략으로 보는 관점이 필요하다.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변화를 되짚어보기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전과 5주 후, 무엇이 달라졌는가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전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= 키워드와 순위 싸움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2732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검색은 막연하게 위협적인 변화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09981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측정은 클릭과 순위가 전부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후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SEO·AEO·GEO = 발견·채택·인용의 연속된 흐름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8094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검색은 구체적인 체크리스트로 대응 가능한 영역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35219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측정은 인용률·점유율까지 포함하는 다차원 지표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통합 로드맵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1주·1개월·3개월, 5주 과정 통합 실행 로드맵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1주차 — AEO 체크리스트: 질문 10개 수집, FAQ 발행, Featured Snippet 모니터링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1개월차 — 테크니컬 기초 점검 + GEO 콘텐츠 1~2건 시범 제작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44577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3개월차 — Entity SEO 정비, 화이트햇 링크빌딩 시작, AI 인용 테스트 정례화</a:t>
            </a:r>
            <a:endParaRPr lang="en-US" sz="1260" dirty="0"/>
          </a:p>
        </p:txBody>
      </p:sp>
      <p:sp>
        <p:nvSpPr>
          <p:cNvPr id="13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과정을 마치며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질문 두 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전담 인력 없이 혼자서도 시작할 수 있나요?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가능하다. AEO 1주 체크리스트와 테크니컬 기초 점검은 별도 인력 없이 시작할 수 있는 영역이다. 작게 시작해 성과를 확인하며 범위를 넓혀가는 것이 현실적이다.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전략의 효과는 언제쯔음 체감할 수 있나요?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AEO는 4~8주, GEO는 3~6개월 단위로 효과가 누적된다. 5주 과정에서 배운 체크리스트를 지금부터 실행한다면, 다음 분기 점검 시점에 첫 변화를 확인할 수 있을 것이다.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다시 찾아보기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과정, 다시 펼쳐볼 실전 매뉴얼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막힐 때마다 돌아갈 곳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1~5회차 자료는 한 번 보고 끝내는 강의가 아니라, 실무에서 막힐 때마다 다시 펼쳐보는 체크리스트 모음으로 활용하길 권한다.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분기마다 갱신할 부분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환경은 빠르게 바뀐다. 통계·플랫폼 점유율 같은 숫자는 분기 단위로 최신 자료와 비교해보는 습관이 필요하다.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마지막 한 가지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이 화면을 닫기 전에, 딱 하나만 하기로 한다면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가장 자주 묻는 질문 1개를 떠올려, 완전한 한 문장으로 답을 적어본다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RECAP · 5주 과정 총정리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동안 배운 핵심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9202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검색은 SEO(발견) → AEO(채택) → GEO(인용)로 확장되었을 뿐, 사라진 것은 없다.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0060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0060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기반과 콘텐츠 품질이 갖춰져야 링크빌딩과 GEO가 비로소 효과를 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0919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AEO와 GEO는 선택이 아니라 순서다 — 빠른 성과로 시작해 장기 자산으로 확장한다.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1777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51777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 측정은 순위·클릭에서 인용률·점유율로 옮겨가고 있으며, 지금부터 추적을 시작해야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844784" cy="960120"/>
          </a:xfrm>
          <a:prstGeom prst="roundRect">
            <a:avLst>
              <a:gd name="adj" fmla="val 8571"/>
            </a:avLst>
          </a:prstGeom>
          <a:solidFill>
            <a:srgbClr val="EEF0F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94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5주간의 과정을 마칩니다. 오늘 배운 체크리스트 하나부터 바로 시작해보세요.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COURSE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80238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0" descr="/home/claude/seo_cours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389747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52044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1회차부터 5회차까지의 자료는 언제든 다시 참고할 수 있는 실전 매뉴얼입니다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73202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1" name="Image 1" descr="/home/claude/seo_cours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4827118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5008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변화가 빠른 영역이므로, 분기 단위로 최신 동향을 점검하는 습관을 권장합니다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66166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4" name="Image 2" descr="/home/claude/seo_course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575675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7972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체크리스트 하나를 실행하는 것이 완벽한 전략을 기다리는 것보다 낫습니다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전망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AEO·GEO 상황별 전략 선택 가이드, 2026년 실무 기준.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넥스트티 (next-t.co.kr). OPTISEO·OPTIGEO 등 GEO 솔루션 라인업 소개.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코리아 (seo.co.kr). 업종별 SEO·GEO 컨설팅 트랙 소개.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McKinsey (2025). AI 검색 사용자 행태 및 선호도 조사.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Sandhu et al., Dai &amp; Liu, Wilson et al. (2024). AI 개인화와 소비자 행동 연구.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Klaviyo (2026). AI Enthusiasts 구매 행태 리포트.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 (2025). 생성형 AI가 전통 검색에 미치는 영향 전망 보고서.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4983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 (2026). AI 검색 인용 패턴 및 전환 데이터 분석.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· 통합 전략과 2026~2028 전망</dc:title>
  <dc:subject>PptxGenJS Presentation</dc:subject>
  <dc:creator>SEO·AEO·GEO 5주 과정</dc:creator>
  <cp:lastModifiedBy>SEO·AEO·GEO 5주 과정</cp:lastModifiedBy>
  <cp:revision>1</cp:revision>
  <dcterms:created xsi:type="dcterms:W3CDTF">2026-06-18T13:13:44Z</dcterms:created>
  <dcterms:modified xsi:type="dcterms:W3CDTF">2026-06-18T13:13:44Z</dcterms:modified>
</cp:coreProperties>
</file>