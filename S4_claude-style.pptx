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권장 글자수</c:v>
                </c:pt>
              </c:strCache>
            </c:strRef>
          </c:tx>
          <c:dPt>
            <c:idx val="0"/>
            <c:spPr>
              <a:solidFill>
                <a:srgbClr val="8A8A8A"/>
              </a:solidFill>
              <a:ln>
                <a:noFill/>
              </a:ln>
            </c:spPr>
          </c:dPt>
          <c:dPt>
            <c:idx val="1"/>
            <c:spPr>
              <a:solidFill>
                <a:srgbClr val="4A4A4A"/>
              </a:solidFill>
              <a:ln>
                <a:noFill/>
              </a:ln>
            </c:spPr>
          </c:dPt>
          <c:dPt>
            <c:idx val="2"/>
            <c:spPr>
              <a:solidFill>
                <a:srgbClr val="F37021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FAQ·즉답형</c:v>
                </c:pt>
                <c:pt idx="1">
                  <c:v>정의형</c:v>
                </c:pt>
                <c:pt idx="2">
                  <c:v>가이드형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650</c:v>
                </c:pt>
                <c:pt idx="1">
                  <c:v>1150</c:v>
                </c:pt>
                <c:pt idx="2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DFD8"/>
            </a:solidFill>
          </a:ln>
        </c:spPr>
        <c:txPr>
          <a:bodyPr/>
          <a:lstStyle/>
          <a:p>
            <a:pPr>
              <a:defRPr sz="10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9144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5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SESSION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0" y="274320"/>
            <a:ext cx="493776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20000" b="1" i="0">
                <a:solidFill>
                  <a:srgbClr val="18171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96012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 i="0" spc="2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CONTENT SEO &amp; AEO</a:t>
            </a:r>
          </a:p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SEO &amp; AEO 실전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182880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96926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기초 인프라는 갖췄다. 이제 검색 의도를 정확히 읽고, AI가 그대로 인용하고 싶어지는 콘텐츠를 직접 만든다.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4901183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콘텐츠 SEO 4대 전략 — 검색 의도부터 토픽 클러스터까지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5303520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48656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Intent Gap과 Information Gain으로 차별화하는 법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5705856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650992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 실전 3단계 — 질문 수집·역피라미드·FAQ 구조화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6108192"/>
            <a:ext cx="109728" cy="109728"/>
          </a:xfrm>
          <a:prstGeom prst="ellipse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053328"/>
            <a:ext cx="969264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GEO 콘텐츠 심화 — Executive Summary와 독창적 프레임워크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8229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0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AI 검색 시대 마케팅 — SEO·AEO·GEO 6강 완성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4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SEO &amp; AEO,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SEO 4대 전략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검색의도→토픽 클러스터→E-E-A-T→콘텐츠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의도와 정보 이득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Intent Gap을 찾고 Information Gain으로 차별화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실전 3단계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 수집→역피라미드→FAQ 구조화, 좋은 예시로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콘텐츠 심화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Executive Summary 공식과 독창적 프레임워크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 바로 시작하기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 1주 완성 체크리스트로 첫 결과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SEO 4대 핵심 전략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2026년 기준, 평가 대상은 한 페이지의 완성도가 아니라 사이트 전체의 '주제적 권위'다.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4대 전략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좋은 콘텐츠는 4단계로 설계된다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2309" y="2827324"/>
            <a:ext cx="1652778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6469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2292858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의도 분석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SERP를 분석해 정보·탐색·거래·비교 의도 파악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0927" y="2827324"/>
            <a:ext cx="1652778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25087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1578" y="3657600"/>
            <a:ext cx="2292858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토픽 클러스터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필러+서브토픽을 내부 링크로 연결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89545" y="2827324"/>
            <a:ext cx="1652778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83705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0196" y="3657600"/>
            <a:ext cx="2292858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E-E-A-T 작성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경험·전문성·권위·신뢰를 담는다</a:t>
            </a:r>
          </a:p>
        </p:txBody>
      </p:sp>
      <p:sp>
        <p:nvSpPr>
          <p:cNvPr id="14" name="Oval 13"/>
          <p:cNvSpPr/>
          <p:nvPr/>
        </p:nvSpPr>
        <p:spPr>
          <a:xfrm>
            <a:off x="9442322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8813" y="3657600"/>
            <a:ext cx="2292858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최적화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Answer-First·구조화로 재가공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29200"/>
            <a:ext cx="10634472" cy="9144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1024128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SEO는 검색 사용자의 의도에 정확히 부합하는 고품질 콘텐츠로 검색엔진·AI에서 가시성을 확보하는 전략이다.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38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1단계 · 검색 의도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사용자가 진짜 원하는 것은 4가지로 나뉜다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1691640"/>
          </a:xfrm>
          <a:prstGeom prst="roundRect">
            <a:avLst>
              <a:gd name="adj" fmla="val 8648"/>
            </a:avLst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4864" cy="16916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560320"/>
            <a:ext cx="4507992" cy="12344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정보형  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Informational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개념·방법을 알고 싶다   ·   예: 'OO란 무엇인가요'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2331720"/>
            <a:ext cx="5148072" cy="1691640"/>
          </a:xfrm>
          <a:prstGeom prst="roundRect">
            <a:avLst>
              <a:gd name="adj" fmla="val 8648"/>
            </a:avLst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2331720"/>
            <a:ext cx="54864" cy="16916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560320"/>
            <a:ext cx="4507992" cy="12344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탐색형  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Navigational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특정 브랜드·사이트를 찾는다   ·   예: 'OO 홈페이지'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5148072" cy="1691640"/>
          </a:xfrm>
          <a:prstGeom prst="roundRect">
            <a:avLst>
              <a:gd name="adj" fmla="val 8648"/>
            </a:avLst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54864" cy="16916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4434840"/>
            <a:ext cx="4507992" cy="12344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거래형  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Transactional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구매·신청 등 행동을 한다   ·   예: 'OO 가격·예약'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206240"/>
            <a:ext cx="5148072" cy="1691640"/>
          </a:xfrm>
          <a:prstGeom prst="roundRect">
            <a:avLst>
              <a:gd name="adj" fmla="val 8648"/>
            </a:avLst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4206240"/>
            <a:ext cx="54864" cy="16916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434840"/>
            <a:ext cx="4507992" cy="12344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비교형  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Commercial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여러 옵션을 비교한다   ·   예: 'A vs B 차이'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STEP 1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의도 분석, 모든 콘텐츠의 출발점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SERP 상위 10개 분석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타겟 키워드의 상위 결과 유형·형식·깊이를 본다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의도 유형 분류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정보·탐색·거래·비교 중 어떤 의도인지 정확히 분류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Intent Gap 발굴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기존 콘텐츠가 충족 못 하는 영역을 찾는다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유형·형식·깊이 결정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분석 결과에 맞춰 콘텐츠 형태를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2단계 · 토픽 클러스터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필러 페이지 + 서브토픽 구조로 권위를 쌓는다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하나의 필러 페이지(핵심 주제)를 중심으로 서브토픽 페이지들이 내부 링크로 연결된 구조. 개별 키워드 순위가 아니라 사이트 전체의 '주제적 권위(Topical Authority)'를 구축하는 것이 목표다.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필러 페이지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주제 전체를 포괄하는 핵심 허브 — 가장 많은 내부 링크를 받는다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서브토픽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세부 질문 하나에 깊이 답하고 필러로 다시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양방향 링크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필러↔서브토픽의 상호 링크가 클러스터 효과를 만든다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클러스터 내부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필러 페이지 vs 서브토픽 페이지, 역할이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필러 페이지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PILLAR PAGE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주제 전체를 포괄하는 핵심 허브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넓고 개괄적인 개요를 제공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모든 서브토픽으로 연결되는 출발점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클러스터에서 가장 많은 내부 링크 수신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서브토픽 페이지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SUBTOPIC PAGE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세부 질문 하나에 깊이 있게 답변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좁고 구체적인 주제를 깊게 파고듦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필러로 다시 연결해 권위를 보탬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AEO형 즉답 콘텐츠와 특히 잘 맞음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3단계 · E-E-A-T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2026년 차별화는 'Experience(경험)'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E-E-A-T는 구글의 콘텐츠 품질 4대 기준. 2022년 12월 'Experience'가 추가되며 실제 경험이 핵심 차별화 요소가 됐다.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Experience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실제 경험 데이터·1차 자료를 콘텐츠에 포함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274320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27432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054096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Expertise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전문가 저자 정보·프로필을 명확히 표기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274320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27432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054096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Authority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업계 인용·백링크 등 외부 권위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2743200"/>
            <a:ext cx="2425446" cy="2377440"/>
          </a:xfrm>
          <a:prstGeom prst="roundRect">
            <a:avLst>
              <a:gd name="adj" fmla="val 615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274320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054096"/>
            <a:ext cx="1922526" cy="1828800"/>
          </a:xfrm>
          <a:prstGeom prst="roundRect">
            <a:avLst>
              <a:gd name="adj" fmla="val 8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Trust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출처·날짜·수정 이력을 투명하게 공개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38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4단계 · 콘텐츠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발행 후에도 끝나지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Answer-First 구조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핵심 답변을 가장 먼저 배치한다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질문형 소제목·짧은 문단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가독성을 높여 스캔·발췌를 쉽게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 데이터·내부 링크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지속적으로 보강한다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주기적 갱신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최신 정보로 업데이트 — 트렌드형 3개월·Evergreen 6개월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분량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유형마다 적정 분량이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유형별 권장 글자 수(중앙값) — 무조건 길게가 아니라 '의도에 맞는 완결성'이 기준이다.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514600"/>
          <a:ext cx="6766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651760"/>
            <a:ext cx="3749039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FAQ·AEO형 500~800자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짧고 완전한 답이 핵심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정의형 800~1,500자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핵심 정의에 집중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가이드형 2,000~4,000자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주제 커버리지에 비례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38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실전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의도 분석, 실전에서 쓰는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Search Console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실제로 어떤 검색어로 노출되는지 데이터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데이터랩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한국 사용자의 검색 트렌드·연관 키워드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Ahrefs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경쟁사가 어떤 키워드로 트래픽을 얻는지 역분석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Semrush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SERP 상위 콘텐츠의 형식·구조를 한눈에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 의도와 Information Gain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남들과 똑같은 콘텐츠는 구글도 AI도 보상하지 않는다. 의도를 맞추고, 거기에 없던 정보를 더한다.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Intent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 콘텐츠가 놓친 빈틈을 찾아라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형식의 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상위가 모두 글뿐이면 표·체크리스트로 차별화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깊이의 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표면적이면 실제 데이터·1차 경험으로 더 깊게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최신성의 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오래됐으면 최신 정보로 갱신하는 것만으로 기회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관점의 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같은 시각만 반복하면 반대 관점·독자 프레임워크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상위 10개를 분석하면 의외로 공통적으로 빠진 부분이 보인다 — 그 틈이 차별화 포인트다.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Information Gain — '여기서만 얻는 정보'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기존 상위 콘텐츠에 없는 새로운 정보를 제공하는 것. 단순 요약·재작성이 아니라 '이 콘텐츠에서만 얻을 수 있는 정보'가 있어야 구글이 보상한다. 구글은 관련 특허(Information Gain)까지 보유하고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027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1차 데이터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자체 조사·실험·운영 수치를 포함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6422" y="32918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6422" y="32918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0741" y="36027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독자적 프레임워크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기존에 없던 분류·체크리스트를 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2764" y="32918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2764" y="32918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7084" y="36027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실무 경험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실패 사례·예상 밖 발견을 공유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9106" y="32918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9106" y="32918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3426" y="36027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최신 업데이트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업계 변화를 가장 먼저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38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AI 인용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AI가 인용하는 콘텐츠 5가지, 직접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67712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명확한 정의문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'~란 ~을 의미한다'를 50~80자로 본문 앞에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99232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80944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첫 200자 핵심 답변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서두 200자 안에 답을 넣어 발췌를 쉽게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12464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94176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구조화된 정보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비교표·번호 리스트·체크리스트로 정리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25696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07408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Q&amp;A 형식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질문-답변 구조 + FAQ 스키마 적용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138928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996696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E-E-A-T 신호  —  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신뢰 신호가 강할수록 인용 확률 상승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배포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하나의 콘텐츠, 두 개의 작성 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구글용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KEYWORD-AWARE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H2 소제목에 의도 키워드를 명확히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Answer-First로 핵심 답변을 앞에 배치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구조화 데이터·내부 링크를 꼼꼼히 보강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외부 권위(백링크) 신호를 중시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네이버용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ENGAGEMENT-AWARE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자연어 비율을 높여 사람이 쓴 듯한 문장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체류를 늘리는 리스트·이미지를 적극 활용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댓글·공감을 유도하는 마무리 질문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C-Rank·D.I.A에 맞춘 전문성·일관성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한국 시장 신호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네이버에서 실제로 중요한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CTR (클릭률)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제목이 클릭률에 미치는 영향이 특히 크다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최신성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금융·병원·지역 키워드에서 특히 중요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사용자 반응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체류·스크롤·반복 방문·공유를 종합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37744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377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688336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브랜드 검색량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브랜드명 검색 자체가 신뢰 신호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GEO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'AI가 쓴 느낌'을 제거해야 하는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피해야 할 패턴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GENERIC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'다양한 요인에 따라 다를 수 있습니다' 식 두루뭉술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구체적 숫자·경험 없는 일반론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의미 없는 추상적 설명으로 채우기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사람에게도 AI에게도 신뢰를 못 얻음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대안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SPECIFIC &amp; LIVED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'직접 3개월 사용해보니'처럼 실제 경험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'실제 광고 집행 결과' 같은 1차 데이터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구체적 비교·테스트 결과를 담기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실패담·한계도 솔직하게 공개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의도별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정보형 vs 거래형, 다르게 써야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정보형 콘텐츠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INFORMATIONAL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정의·원리·배경 설명에 집중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Information Gain으로 깊이 차별화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신뢰 신호(출처·데이터)가 핵심 평가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길고 완결적인 구조가 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거래형 콘텐츠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TRANSACTIONAL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가격·옵션·신청 방법을 명확히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행동을 유도하는 명확한 CTA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리뷰·평점 등 구매 결정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간결하고 즉답적인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실전 — 질문 중심 설계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 성공의 80%는 '올바른 질문을 찾는 것'에서 시작된다. 오늘 직접 만들 3단계를 다룬다.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AEO 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AI가 인용하게 만드는 3단계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15412" y="282732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9572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질문 수집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영업·CS·PAA·지식iN에서 실제 자연어 질문을 모은다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236" y="2827324"/>
            <a:ext cx="2538984" cy="1463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54396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784" y="365760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역피라미드 작성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첫 문장에 완전한 답, 그 뒤에 상세 설명</a:t>
            </a:r>
          </a:p>
        </p:txBody>
      </p:sp>
      <p:sp>
        <p:nvSpPr>
          <p:cNvPr id="11" name="Oval 10"/>
          <p:cNvSpPr/>
          <p:nvPr/>
        </p:nvSpPr>
        <p:spPr>
          <a:xfrm>
            <a:off x="8999219" y="2331720"/>
            <a:ext cx="1005840" cy="1005840"/>
          </a:xfrm>
          <a:prstGeom prst="ellipse">
            <a:avLst/>
          </a:prstGeom>
          <a:noFill/>
          <a:ln w="19050">
            <a:solidFill>
              <a:srgbClr val="F37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607" y="3657600"/>
            <a:ext cx="3179064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FAQ 구조화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5~7개 연관 질문을 묶고 FAQ 스키마 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10634472" cy="91440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241280" cy="9144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핵심은 SEO 툴의 검색량이 아니라, 실제 고객이 사용하는 '자연어 질문'을 찾는 것이다.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질문 수집처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실제 고객 질문은 어디서 모으는가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영업팀·CS팀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고객을 가장 자주 만나는 팀이 가장 정확한 질문 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People Also Ask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 결과 하단 연관 질문에서 실제 질문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지식iN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한국 사용자의 자연어 질문 표현을 잘 보여줌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331720"/>
            <a:ext cx="2425446" cy="3108960"/>
          </a:xfrm>
          <a:prstGeom prst="roundRect">
            <a:avLst>
              <a:gd name="adj" fmla="val 603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642615"/>
            <a:ext cx="1922526" cy="2560320"/>
          </a:xfrm>
          <a:prstGeom prst="roundRect">
            <a:avLst>
              <a:gd name="adj" fmla="val 7609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커뮤니티·카페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업종별 전문 커뮤니티에서 구체적 질문 발견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검색어와 자연어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키워드가 아니라 '사람이 말하는 문장'을 찾아라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기존 SEO 키워드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SEARCH VOLUME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'프로젝트 관리 툴 추천' 같은 짧은 키워드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SEO 툴 검색량 기준으로 기획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검색량은 크지만 AI 검색엔 덜 활용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단어 중심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AEO 자연어 질문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CONVERSATIONAL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'팀 협업 잘 되는 툴이 뭐가 있나요?'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사용자가 AI에게 실제로 묻는 문장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AI 검색에서 훨씬 자주 활용됨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PAA·지식iN·카페에서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즉답형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역피라미드 — 가장 중요한 답을 맨 앞에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첫 문장에 완전한 답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주어+서술어+목적어를 갖춘 완결 문장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317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구체적 숫자·데이터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예: 약 30%, 평균 3개월 등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명확한 종결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'입니다'·'습니다'로 끝나는 분명한 문장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83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최대한 명료하게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모호함을 제거하고 분명하게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실전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"SEO 최적화에 얼마나 걸리나요?"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3291840"/>
          </a:xfrm>
          <a:prstGeom prst="roundRect">
            <a:avLst>
              <a:gd name="adj" fmla="val 4444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148072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4507992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BAD · 모호하고 즉답이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4507992" cy="2103120"/>
          </a:xfrm>
          <a:prstGeom prst="roundRect">
            <a:avLst>
              <a:gd name="adj" fmla="val 695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“SEO는 복잡한 작업이므로 경우에 따라 결과가 다를 수 있으며…”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직접적인 답이 없고 끝까지 읽어도 기간을 알 수 없다. AI가 발췌하기 어렵다.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3291840"/>
          </a:xfrm>
          <a:prstGeom prst="roundRect">
            <a:avLst>
              <a:gd name="adj" fmla="val 4444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514807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578608"/>
            <a:ext cx="4507992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GOOD · 구체적이고 즉답형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00400"/>
            <a:ext cx="4507992" cy="2103120"/>
          </a:xfrm>
          <a:prstGeom prst="roundRect">
            <a:avLst>
              <a:gd name="adj" fmla="val 695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0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“SEO 효과는 일반적으로 3~6개월 후 나타납니다. 새 사이트는 6~12개월, 기존 사이트 개선은 2~4개월 내 확인됩니다.”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첫 문장에 완전한 답, 숫자가 구체적 — 역피라미드의 정석.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FAQ 형식·연관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하나의 주제에 5~7개 연관 질문을 함께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하나의 주제에 5~7개의 연관 질문을 함께 다뤄야 AI가 콘텐츠를 '종합적인 정보원'으로 인식한다. (예: 마케팅 자동화 도구 → 정의·비용·선택기준·구축기간·추천)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040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1296"/>
            <a:ext cx="2834640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인용에 유리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질문-답변 구조가 AI 발췌·인용을 쉽게 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20040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2004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511296"/>
            <a:ext cx="2834640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가독성·스캔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독자가 원하는 답을 빠르게 찾는다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20040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2004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511296"/>
            <a:ext cx="2834640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FAQ 스키마 주의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FAQ 리치 결과는 2023년 8월 이후 축소돼 사실상 사라지는 중 — 그러나 FAQ '구조' 자체는 AI 인용·가독성에 여전히 유효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오늘 시작하기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1주 완성 체크리스트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691640" cy="86868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8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DAY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359151"/>
            <a:ext cx="868680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실제 고객 질문 수집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영업·CS·PAA·지식iN·커뮤니티에서 자연어 질문을 모은다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00984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0984"/>
            <a:ext cx="1691640" cy="86868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8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DAY 3–4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328415"/>
            <a:ext cx="868680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역피라미드 즉답 작성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첫 문장에 완전한 답, 구체적 숫자와 '~입니다'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70248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1691640" cy="86868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8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DAY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297680"/>
            <a:ext cx="868680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FAQ 구조화 + 스키마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5~7개 연관 질문을 묶고 FAQ 스키마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39512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39512"/>
            <a:ext cx="1691640" cy="86868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8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DAY 6–7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266944"/>
            <a:ext cx="868680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발행 · 색인 · 인용 테스트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색인 요청 후 ChatGPT·Claude에서 인용 여부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GEO 콘텐츠 작성 심화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AEO가 '즉답'이라면, GEO는 '깊이'다. Executive Summary와 독창적 프레임워크로 권위를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구조화 공식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Executive Summary 균형 공식 (5단 구조)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303599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546" y="2331720"/>
            <a:ext cx="173381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분량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6816" y="2331720"/>
            <a:ext cx="520629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303599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546" y="2807208"/>
            <a:ext cx="173381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200자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816" y="2807208"/>
            <a:ext cx="5206295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전체 내용을 한눈에 파악하는 핵심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74136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74136"/>
            <a:ext cx="303599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배경·현황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546" y="3374136"/>
            <a:ext cx="173381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500자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6816" y="3374136"/>
            <a:ext cx="5206295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왜 이 주제가 지금 중요한지 맥락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41063"/>
            <a:ext cx="303599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핵심 인사이트 3가지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546" y="3941063"/>
            <a:ext cx="173381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각 300자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6816" y="3941063"/>
            <a:ext cx="5206295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독자적 관점이 드러나는 핵심 통찰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07992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507992"/>
            <a:ext cx="303599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실행 방안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546" y="4507992"/>
            <a:ext cx="173381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400자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6816" y="4507992"/>
            <a:ext cx="5206295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구체적 액션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74920"/>
            <a:ext cx="303599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예상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546" y="5074920"/>
            <a:ext cx="1733814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200자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6816" y="5074920"/>
            <a:ext cx="5206295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기대 효과와 성과 지표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'경영진도 이해할 요약'과 '실무진도 만족할 세부'를 모두 담는 것이 GEO 콘텐츠의 핵심이다.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38</a:t>
            </a:r>
          </a:p>
        </p:txBody>
      </p:sp>
      <p:sp>
        <p:nvSpPr>
          <p:cNvPr id="30" name="AccentRect3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프레임워크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독창적 프레임워크를 만드는 3가지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46888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2316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숫자로 체계화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'3단계 모델', '5가지 원칙'처럼 숫자로 구조화한다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204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47472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데이터+경험 결합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업계 데이터와 고유 경험을 결합한 인사이트 제시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572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52628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반대 관점 제시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'일반적으로 A라지만, 실제로는 B입니다'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의외의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실패담 &gt; 성공담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4937760" cy="3383280"/>
          </a:xfrm>
          <a:prstGeom prst="roundRect">
            <a:avLst>
              <a:gd name="adj" fmla="val 4324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389120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실패담 &gt;
성공담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실패 사례를 포함한 콘텐츠가 AI 인용률이 더 높다는 연구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콘텐츠 신뢰도 연구, 2025~2026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51760"/>
            <a:ext cx="5669280" cy="3108960"/>
          </a:xfrm>
          <a:prstGeom prst="roundRect">
            <a:avLst>
              <a:gd name="adj" fmla="val 4705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왜 그런가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완벽한 성공담보다 진솔한 경험과 교훈을 담은 콘텐츠가 더 신뢰받는다.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한계와 실패를 솔직하게 공개하는 것이 오히려 신뢰도(Trust)를 높이는 전략이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다시 보는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Topical Authority — 주제적 권위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특정 주제에 대해 사이트 전체가 '가장 신뢰할 수 있는 정보원'으로 인식되는 것. 개별 키워드 순위가 아니라, 토픽 클러스터로 한 주제를 폭넓고 깊게 다룰 때 누적된다.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폭 (Coverage)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 주제의 하위 질문들을 빠짐없이 다룬다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깊이 (Depth)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각 질문에 1차 데이터·경험으로 깊게 답한다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연결 (Links)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필러↔서브토픽 내부 링크로 묶는다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두 개념의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Information Gain과 Executive Summary = GEO의 두 기둥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Information Gain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무엇을 담는가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여기서만 얻는 새 정보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1차 데이터·독자 프레임워크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실패담·최신 업데이트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'차별화'의 재료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어떻게 담는가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요약 먼저, 심층은 뒤에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경영진·실무진 모두 만족하는 구조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AI가 발췌하기 좋은 형태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'구조화'의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적용 전후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같은 질문, 다른 답변 구조 — Before &amp;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Before · 기존 방식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NOT CITED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키워드를 반복하며 서론이 길다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핵심 답변이 본문 중반에 모호하게 등장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출처·구체적 숫자 없이 일반론으로 마무리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AI가 발췌할 명확한 지점이 없어 인용 안 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After · 오늘 배운 방식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CITED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첫 문장에 완전한 답변과 구체적 숫자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FAQ로 연관 질문을 보강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실제 경험·출처를 명시해 E-E-A-T 강화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Featured Snippet·AI 인용 가능성 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한눈에 보는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AEO 3단계 vs GEO 핵심 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1385747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3299" y="2331720"/>
            <a:ext cx="4295178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7933" y="2331720"/>
            <a:ext cx="4295178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1385747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3299" y="2807208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 중심 콘텐츠 구조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7933" y="2807208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독창적 관점·프레임워크 개발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74136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74136"/>
            <a:ext cx="1385747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3299" y="3374136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역피라미드 즉답형 작성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7933" y="3374136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Executive Summary + 심층 분석 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941063"/>
            <a:ext cx="1385747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3299" y="3941063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FAQ 형식·연관 질문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7933" y="3941063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E-E-A-T 요소 강화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07992"/>
            <a:ext cx="10634472" cy="566928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507992"/>
            <a:ext cx="1385747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분량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3299" y="4507992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500~800자 간결한 답변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7933" y="4507992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2,000~4,000자 심층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074920"/>
            <a:ext cx="1385747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3299" y="5074920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1주 완성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7933" y="5074920"/>
            <a:ext cx="4295178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1개월 단위로 누적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38</a:t>
            </a:r>
          </a:p>
        </p:txBody>
      </p:sp>
      <p:sp>
        <p:nvSpPr>
          <p:cNvPr id="29" name="AccentRect2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4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SEO는 검색의도→토픽 클러스터→E-E-A-T→최적화의 4단계로 설계한다.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차별화는 Intent Gap을 찾고 Information Gain('여기서만 얻는 정보')을 더하는 것이다.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AEO는 질문 수집→역피라미드→FAQ 3단계 — 핵심은 '자연어 질문'을 찾는 것이다.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GEO는 Executive Summary(구조)와 Information Gain(내용)이라는 두 기둥으로 완성된다.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NEXT · Session 5 링크빌딩 &amp; GEO — 콘텐츠를 외부에서도 신뢰받게 만들고 GEO를 측정한다.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38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4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Central. E-E-A-T·Helpful Content(2022.12 Experience 추가) — developers.google.com/search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Quality Rater Guidelines — E-E-A-T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Patents. Information Gain(US11354342B2) — patents.google.com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 (2023.08). FAQ·How-To 리치 결과 축소(이후 사실상 종료) — developers.google.com/search/blog/2023/08/howto-faq-changes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(2023). AI 생성 콘텐츠도 '유용하면' 보상 — 제작 방식 무관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Ahrefs (2025). AI 생성 콘텐츠와 구글 순위 분석(인간+AI 혼합이 다수) — ahrefs.com/blog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네이버 데이터랩 · Search Console · Ahrefs · Semrush — 검색 의도 분석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김보경(BK Kim). 콘텐츠 대량발행 루틴 강의자료 (marketingmm.co.kr)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38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732788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