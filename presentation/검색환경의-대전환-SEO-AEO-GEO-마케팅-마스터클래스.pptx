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" y="566928"/>
            <a:ext cx="2148840" cy="4154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7" y="1078992"/>
            <a:ext cx="54864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8780"/>
                </a:solidFill>
                <a:latin typeface="Pretendard"/>
              </a:rPr>
              <a:t>병원 마케팅 · SEO/AI 그로스 파트너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15807" y="731520"/>
            <a:ext cx="310896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r">
              <a:lnSpc>
                <a:spcPct val="120000"/>
              </a:lnSpc>
            </a:pPr>
            <a:r>
              <a:rPr sz="1250" b="1">
                <a:solidFill>
                  <a:srgbClr val="4F4D49"/>
                </a:solidFill>
                <a:latin typeface="Pretendard"/>
              </a:rPr>
              <a:t>2026 Edition</a:t>
            </a:r>
          </a:p>
          <a:p>
            <a:pPr algn="r">
              <a:lnSpc>
                <a:spcPct val="120000"/>
              </a:lnSpc>
            </a:pPr>
            <a:r>
              <a:rPr sz="1250" b="0">
                <a:solidFill>
                  <a:srgbClr val="8A8780"/>
                </a:solidFill>
                <a:latin typeface="Pretendard"/>
              </a:rPr>
              <a:t>검색 마케팅 전략 브리핑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2148840"/>
            <a:ext cx="10058400" cy="22860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98000"/>
              </a:lnSpc>
            </a:pPr>
            <a:r>
              <a:rPr sz="6800" b="1">
                <a:solidFill>
                  <a:srgbClr val="191919"/>
                </a:solidFill>
                <a:latin typeface="Pretendard"/>
              </a:rPr>
              <a:t>검색 환경의</a:t>
            </a:r>
          </a:p>
          <a:p>
            <a:pPr algn="l">
              <a:lnSpc>
                <a:spcPct val="98000"/>
              </a:lnSpc>
            </a:pPr>
            <a:r>
              <a:rPr sz="6800" b="1">
                <a:solidFill>
                  <a:srgbClr val="0075DE"/>
                </a:solidFill>
                <a:latin typeface="Pretendard"/>
              </a:rPr>
              <a:t>대전환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33856" y="4617720"/>
            <a:ext cx="10058400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0">
                <a:solidFill>
                  <a:srgbClr val="4F4D49"/>
                </a:solidFill>
                <a:latin typeface="Pretendard"/>
              </a:rPr>
              <a:t>제로클릭 시대, 마케팅 KPI를 '트래픽'에서 '인용 지분'으로 재정의하다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33856" y="5257800"/>
            <a:ext cx="960120" cy="45720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33856" y="5257800"/>
            <a:ext cx="9601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Pretendard"/>
              </a:rPr>
              <a:t>SEO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58568" y="5257800"/>
            <a:ext cx="960120" cy="457200"/>
          </a:xfrm>
          <a:prstGeom prst="roundRect">
            <a:avLst/>
          </a:prstGeom>
          <a:solidFill>
            <a:srgbClr val="FBFBFA"/>
          </a:solidFill>
          <a:ln w="9525">
            <a:solidFill>
              <a:srgbClr val="D6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58568" y="5257800"/>
            <a:ext cx="9601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F2440"/>
                </a:solidFill>
                <a:latin typeface="Pretendard"/>
              </a:rPr>
              <a:t>AEO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79" y="5257800"/>
            <a:ext cx="960120" cy="457200"/>
          </a:xfrm>
          <a:prstGeom prst="roundRect">
            <a:avLst/>
          </a:prstGeom>
          <a:solidFill>
            <a:srgbClr val="FBFBFA"/>
          </a:solidFill>
          <a:ln w="9525">
            <a:solidFill>
              <a:srgbClr val="D6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79" y="5257800"/>
            <a:ext cx="960120" cy="4572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0F2440"/>
                </a:solidFill>
                <a:latin typeface="Pretendard"/>
              </a:rPr>
              <a:t>GEO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33856" y="6126480"/>
            <a:ext cx="1050919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33856" y="6263640"/>
            <a:ext cx="73152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0075DE"/>
                </a:solidFill>
                <a:latin typeface="Pretendard"/>
              </a:rPr>
              <a:t>SEO  →  AEO  →  GEO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84287" y="6236208"/>
            <a:ext cx="3840480" cy="411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>
                <a:solidFill>
                  <a:srgbClr val="8A8780"/>
                </a:solidFill>
                <a:latin typeface="Pretendard"/>
              </a:rPr>
              <a:t>주식회사 베놈  ·  병원마케팅 대행사  ·  1661-4142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AGENDA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01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발표 구성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오늘 다룰 여섯 개의 챕터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48840"/>
            <a:ext cx="3551834" cy="2025396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48840"/>
            <a:ext cx="3551834" cy="64008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377440"/>
            <a:ext cx="3094634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75DE"/>
                </a:solidFill>
                <a:latin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862072"/>
            <a:ext cx="309463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91919"/>
                </a:solidFill>
                <a:latin typeface="Pretendard"/>
              </a:rPr>
              <a:t>배경 및 패러다임 쉬프트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337560"/>
            <a:ext cx="3094634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SEO→AEO→GEO 진화와 관계 구조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19930" y="2148840"/>
            <a:ext cx="3551834" cy="2025396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19930" y="2148840"/>
            <a:ext cx="3551834" cy="64008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4250" y="2377440"/>
            <a:ext cx="3094634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75DE"/>
                </a:solidFill>
                <a:latin typeface="Pretendar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94250" y="2862072"/>
            <a:ext cx="309463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91919"/>
                </a:solidFill>
                <a:latin typeface="Pretendard"/>
              </a:rPr>
              <a:t>시장 현실 진단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4250" y="3337560"/>
            <a:ext cx="3094634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제로클릭·AI 추천 트래픽의 부상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72932" y="2148840"/>
            <a:ext cx="3551834" cy="2025396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72932" y="2148840"/>
            <a:ext cx="3551834" cy="64008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47252" y="2377440"/>
            <a:ext cx="3094634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75DE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7252" y="2862072"/>
            <a:ext cx="309463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91919"/>
                </a:solidFill>
                <a:latin typeface="Pretendard"/>
              </a:rPr>
              <a:t>AI 검색 생태계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7252" y="3337560"/>
            <a:ext cx="3094634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플랫폼 지형도와 인용의 법칙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375404"/>
            <a:ext cx="3551834" cy="2025396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375404"/>
            <a:ext cx="3551834" cy="64008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7" y="4604004"/>
            <a:ext cx="3094634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75DE"/>
                </a:solidFill>
                <a:latin typeface="Pretendard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5088636"/>
            <a:ext cx="309463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91919"/>
                </a:solidFill>
                <a:latin typeface="Pretendard"/>
              </a:rPr>
              <a:t>GEO·AEO 실행 전략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7" y="5564124"/>
            <a:ext cx="3094634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콘텐츠·구조화·기술·권위 플레이북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19930" y="4375404"/>
            <a:ext cx="3551834" cy="2025396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19930" y="4375404"/>
            <a:ext cx="3551834" cy="64008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94250" y="4604004"/>
            <a:ext cx="3094634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75DE"/>
                </a:solidFill>
                <a:latin typeface="Pretendard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4250" y="5088636"/>
            <a:ext cx="309463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91919"/>
                </a:solidFill>
                <a:latin typeface="Pretendard"/>
              </a:rPr>
              <a:t>한국 시장 (네이버)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4250" y="5564124"/>
            <a:ext cx="3094634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AI 브리핑·탭과 대화형 질의 전략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72932" y="4375404"/>
            <a:ext cx="3551834" cy="2025396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72932" y="4375404"/>
            <a:ext cx="3551834" cy="64008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47252" y="4604004"/>
            <a:ext cx="3094634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075DE"/>
                </a:solidFill>
                <a:latin typeface="Pretendard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7252" y="5088636"/>
            <a:ext cx="3094634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191919"/>
                </a:solidFill>
                <a:latin typeface="Pretendard"/>
              </a:rPr>
              <a:t>측정 &amp; 로드맵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47252" y="5564124"/>
            <a:ext cx="3094634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8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KPI 재정의와 90일 실행안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011680"/>
            <a:ext cx="27432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2E4A6E"/>
                </a:solidFill>
                <a:latin typeface="Pretendard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788920"/>
            <a:ext cx="9144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FB4E6"/>
                </a:solidFill>
                <a:latin typeface="Pretendard"/>
              </a:rPr>
              <a:t>CHAPTER 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154680"/>
            <a:ext cx="100584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Pretendard"/>
              </a:rPr>
              <a:t>배경 및 패러다임 쉬프트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9601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C4D2E6"/>
                </a:solidFill>
                <a:latin typeface="Pretendard"/>
              </a:rPr>
              <a:t>검색은 어떻게 '클릭'에서 '인용'으로 이동하는가 — 세 단계의 진화와 그 관계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069080"/>
            <a:ext cx="2011680" cy="36576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enom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167" y="6199632"/>
            <a:ext cx="1371600" cy="2651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01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배경 및 패러다임 쉬프트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02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오늘의 핵심 질문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사람들이 더 이상 </a:t>
            </a:r>
            <a:r>
              <a:rPr sz="3100" b="1">
                <a:solidFill>
                  <a:srgbClr val="0075DE"/>
                </a:solidFill>
                <a:latin typeface="Pretendard"/>
              </a:rPr>
              <a:t>'클릭'</a:t>
            </a:r>
            <a:r>
              <a:rPr sz="3100" b="1">
                <a:solidFill>
                  <a:srgbClr val="191919"/>
                </a:solidFill>
                <a:latin typeface="Pretendard"/>
              </a:rPr>
              <a:t>하지 않는다면?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377440"/>
            <a:ext cx="11057839" cy="91440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377440"/>
            <a:ext cx="1371600" cy="9144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377440"/>
            <a:ext cx="1371600" cy="9144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377440"/>
            <a:ext cx="1371600" cy="603503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377440"/>
            <a:ext cx="9274759" cy="91440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마케팅은 이제 '얼마나 많은 클릭을 유도했는가'가 아니라 </a:t>
            </a:r>
            <a:r>
              <a:rPr sz="1450" b="1">
                <a:solidFill>
                  <a:srgbClr val="0F2440"/>
                </a:solidFill>
                <a:latin typeface="Pretendard"/>
              </a:rPr>
              <a:t>'AI 답변에 얼마나 인용되었는가'</a:t>
            </a:r>
            <a:r>
              <a:rPr sz="1450" b="0">
                <a:solidFill>
                  <a:srgbClr val="191919"/>
                </a:solidFill>
                <a:latin typeface="Pretendard"/>
              </a:rPr>
              <a:t>를 측정해야 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611880"/>
            <a:ext cx="3527450" cy="210312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611880"/>
            <a:ext cx="64008" cy="210312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81304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Before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325112"/>
            <a:ext cx="3070250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키워드 검색 → 링크 클릭 → 사이트 방문 → 전환. 클릭이 모든 것의 출발점.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2122" y="3611880"/>
            <a:ext cx="3527450" cy="210312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2122" y="3611880"/>
            <a:ext cx="64008" cy="210312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8154" y="381304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Now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8154" y="4325112"/>
            <a:ext cx="3070250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질문 → AI 요약 답변 즉시 소비. 클릭 없이 정보 소비가 완결됨.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7316" y="3611880"/>
            <a:ext cx="3527450" cy="210312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7316" y="3611880"/>
            <a:ext cx="64008" cy="210312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3348" y="381304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So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3348" y="4325112"/>
            <a:ext cx="3070250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'트래픽 확보'에서 'AI 답변 내 인용·노출 확보'로 목표 전환 필요.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관점 전환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Traffic Mindset → Citation Mindset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01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배경 및 패러다임 쉬프트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03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검색 최적화의 3단계 진화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SEO → AEO → </a:t>
            </a:r>
            <a:r>
              <a:rPr sz="3100" b="1">
                <a:solidFill>
                  <a:srgbClr val="0075DE"/>
                </a:solidFill>
                <a:latin typeface="Pretendard"/>
              </a:rPr>
              <a:t>GEO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86000"/>
            <a:ext cx="3527450" cy="182880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286000"/>
            <a:ext cx="64008" cy="182880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8716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① SEO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99232"/>
            <a:ext cx="307025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검색 엔진 최적화. 봇이 색인하기 좋게 만들어 랭킹·클릭을 확보.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2122" y="2286000"/>
            <a:ext cx="3527450" cy="182880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2122" y="2286000"/>
            <a:ext cx="64008" cy="182880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8154" y="248716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② AEO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154" y="2999232"/>
            <a:ext cx="307025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답변 엔진 최적화. AI 요약·스니펫에 브랜드를 노출시킴.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7316" y="2286000"/>
            <a:ext cx="3527450" cy="182880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2286000"/>
            <a:ext cx="64008" cy="182880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3348" y="248716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③ GEO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348" y="2999232"/>
            <a:ext cx="307025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생성형 엔진 최적화. LLM 답변의 '출처'로 인용되는 것을 목표.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389120"/>
            <a:ext cx="11057839" cy="8686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389120"/>
            <a:ext cx="1371600" cy="86868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389120"/>
            <a:ext cx="1371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389120"/>
            <a:ext cx="1371600" cy="557783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9696" y="4389120"/>
            <a:ext cx="9274759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세 단계는 순차적 '대체'가 아니라, 뒤 단계가 앞 단계 위에 </a:t>
            </a:r>
            <a:r>
              <a:rPr sz="1450" b="1">
                <a:solidFill>
                  <a:srgbClr val="0F2440"/>
                </a:solidFill>
                <a:latin typeface="Pretendard"/>
              </a:rPr>
              <a:t>누적·확장</a:t>
            </a:r>
            <a:r>
              <a:rPr sz="1450" b="0">
                <a:solidFill>
                  <a:srgbClr val="191919"/>
                </a:solidFill>
                <a:latin typeface="Pretendard"/>
              </a:rPr>
              <a:t>되는 구조입니다.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SEO </a:t>
            </a:r>
            <a:r>
              <a:rPr sz="950" b="0">
                <a:solidFill>
                  <a:srgbClr val="8A8780"/>
                </a:solidFill>
                <a:latin typeface="Pretendard"/>
              </a:rPr>
              <a:t>Search Engine Optimization  ·  </a:t>
            </a:r>
            <a:r>
              <a:rPr sz="950" b="1">
                <a:solidFill>
                  <a:srgbClr val="4F4D49"/>
                </a:solidFill>
                <a:latin typeface="Pretendard"/>
              </a:rPr>
              <a:t>AEO </a:t>
            </a:r>
            <a:r>
              <a:rPr sz="950" b="0">
                <a:solidFill>
                  <a:srgbClr val="8A8780"/>
                </a:solidFill>
                <a:latin typeface="Pretendard"/>
              </a:rPr>
              <a:t>Answer Engine Optimization  ·  </a:t>
            </a:r>
            <a:r>
              <a:rPr sz="950" b="1">
                <a:solidFill>
                  <a:srgbClr val="4F4D49"/>
                </a:solidFill>
                <a:latin typeface="Pretendard"/>
              </a:rPr>
              <a:t>GEO </a:t>
            </a:r>
            <a:r>
              <a:rPr sz="950" b="0">
                <a:solidFill>
                  <a:srgbClr val="8A8780"/>
                </a:solidFill>
                <a:latin typeface="Pretendard"/>
              </a:rPr>
              <a:t>Generative Engine Optimization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01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배경 및 패러다임 쉬프트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04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검색 엔진 최적화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0F2440"/>
                </a:solidFill>
                <a:latin typeface="Pretendard"/>
              </a:rPr>
              <a:t>SEO</a:t>
            </a:r>
            <a:r>
              <a:rPr sz="3100" b="1">
                <a:solidFill>
                  <a:srgbClr val="191919"/>
                </a:solidFill>
                <a:latin typeface="Pretendard"/>
              </a:rPr>
              <a:t>  </a:t>
            </a:r>
            <a:r>
              <a:rPr sz="3100" b="1">
                <a:solidFill>
                  <a:srgbClr val="191919"/>
                </a:solidFill>
                <a:latin typeface="Pretendard"/>
              </a:rPr>
              <a:t> — 검색 엔진 최적화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86000"/>
            <a:ext cx="1554480" cy="155448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86000"/>
            <a:ext cx="1554480" cy="1554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Pretendard"/>
              </a:rPr>
              <a:t>SEO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395728" y="2286000"/>
          <a:ext cx="9229039" cy="2322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7765999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정의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91919"/>
                          </a:solidFill>
                          <a:latin typeface="Pretendard"/>
                        </a:rPr>
                        <a:t>대상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91919"/>
                          </a:solidFill>
                          <a:latin typeface="Pretendard"/>
                        </a:rPr>
                        <a:t>네이버·구글 등 검색 엔진 로봇/크롤러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91919"/>
                          </a:solidFill>
                          <a:latin typeface="Pretendard"/>
                        </a:rPr>
                        <a:t>행동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91919"/>
                          </a:solidFill>
                          <a:latin typeface="Pretendard"/>
                        </a:rPr>
                        <a:t>키워드 검색 후 웹사이트 직접 방문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91919"/>
                          </a:solidFill>
                          <a:latin typeface="Pretendard"/>
                        </a:rPr>
                        <a:t>KPI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91919"/>
                          </a:solidFill>
                          <a:latin typeface="Pretendard"/>
                        </a:rPr>
                        <a:t>웹사이트 트래픽 및 클릭률(CTR) 극대화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91919"/>
                          </a:solidFill>
                          <a:latin typeface="Pretendard"/>
                        </a:rPr>
                        <a:t>핵심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91919"/>
                          </a:solidFill>
                          <a:latin typeface="Pretendard"/>
                        </a:rPr>
                        <a:t>색인·랭킹·백링크 — 모든 가시성의 토대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4983480"/>
            <a:ext cx="11057839" cy="841248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983480"/>
            <a:ext cx="1371600" cy="84124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983480"/>
            <a:ext cx="1371600" cy="8412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983480"/>
            <a:ext cx="1371600" cy="530352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9696" y="4983480"/>
            <a:ext cx="9274759" cy="8412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SEO는 폐기 대상이 아니라 </a:t>
            </a:r>
            <a:r>
              <a:rPr sz="1450" b="1">
                <a:solidFill>
                  <a:srgbClr val="0F2440"/>
                </a:solidFill>
                <a:latin typeface="Pretendard"/>
              </a:rPr>
              <a:t>AEO·GEO의 전제 조건</a:t>
            </a:r>
            <a:r>
              <a:rPr sz="1450" b="0">
                <a:solidFill>
                  <a:srgbClr val="191919"/>
                </a:solidFill>
                <a:latin typeface="Pretendard"/>
              </a:rPr>
              <a:t>입니다. 상위 랭킹 없이는 인용 후보에 오르지 못합니다.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정의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SEO — 검색 엔진 최적화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01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배경 및 패러다임 쉬프트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05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답변 엔진 최적화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0F2440"/>
                </a:solidFill>
                <a:latin typeface="Pretendard"/>
              </a:rPr>
              <a:t>AEO</a:t>
            </a:r>
            <a:r>
              <a:rPr sz="3100" b="1">
                <a:solidFill>
                  <a:srgbClr val="191919"/>
                </a:solidFill>
                <a:latin typeface="Pretendard"/>
              </a:rPr>
              <a:t>  </a:t>
            </a:r>
            <a:r>
              <a:rPr sz="3100" b="1">
                <a:solidFill>
                  <a:srgbClr val="191919"/>
                </a:solidFill>
                <a:latin typeface="Pretendard"/>
              </a:rPr>
              <a:t> — 답변 엔진 최적화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86000"/>
            <a:ext cx="1554480" cy="1554480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86000"/>
            <a:ext cx="1554480" cy="1554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Pretendard"/>
              </a:rPr>
              <a:t>AEO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395728" y="2286000"/>
          <a:ext cx="9229039" cy="2322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7765999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정의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91919"/>
                          </a:solidFill>
                          <a:latin typeface="Pretendard"/>
                        </a:rPr>
                        <a:t>대상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91919"/>
                          </a:solidFill>
                          <a:latin typeface="Pretendard"/>
                        </a:rPr>
                        <a:t>ChatGPT·Perplexity 등 답변 엔진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91919"/>
                          </a:solidFill>
                          <a:latin typeface="Pretendard"/>
                        </a:rPr>
                        <a:t>행동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91919"/>
                          </a:solidFill>
                          <a:latin typeface="Pretendard"/>
                        </a:rPr>
                        <a:t>질문 투입 후 AI 요약 결과 즉시 소비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91919"/>
                          </a:solidFill>
                          <a:latin typeface="Pretendard"/>
                        </a:rPr>
                        <a:t>KPI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91919"/>
                          </a:solidFill>
                          <a:latin typeface="Pretendard"/>
                        </a:rPr>
                        <a:t>AI 답변 내 브랜드 추천 및 고정 노출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91919"/>
                          </a:solidFill>
                          <a:latin typeface="Pretendard"/>
                        </a:rPr>
                        <a:t>핵심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91919"/>
                          </a:solidFill>
                          <a:latin typeface="Pretendard"/>
                        </a:rPr>
                        <a:t>구조화·스니펫 친화 콘텐츠로 노출 확보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4983480"/>
            <a:ext cx="11057839" cy="841248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983480"/>
            <a:ext cx="1371600" cy="84124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983480"/>
            <a:ext cx="1371600" cy="8412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983480"/>
            <a:ext cx="1371600" cy="530352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9696" y="4983480"/>
            <a:ext cx="9274759" cy="8412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AEO는 </a:t>
            </a:r>
            <a:r>
              <a:rPr sz="1450" b="1">
                <a:solidFill>
                  <a:srgbClr val="0F2440"/>
                </a:solidFill>
                <a:latin typeface="Pretendard"/>
              </a:rPr>
              <a:t>'요약 답변에 브랜드를 끼워 넣는' </a:t>
            </a:r>
            <a:r>
              <a:rPr sz="1450" b="0">
                <a:solidFill>
                  <a:srgbClr val="191919"/>
                </a:solidFill>
                <a:latin typeface="Pretendard"/>
              </a:rPr>
              <a:t>싸움입니다. 답변 우선 포맷이 핵심 무기입니다.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정의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AEO — 답변 엔진 최적화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01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배경 및 패러다임 쉬프트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06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생성형 엔진 최적화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0075DE"/>
                </a:solidFill>
                <a:latin typeface="Pretendard"/>
              </a:rPr>
              <a:t>GEO</a:t>
            </a:r>
            <a:r>
              <a:rPr sz="3100" b="1">
                <a:solidFill>
                  <a:srgbClr val="191919"/>
                </a:solidFill>
                <a:latin typeface="Pretendard"/>
              </a:rPr>
              <a:t>  </a:t>
            </a:r>
            <a:r>
              <a:rPr sz="3100" b="1">
                <a:solidFill>
                  <a:srgbClr val="191919"/>
                </a:solidFill>
                <a:latin typeface="Pretendard"/>
              </a:rPr>
              <a:t> — 생성형 엔진 최적화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86000"/>
            <a:ext cx="1554480" cy="1554480"/>
          </a:xfrm>
          <a:prstGeom prst="round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86000"/>
            <a:ext cx="1554480" cy="15544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Pretendard"/>
              </a:rPr>
              <a:t>GEO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2395728" y="2286000"/>
          <a:ext cx="9229039" cy="23225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7765999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Pretendard"/>
                        </a:rPr>
                        <a:t>정의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91919"/>
                          </a:solidFill>
                          <a:latin typeface="Pretendard"/>
                        </a:rPr>
                        <a:t>대상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91919"/>
                          </a:solidFill>
                          <a:latin typeface="Pretendard"/>
                        </a:rPr>
                        <a:t>생성형 AI 및 대형 언어 모델(LLM)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91919"/>
                          </a:solidFill>
                          <a:latin typeface="Pretendard"/>
                        </a:rPr>
                        <a:t>행동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91919"/>
                          </a:solidFill>
                          <a:latin typeface="Pretendard"/>
                        </a:rPr>
                        <a:t>대화형 맥락(Context) 중심 탐색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91919"/>
                          </a:solidFill>
                          <a:latin typeface="Pretendard"/>
                        </a:rPr>
                        <a:t>KPI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91919"/>
                          </a:solidFill>
                          <a:latin typeface="Pretendard"/>
                        </a:rPr>
                        <a:t>AI 답변 내 출처 인용 지분(Citation Share)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191919"/>
                          </a:solidFill>
                          <a:latin typeface="Pretendard"/>
                        </a:rPr>
                        <a:t>핵심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191919"/>
                          </a:solidFill>
                          <a:latin typeface="Pretendard"/>
                        </a:rPr>
                        <a:t>1차 출처화·엔티티 일관성·신선도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66928" y="4983480"/>
            <a:ext cx="11057839" cy="841248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4983480"/>
            <a:ext cx="1371600" cy="841248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4983480"/>
            <a:ext cx="1371600" cy="8412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" y="4983480"/>
            <a:ext cx="1371600" cy="530352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9696" y="4983480"/>
            <a:ext cx="9274759" cy="8412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GEO의 최종 목표는 </a:t>
            </a:r>
            <a:r>
              <a:rPr sz="1450" b="1">
                <a:solidFill>
                  <a:srgbClr val="0F2440"/>
                </a:solidFill>
                <a:latin typeface="Pretendard"/>
              </a:rPr>
              <a:t>'인용 지분(Citation Share)' </a:t>
            </a:r>
            <a:r>
              <a:rPr sz="1450" b="0">
                <a:solidFill>
                  <a:srgbClr val="191919"/>
                </a:solidFill>
                <a:latin typeface="Pretendard"/>
              </a:rPr>
              <a:t>확보입니다. AI가 당신을 출처로 지목하게 만드는 것.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정의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GEO — 생성형 엔진 최적화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01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배경 및 패러다임 쉬프트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07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패러다임 3단계 비교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한눈에 보는 </a:t>
            </a:r>
            <a:r>
              <a:rPr sz="3100" b="1">
                <a:solidFill>
                  <a:srgbClr val="0075DE"/>
                </a:solidFill>
                <a:latin typeface="Pretendard"/>
              </a:rPr>
              <a:t>SEO · AEO · GEO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40280"/>
            <a:ext cx="11057839" cy="77724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240280"/>
            <a:ext cx="1371600" cy="7772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40280"/>
            <a:ext cx="137160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240280"/>
            <a:ext cx="1371600" cy="466344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240280"/>
            <a:ext cx="9274759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전통 SEO에서 GEO로 갈수록 목표가 '클릭'에서 </a:t>
            </a:r>
            <a:r>
              <a:rPr sz="1450" b="1">
                <a:solidFill>
                  <a:srgbClr val="0F2440"/>
                </a:solidFill>
                <a:latin typeface="Pretendard"/>
              </a:rPr>
              <a:t>'인용 지분'</a:t>
            </a:r>
            <a:r>
              <a:rPr sz="1450" b="0">
                <a:solidFill>
                  <a:srgbClr val="191919"/>
                </a:solidFill>
                <a:latin typeface="Pretendard"/>
              </a:rPr>
              <a:t>으로 이동합니다.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6928" y="3200400"/>
          <a:ext cx="11057839" cy="2642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743200"/>
                <a:gridCol w="2926080"/>
                <a:gridCol w="3559759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Pretendard"/>
                        </a:rPr>
                        <a:t>단계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Pretendard"/>
                        </a:rPr>
                        <a:t>핵심 최적화 대상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Pretendard"/>
                        </a:rPr>
                        <a:t>유저 행동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Pretendard"/>
                        </a:rPr>
                        <a:t>최종 KPI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91919"/>
                          </a:solidFill>
                          <a:latin typeface="Pretendard"/>
                        </a:rPr>
                        <a:t>01 전통적 SEO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검색 엔진 로봇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키워드 검색→직접 방문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트래픽·클릭률(CTR)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91919"/>
                          </a:solidFill>
                          <a:latin typeface="Pretendard"/>
                        </a:rPr>
                        <a:t>02 진화형 AEO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답변 엔진(ChatGPT 등)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AI 요약 결과 즉시 소비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브랜드 추천·고정 노출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91919"/>
                          </a:solidFill>
                          <a:latin typeface="Pretendard"/>
                        </a:rPr>
                        <a:t>03 미래형 GEO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생성형 LLM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대화형 맥락 탐색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출처 인용 지분(Citation Share)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핵심  </a:t>
            </a:r>
            <a:r>
              <a:rPr sz="950" b="0">
                <a:solidFill>
                  <a:srgbClr val="8A8780"/>
                </a:solidFill>
                <a:latin typeface="Pretendard"/>
              </a:rPr>
              <a:t>목표 KPI가 단계별로 '클릭 → 노출 → 인용'으로 진화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01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배경 및 패러다임 쉬프트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08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SEO·AEO·GEO 관계 구조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서로 </a:t>
            </a:r>
            <a:r>
              <a:rPr sz="3100" b="1">
                <a:solidFill>
                  <a:srgbClr val="E0533D"/>
                </a:solidFill>
                <a:latin typeface="Pretendard"/>
              </a:rPr>
              <a:t>대체</a:t>
            </a:r>
            <a:r>
              <a:rPr sz="3100" b="1">
                <a:solidFill>
                  <a:srgbClr val="191919"/>
                </a:solidFill>
                <a:latin typeface="Pretendard"/>
              </a:rPr>
              <a:t>하지 않고 </a:t>
            </a:r>
            <a:r>
              <a:rPr sz="3100" b="1">
                <a:solidFill>
                  <a:srgbClr val="0075DE"/>
                </a:solidFill>
                <a:latin typeface="Pretendard"/>
              </a:rPr>
              <a:t>확장</a:t>
            </a:r>
            <a:r>
              <a:rPr sz="3100" b="1">
                <a:solidFill>
                  <a:srgbClr val="191919"/>
                </a:solidFill>
                <a:latin typeface="Pretendard"/>
              </a:rPr>
              <a:t>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40280"/>
            <a:ext cx="11057839" cy="77724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240280"/>
            <a:ext cx="1371600" cy="7772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40280"/>
            <a:ext cx="137160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240280"/>
            <a:ext cx="1371600" cy="466344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240280"/>
            <a:ext cx="9274759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GEO·AEO는 SEO를 폐기하는 게 아니라 그 위에 쌓이는 </a:t>
            </a:r>
            <a:r>
              <a:rPr sz="1450" b="1">
                <a:solidFill>
                  <a:srgbClr val="0F2440"/>
                </a:solidFill>
                <a:latin typeface="Pretendard"/>
              </a:rPr>
              <a:t>계층 구조</a:t>
            </a:r>
            <a:r>
              <a:rPr sz="1450" b="0">
                <a:solidFill>
                  <a:srgbClr val="191919"/>
                </a:solidFill>
                <a:latin typeface="Pretendard"/>
              </a:rPr>
              <a:t>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00400"/>
            <a:ext cx="6126480" cy="713232"/>
          </a:xfrm>
          <a:prstGeom prst="rect">
            <a:avLst/>
          </a:prstGeom>
          <a:solidFill>
            <a:srgbClr val="E7F1FC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04088" y="3364992"/>
            <a:ext cx="777240" cy="384048"/>
          </a:xfrm>
          <a:prstGeom prst="round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364992"/>
            <a:ext cx="777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Pretendard"/>
              </a:rPr>
              <a:t>GEO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64207" y="3291840"/>
            <a:ext cx="493776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91919"/>
                </a:solidFill>
                <a:latin typeface="Pretendard"/>
              </a:rPr>
              <a:t>생성형 인용 계층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64207" y="3584448"/>
            <a:ext cx="493776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F4D49"/>
                </a:solidFill>
                <a:latin typeface="Pretendard"/>
              </a:rPr>
              <a:t>LLM 답변 속 출처로 인용 — 최상위 목표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3913632"/>
            <a:ext cx="6126480" cy="713232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04088" y="4078224"/>
            <a:ext cx="777240" cy="384048"/>
          </a:xfrm>
          <a:prstGeom prst="round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078224"/>
            <a:ext cx="777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Pretendard"/>
              </a:rPr>
              <a:t>AEO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64207" y="4005072"/>
            <a:ext cx="493776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91919"/>
                </a:solidFill>
                <a:latin typeface="Pretendard"/>
              </a:rPr>
              <a:t>답변 엔진 노출 계층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64207" y="4297680"/>
            <a:ext cx="493776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F4D49"/>
                </a:solidFill>
                <a:latin typeface="Pretendard"/>
              </a:rPr>
              <a:t>AI 요약·스니펫에 브랜드 노출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626864"/>
            <a:ext cx="6126480" cy="713232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04088" y="4791456"/>
            <a:ext cx="777240" cy="384048"/>
          </a:xfrm>
          <a:prstGeom prst="roundRect">
            <a:avLst/>
          </a:prstGeom>
          <a:solidFill>
            <a:srgbClr val="6B68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4791456"/>
            <a:ext cx="777240" cy="38404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Pretendard"/>
              </a:rPr>
              <a:t>SEO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64207" y="4718304"/>
            <a:ext cx="493776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91919"/>
                </a:solidFill>
                <a:latin typeface="Pretendard"/>
              </a:rPr>
              <a:t>검색 기반(토대)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64207" y="5010912"/>
            <a:ext cx="4937760" cy="292608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4F4D49"/>
                </a:solidFill>
                <a:latin typeface="Pretendard"/>
              </a:rPr>
              <a:t>크롤·색인·랭킹 — 모든 가시성의 출발점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0608" y="3246120"/>
            <a:ext cx="4474159" cy="21945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4F4D49"/>
                </a:solidFill>
                <a:latin typeface="Pretendard"/>
              </a:rPr>
              <a:t>AI Overview 인용의 </a:t>
            </a:r>
            <a:r>
              <a:rPr sz="1500" b="1">
                <a:solidFill>
                  <a:srgbClr val="0075DE"/>
                </a:solidFill>
                <a:latin typeface="Pretendard"/>
              </a:rPr>
              <a:t>99%</a:t>
            </a:r>
            <a:r>
              <a:rPr sz="1500" b="0">
                <a:solidFill>
                  <a:srgbClr val="4F4D49"/>
                </a:solidFill>
                <a:latin typeface="Pretendard"/>
              </a:rPr>
              <a:t>가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4F4D49"/>
                </a:solidFill>
                <a:latin typeface="Pretendard"/>
              </a:rPr>
              <a:t>오가닉 </a:t>
            </a:r>
            <a:r>
              <a:rPr sz="1500" b="1">
                <a:solidFill>
                  <a:srgbClr val="0F2440"/>
                </a:solidFill>
                <a:latin typeface="Pretendard"/>
              </a:rPr>
              <a:t>Top 10</a:t>
            </a:r>
            <a:r>
              <a:rPr sz="1500" b="0">
                <a:solidFill>
                  <a:srgbClr val="4F4D49"/>
                </a:solidFill>
                <a:latin typeface="Pretendard"/>
              </a:rPr>
              <a:t> 에서 발생합니다.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4F4D49"/>
                </a:solidFill>
                <a:latin typeface="Pretendard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4F4D49"/>
                </a:solidFill>
                <a:latin typeface="Pretendard"/>
              </a:rPr>
              <a:t>→ SEO 상위 노출은 GEO·AEO의</a:t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2440"/>
                </a:solidFill>
                <a:latin typeface="Pretendard"/>
              </a:rPr>
              <a:t>   전제 조건</a:t>
            </a:r>
            <a:r>
              <a:rPr sz="1500" b="0">
                <a:solidFill>
                  <a:srgbClr val="4F4D49"/>
                </a:solidFill>
                <a:latin typeface="Pretendard"/>
              </a:rPr>
              <a:t>이며,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4F4D49"/>
                </a:solidFill>
                <a:latin typeface="Pretendard"/>
              </a:rPr>
              <a:t>   하나의 파이프라인으로 통합 운영.</a:t>
            </a:r>
          </a:p>
          <a:p>
            <a:pPr algn="l">
              <a:lnSpc>
                <a:spcPct val="125000"/>
              </a:lnSpc>
            </a:pPr>
            <a:r>
              <a:rPr sz="1500" b="0">
                <a:solidFill>
                  <a:srgbClr val="4F4D49"/>
                </a:solidFill>
                <a:latin typeface="Pretendard"/>
              </a:rPr>
              <a:t/>
            </a:r>
          </a:p>
          <a:p>
            <a:pPr algn="l">
              <a:lnSpc>
                <a:spcPct val="125000"/>
              </a:lnSpc>
            </a:pPr>
            <a:r>
              <a:rPr sz="1500" b="1">
                <a:solidFill>
                  <a:srgbClr val="0F2440"/>
                </a:solidFill>
                <a:latin typeface="Pretendard"/>
              </a:rPr>
              <a:t>대체(Replace)가 아니라 중첩(Stack).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Search Engine Land, WordStream — GEO vs SEO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011680"/>
            <a:ext cx="27432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2E4A6E"/>
                </a:solidFill>
                <a:latin typeface="Pretendard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788920"/>
            <a:ext cx="9144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FB4E6"/>
                </a:solidFill>
                <a:latin typeface="Pretendard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154680"/>
            <a:ext cx="100584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Pretendard"/>
              </a:rPr>
              <a:t>시장 현실 진단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9601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C4D2E6"/>
                </a:solidFill>
                <a:latin typeface="Pretendard"/>
              </a:rPr>
              <a:t>제로클릭은 어디까지 왔고, 사라진 클릭은 어디로 갔는가 — 데이터로 보는 검색 트래픽의 대이동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069080"/>
            <a:ext cx="2011680" cy="36576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enom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167" y="6199632"/>
            <a:ext cx="1371600" cy="265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02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시장 현실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09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제로클릭이 일상이 됐다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검색의 </a:t>
            </a:r>
            <a:r>
              <a:rPr sz="3100" b="1">
                <a:solidFill>
                  <a:srgbClr val="0075DE"/>
                </a:solidFill>
                <a:latin typeface="Pretendard"/>
              </a:rPr>
              <a:t>69%</a:t>
            </a:r>
            <a:r>
              <a:rPr sz="3100" b="1">
                <a:solidFill>
                  <a:srgbClr val="191919"/>
                </a:solidFill>
                <a:latin typeface="Pretendard"/>
              </a:rPr>
              <a:t>는 클릭 없이 끝난다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4937760" cy="24688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937760" cy="9144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17520"/>
            <a:ext cx="4389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D49"/>
                </a:solidFill>
                <a:latin typeface="Pretendard"/>
              </a:rPr>
              <a:t>제로클릭 검색 비중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520440"/>
            <a:ext cx="43891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8200" b="1">
                <a:solidFill>
                  <a:srgbClr val="0F2440"/>
                </a:solidFill>
                <a:latin typeface="Pretendard"/>
              </a:rPr>
              <a:t>69</a:t>
            </a:r>
            <a:r>
              <a:rPr sz="3600" b="1">
                <a:solidFill>
                  <a:srgbClr val="0F2440"/>
                </a:solidFill>
                <a:latin typeface="Pretendard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709160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9D63"/>
                </a:solidFill>
                <a:latin typeface="Pretendard"/>
              </a:rPr>
              <a:t>2024년 56% → 2025년 69%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926080"/>
            <a:ext cx="5571439" cy="2468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4F4D49"/>
                </a:solidFill>
                <a:latin typeface="Pretendard"/>
              </a:rPr>
              <a:t>불과 1년 만에 13%p 급증했습니다.
</a:t>
            </a:r>
            <a:r>
              <a:rPr sz="1600" b="0">
                <a:solidFill>
                  <a:srgbClr val="4F4D49"/>
                </a:solidFill>
                <a:latin typeface="Pretendard"/>
              </a:rPr>
              <a:t>AI 요약이 검색 상단을 점유하며 사용자는 클릭 없이 정보를 소비합니다. 클릭 자체가 희소 자원이 되었습니다.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SparkToro · HubSpot AEO Trends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02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시장 현실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10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1위도 클릭을 보장하지 못한다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1위 노출, 그러나 CTR </a:t>
            </a:r>
            <a:r>
              <a:rPr sz="3100" b="1">
                <a:solidFill>
                  <a:srgbClr val="E0533D"/>
                </a:solidFill>
                <a:latin typeface="Pretendard"/>
              </a:rPr>
              <a:t>2.6%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4937760" cy="24688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937760" cy="91440"/>
          </a:xfrm>
          <a:prstGeom prst="rect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17520"/>
            <a:ext cx="4389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D49"/>
                </a:solidFill>
                <a:latin typeface="Pretendard"/>
              </a:rPr>
              <a:t>AI Overview 노출 시 1위 CTR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520440"/>
            <a:ext cx="43891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8200" b="1">
                <a:solidFill>
                  <a:srgbClr val="0F2440"/>
                </a:solidFill>
                <a:latin typeface="Pretendard"/>
              </a:rPr>
              <a:t>2.6</a:t>
            </a:r>
            <a:r>
              <a:rPr sz="3600" b="1">
                <a:solidFill>
                  <a:srgbClr val="0F2440"/>
                </a:solidFill>
                <a:latin typeface="Pretendard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709160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0533D"/>
                </a:solidFill>
                <a:latin typeface="Pretendard"/>
              </a:rPr>
              <a:t>검색 1위 ≠ 클릭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926080"/>
            <a:ext cx="5571439" cy="2468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4F4D49"/>
                </a:solidFill>
                <a:latin typeface="Pretendard"/>
              </a:rPr>
              <a:t>AI Overview가 상단에 뜨면 1위를 해도 클릭은 단 2.6%.
</a:t>
            </a:r>
            <a:r>
              <a:rPr sz="1600" b="0">
                <a:solidFill>
                  <a:srgbClr val="4F4D49"/>
                </a:solidFill>
                <a:latin typeface="Pretendard"/>
              </a:rPr>
              <a:t>'랭킹 1위 = 트래픽'이라는 공식이 무너졌습니다.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Ahrefs · Gartner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02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시장 현실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11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클릭률의 붕괴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상위 콘텐츠 CTR </a:t>
            </a:r>
            <a:r>
              <a:rPr sz="3100" b="1">
                <a:solidFill>
                  <a:srgbClr val="E0533D"/>
                </a:solidFill>
                <a:latin typeface="Pretendard"/>
              </a:rPr>
              <a:t>−58%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4937760" cy="24688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937760" cy="91440"/>
          </a:xfrm>
          <a:prstGeom prst="rect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17520"/>
            <a:ext cx="4389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D49"/>
                </a:solidFill>
                <a:latin typeface="Pretendard"/>
              </a:rPr>
              <a:t>AI Overview 등장 후 CTR 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520440"/>
            <a:ext cx="43891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8200" b="1">
                <a:solidFill>
                  <a:srgbClr val="0F2440"/>
                </a:solidFill>
                <a:latin typeface="Pretendard"/>
              </a:rPr>
              <a:t>−58</a:t>
            </a:r>
            <a:r>
              <a:rPr sz="3600" b="1">
                <a:solidFill>
                  <a:srgbClr val="0F2440"/>
                </a:solidFill>
                <a:latin typeface="Pretendard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709160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0533D"/>
                </a:solidFill>
                <a:latin typeface="Pretendard"/>
              </a:rPr>
              <a:t>상위 랭킹 페이지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926080"/>
            <a:ext cx="5571439" cy="2468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4F4D49"/>
                </a:solidFill>
                <a:latin typeface="Pretendard"/>
              </a:rPr>
              <a:t>Ahrefs 분석 결과, AI Overview가 노출된 검색에서 상위 콘텐츠의 클릭률이 58% 감소했습니다.
</a:t>
            </a:r>
            <a:r>
              <a:rPr sz="1600" b="0">
                <a:solidFill>
                  <a:srgbClr val="4F4D49"/>
                </a:solidFill>
                <a:latin typeface="Pretendard"/>
              </a:rPr>
              <a:t>트래픽 기반 모델의 근본적 재검토가 필요합니다.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Ahrefs Study 2025–2026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02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시장 현실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12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전통 검색량의 축소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2026년 말, 전통 검색량 </a:t>
            </a:r>
            <a:r>
              <a:rPr sz="3100" b="1">
                <a:solidFill>
                  <a:srgbClr val="E0533D"/>
                </a:solidFill>
                <a:latin typeface="Pretendard"/>
              </a:rPr>
              <a:t>−25~30%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4937760" cy="24688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937760" cy="91440"/>
          </a:xfrm>
          <a:prstGeom prst="rect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17520"/>
            <a:ext cx="4389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D49"/>
                </a:solidFill>
                <a:latin typeface="Pretendard"/>
              </a:rPr>
              <a:t>전통 검색량 전망 (Gartner)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520440"/>
            <a:ext cx="43891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8200" b="1">
                <a:solidFill>
                  <a:srgbClr val="0F2440"/>
                </a:solidFill>
                <a:latin typeface="Pretendard"/>
              </a:rPr>
              <a:t>−30</a:t>
            </a:r>
            <a:r>
              <a:rPr sz="3600" b="1">
                <a:solidFill>
                  <a:srgbClr val="0F2440"/>
                </a:solidFill>
                <a:latin typeface="Pretendard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709160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0533D"/>
                </a:solidFill>
                <a:latin typeface="Pretendard"/>
              </a:rPr>
              <a:t>2026년 말까지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926080"/>
            <a:ext cx="5571439" cy="2468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4F4D49"/>
                </a:solidFill>
                <a:latin typeface="Pretendard"/>
              </a:rPr>
              <a:t>Gartner는 AI 챗봇·요약의 확산으로 전통 검색량이 2026년 말까지 최대 30% 줄어들 것으로 전망합니다.
</a:t>
            </a:r>
            <a:r>
              <a:rPr sz="1600" b="0">
                <a:solidFill>
                  <a:srgbClr val="4F4D49"/>
                </a:solidFill>
                <a:latin typeface="Pretendard"/>
              </a:rPr>
              <a:t>검색 채널의 무게중심이 이동하고 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Gartner Predictions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02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시장 현실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13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제로클릭 현실 — 종합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네 개의 숫자로 보는 </a:t>
            </a:r>
            <a:r>
              <a:rPr sz="3100" b="1">
                <a:solidFill>
                  <a:srgbClr val="0075DE"/>
                </a:solidFill>
                <a:latin typeface="Pretendard"/>
              </a:rPr>
              <a:t>검색의 종말?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11057839" cy="77724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94560"/>
            <a:ext cx="1371600" cy="466344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194560"/>
            <a:ext cx="9274759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검색은 이제 '방문'이 아니라 '소비'로 끝납니다. </a:t>
            </a:r>
            <a:r>
              <a:rPr sz="1450" b="1">
                <a:solidFill>
                  <a:srgbClr val="0F2440"/>
                </a:solidFill>
                <a:latin typeface="Pretendard"/>
              </a:rPr>
              <a:t>클릭은 희소 자원</a:t>
            </a:r>
            <a:r>
              <a:rPr sz="1450" b="0">
                <a:solidFill>
                  <a:srgbClr val="191919"/>
                </a:solidFill>
                <a:latin typeface="Pretendard"/>
              </a:rPr>
              <a:t>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246120"/>
            <a:ext cx="2606040" cy="566927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91919"/>
                </a:solidFill>
                <a:latin typeface="Pretendard"/>
              </a:rPr>
              <a:t>제로클릭 검색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502152"/>
            <a:ext cx="6851599" cy="237744"/>
          </a:xfrm>
          <a:prstGeom prst="rect">
            <a:avLst/>
          </a:prstGeom>
          <a:solidFill>
            <a:srgbClr val="E7E4DF"/>
          </a:solidFill>
          <a:ln w="6350">
            <a:solidFill>
              <a:srgbClr val="D6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0128" y="3502152"/>
            <a:ext cx="4727603" cy="237744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71455" y="3246120"/>
            <a:ext cx="1353312" cy="566927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440"/>
                </a:solidFill>
                <a:latin typeface="Pretendard"/>
              </a:rPr>
              <a:t>69%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995928"/>
            <a:ext cx="2606040" cy="566927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91919"/>
                </a:solidFill>
                <a:latin typeface="Pretendard"/>
              </a:rPr>
              <a:t>AI Overview 1위 CTR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4251960"/>
            <a:ext cx="6851599" cy="237744"/>
          </a:xfrm>
          <a:prstGeom prst="rect">
            <a:avLst/>
          </a:prstGeom>
          <a:solidFill>
            <a:srgbClr val="E7E4DF"/>
          </a:solidFill>
          <a:ln w="6350">
            <a:solidFill>
              <a:srgbClr val="D6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10128" y="4251960"/>
            <a:ext cx="178141" cy="237744"/>
          </a:xfrm>
          <a:prstGeom prst="rect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71455" y="3995928"/>
            <a:ext cx="1353312" cy="566927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440"/>
                </a:solidFill>
                <a:latin typeface="Pretendard"/>
              </a:rPr>
              <a:t>2.6%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745736"/>
            <a:ext cx="2606040" cy="566927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91919"/>
                </a:solidFill>
                <a:latin typeface="Pretendard"/>
              </a:rPr>
              <a:t>상위 CTR 변화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0128" y="5001768"/>
            <a:ext cx="6851599" cy="237744"/>
          </a:xfrm>
          <a:prstGeom prst="rect">
            <a:avLst/>
          </a:prstGeom>
          <a:solidFill>
            <a:srgbClr val="E7E4DF"/>
          </a:solidFill>
          <a:ln w="6350">
            <a:solidFill>
              <a:srgbClr val="D6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0128" y="5001768"/>
            <a:ext cx="3973927" cy="237744"/>
          </a:xfrm>
          <a:prstGeom prst="rect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71455" y="4745736"/>
            <a:ext cx="1353312" cy="566927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440"/>
                </a:solidFill>
                <a:latin typeface="Pretendard"/>
              </a:rPr>
              <a:t>−58%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495544"/>
            <a:ext cx="2606040" cy="566927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91919"/>
                </a:solidFill>
                <a:latin typeface="Pretendard"/>
              </a:rPr>
              <a:t>전통 검색량 전망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0128" y="5751576"/>
            <a:ext cx="6851599" cy="237744"/>
          </a:xfrm>
          <a:prstGeom prst="rect">
            <a:avLst/>
          </a:prstGeom>
          <a:solidFill>
            <a:srgbClr val="E7E4DF"/>
          </a:solidFill>
          <a:ln w="6350">
            <a:solidFill>
              <a:srgbClr val="D6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10128" y="5751576"/>
            <a:ext cx="2055479" cy="237744"/>
          </a:xfrm>
          <a:prstGeom prst="rect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71455" y="5495544"/>
            <a:ext cx="1353312" cy="566927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440"/>
                </a:solidFill>
                <a:latin typeface="Pretendard"/>
              </a:rPr>
              <a:t>−30%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SparkToro · Ahrefs · Gartner (2025–2026)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02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시장 현실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14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새로운 유입의 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AI 추천 트래픽 </a:t>
            </a:r>
            <a:r>
              <a:rPr sz="3100" b="1">
                <a:solidFill>
                  <a:srgbClr val="1F9D63"/>
                </a:solidFill>
                <a:latin typeface="Pretendard"/>
              </a:rPr>
              <a:t>+200%↑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4937760" cy="24688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937760" cy="91440"/>
          </a:xfrm>
          <a:prstGeom prst="rect">
            <a:avLst/>
          </a:prstGeom>
          <a:solidFill>
            <a:srgbClr val="1F9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17520"/>
            <a:ext cx="4389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D49"/>
                </a:solidFill>
                <a:latin typeface="Pretendard"/>
              </a:rPr>
              <a:t>AI 추천 트래픽 성장률 (YoY)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520440"/>
            <a:ext cx="43891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8200" b="1">
                <a:solidFill>
                  <a:srgbClr val="0F2440"/>
                </a:solidFill>
                <a:latin typeface="Pretendard"/>
              </a:rPr>
              <a:t>+200</a:t>
            </a:r>
            <a:r>
              <a:rPr sz="3600" b="1">
                <a:solidFill>
                  <a:srgbClr val="0F2440"/>
                </a:solidFill>
                <a:latin typeface="Pretendard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709160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9D63"/>
                </a:solidFill>
                <a:latin typeface="Pretendard"/>
              </a:rPr>
              <a:t>Q1'25 → Q1'26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926080"/>
            <a:ext cx="5571439" cy="2468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4F4D49"/>
                </a:solidFill>
                <a:latin typeface="Pretendard"/>
              </a:rPr>
              <a:t>사라진 클릭의 반대편에서 AI 경유 유입이 폭발적으로 성장 중입니다.
</a:t>
            </a:r>
            <a:r>
              <a:rPr sz="1600" b="0">
                <a:solidFill>
                  <a:srgbClr val="4F4D49"/>
                </a:solidFill>
                <a:latin typeface="Pretendard"/>
              </a:rPr>
              <a:t>전년 대비 3배 이상. 작지만 가장 빠르게 커지는 채널입니다.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Goodie · upGrowth AI Traffic Report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02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시장 현실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15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채널 무게중심의 이동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2026년 말 추천 트래픽의 </a:t>
            </a:r>
            <a:r>
              <a:rPr sz="3100" b="1">
                <a:solidFill>
                  <a:srgbClr val="0075DE"/>
                </a:solidFill>
                <a:latin typeface="Pretendard"/>
              </a:rPr>
              <a:t>20~28%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4937760" cy="24688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937760" cy="9144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17520"/>
            <a:ext cx="4389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D49"/>
                </a:solidFill>
                <a:latin typeface="Pretendard"/>
              </a:rPr>
              <a:t>전체 웹 추천 트래픽 중 AI 비중 전망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520440"/>
            <a:ext cx="43891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8200" b="1">
                <a:solidFill>
                  <a:srgbClr val="0F2440"/>
                </a:solidFill>
                <a:latin typeface="Pretendard"/>
              </a:rPr>
              <a:t>20–28</a:t>
            </a:r>
            <a:r>
              <a:rPr sz="3600" b="1">
                <a:solidFill>
                  <a:srgbClr val="0F2440"/>
                </a:solidFill>
                <a:latin typeface="Pretendard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709160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75DE"/>
                </a:solidFill>
                <a:latin typeface="Pretendard"/>
              </a:rPr>
              <a:t>2026년 말 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926080"/>
            <a:ext cx="5571439" cy="2468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4F4D49"/>
                </a:solidFill>
                <a:latin typeface="Pretendard"/>
              </a:rPr>
              <a:t>AI 추천이 전체 웹 추천 트래픽의 1/4 이상을 차지할 전망입니다.
</a:t>
            </a:r>
            <a:r>
              <a:rPr sz="1600" b="0">
                <a:solidFill>
                  <a:srgbClr val="4F4D49"/>
                </a:solidFill>
                <a:latin typeface="Pretendard"/>
              </a:rPr>
              <a:t>신규 유입 채널로 빠르게 정착하고 있습니다.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upGrowth · Trakkr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02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시장 현실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16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질문하는 사용자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ChatGPT 주간 사용자 </a:t>
            </a:r>
            <a:r>
              <a:rPr sz="3100" b="1">
                <a:solidFill>
                  <a:srgbClr val="0F2440"/>
                </a:solidFill>
                <a:latin typeface="Pretendard"/>
              </a:rPr>
              <a:t>8~9억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4937760" cy="24688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937760" cy="914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17520"/>
            <a:ext cx="4389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D49"/>
                </a:solidFill>
                <a:latin typeface="Pretendard"/>
              </a:rPr>
              <a:t>ChatGPT Weekly Active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520440"/>
            <a:ext cx="43891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8200" b="1">
                <a:solidFill>
                  <a:srgbClr val="0F2440"/>
                </a:solidFill>
                <a:latin typeface="Pretendard"/>
              </a:rPr>
              <a:t>8–9</a:t>
            </a:r>
            <a:r>
              <a:rPr sz="3600" b="1">
                <a:solidFill>
                  <a:srgbClr val="0F2440"/>
                </a:solidFill>
                <a:latin typeface="Pretendard"/>
              </a:rPr>
              <a:t>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709160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440"/>
                </a:solidFill>
                <a:latin typeface="Pretendard"/>
              </a:rPr>
              <a:t>웹 방문 없이 답변 소비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926080"/>
            <a:ext cx="5571439" cy="2468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4F4D49"/>
                </a:solidFill>
                <a:latin typeface="Pretendard"/>
              </a:rPr>
              <a:t>매주 8~9억 명이 검색 대신 AI에게 질문합니다.
</a:t>
            </a:r>
            <a:r>
              <a:rPr sz="1600" b="0">
                <a:solidFill>
                  <a:srgbClr val="4F4D49"/>
                </a:solidFill>
                <a:latin typeface="Pretendard"/>
              </a:rPr>
              <a:t>이들 대부분은 웹사이트를 방문하지 않고 답변만 소비합니다.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ChatGPT Statistics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02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시장 현실 진단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17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AI 트래픽의 성격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작지만 </a:t>
            </a:r>
            <a:r>
              <a:rPr sz="3100" b="1">
                <a:solidFill>
                  <a:srgbClr val="0075DE"/>
                </a:solidFill>
                <a:latin typeface="Pretendard"/>
              </a:rPr>
              <a:t>고품질</a:t>
            </a:r>
            <a:r>
              <a:rPr sz="3100" b="1">
                <a:solidFill>
                  <a:srgbClr val="191919"/>
                </a:solidFill>
                <a:latin typeface="Pretendard"/>
              </a:rPr>
              <a:t> 유입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40280"/>
            <a:ext cx="11057839" cy="77724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240280"/>
            <a:ext cx="1371600" cy="7772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40280"/>
            <a:ext cx="137160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240280"/>
            <a:ext cx="1371600" cy="466344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240280"/>
            <a:ext cx="9274759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AI 경유 유입은 의도가 명확한 </a:t>
            </a:r>
            <a:r>
              <a:rPr sz="1450" b="1">
                <a:solidFill>
                  <a:srgbClr val="0F2440"/>
                </a:solidFill>
                <a:latin typeface="Pretendard"/>
              </a:rPr>
              <a:t>고전환 트래픽</a:t>
            </a:r>
            <a:r>
              <a:rPr sz="1450" b="0">
                <a:solidFill>
                  <a:srgbClr val="191919"/>
                </a:solidFill>
                <a:latin typeface="Pretendard"/>
              </a:rPr>
              <a:t>입니다. 양이 아니라 질로 봐야 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91840"/>
            <a:ext cx="3527450" cy="210312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291840"/>
            <a:ext cx="64008" cy="210312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9300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양보다 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05072"/>
            <a:ext cx="3070250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검토·구매 단계의 고의도 사용자 비중이 높아 전환율이 우수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2122" y="3291840"/>
            <a:ext cx="3527450" cy="210312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2122" y="3291840"/>
            <a:ext cx="64008" cy="210312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8154" y="349300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측정 사각지대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8154" y="4005072"/>
            <a:ext cx="3070250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노출은 늘지만 클릭으로 잡히지 않아 기존 분석툴에서 누락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7316" y="3291840"/>
            <a:ext cx="3527450" cy="210312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7316" y="3291840"/>
            <a:ext cx="64008" cy="210312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3348" y="349300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선점 효과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3348" y="4005072"/>
            <a:ext cx="3070250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조기 최적화 브랜드가 후발 대비 3.4배 높은 가시성 확보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시사점  </a:t>
            </a:r>
            <a:r>
              <a:rPr sz="950" b="0">
                <a:solidFill>
                  <a:srgbClr val="8A8780"/>
                </a:solidFill>
                <a:latin typeface="Pretendard"/>
              </a:rPr>
              <a:t>기존 GA 기반 측정으로는 보이지 않는 트래픽 — 측정 체계 재설계 필요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011680"/>
            <a:ext cx="27432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2E4A6E"/>
                </a:solidFill>
                <a:latin typeface="Pretendard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788920"/>
            <a:ext cx="9144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FB4E6"/>
                </a:solidFill>
                <a:latin typeface="Pretendard"/>
              </a:rPr>
              <a:t>CHAPTER 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154680"/>
            <a:ext cx="100584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Pretendard"/>
              </a:rPr>
              <a:t>AI 검색 생태계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9601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C4D2E6"/>
                </a:solidFill>
                <a:latin typeface="Pretendard"/>
              </a:rPr>
              <a:t>ChatGPT 독주는 끝났다 — 플랫폼 지형도와, AI가 '누구를' 인용하는가의 법칙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069080"/>
            <a:ext cx="2011680" cy="36576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enom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167" y="6199632"/>
            <a:ext cx="1371600" cy="26516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03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AI 검색 생태계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18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AI 검색 플랫폼 지형도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독주의 균열, </a:t>
            </a:r>
            <a:r>
              <a:rPr sz="3100" b="1">
                <a:solidFill>
                  <a:srgbClr val="0075DE"/>
                </a:solidFill>
                <a:latin typeface="Pretendard"/>
              </a:rPr>
              <a:t>멀티 엔진</a:t>
            </a:r>
            <a:r>
              <a:rPr sz="3100" b="1">
                <a:solidFill>
                  <a:srgbClr val="191919"/>
                </a:solidFill>
                <a:latin typeface="Pretendard"/>
              </a:rPr>
              <a:t> 시대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11057839" cy="77724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94560"/>
            <a:ext cx="1371600" cy="466344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194560"/>
            <a:ext cx="9274759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한 곳이 아닌 </a:t>
            </a:r>
            <a:r>
              <a:rPr sz="1450" b="1">
                <a:solidFill>
                  <a:srgbClr val="0F2440"/>
                </a:solidFill>
                <a:latin typeface="Pretendard"/>
              </a:rPr>
              <a:t>'Big 4' 전반의 인용</a:t>
            </a:r>
            <a:r>
              <a:rPr sz="1450" b="0">
                <a:solidFill>
                  <a:srgbClr val="191919"/>
                </a:solidFill>
                <a:latin typeface="Pretendard"/>
              </a:rPr>
              <a:t>을 동시에 노려야 합니다.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6928" y="3200400"/>
          <a:ext cx="11057839" cy="2770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2926080"/>
                <a:gridCol w="1554480"/>
                <a:gridCol w="4748479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Pretendard"/>
                        </a:rPr>
                        <a:t>플랫폼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Pretendard"/>
                        </a:rPr>
                        <a:t>AI 추천 점유 추세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Pretendard"/>
                        </a:rPr>
                        <a:t>현재 점유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Pretendard"/>
                        </a:rPr>
                        <a:t>특징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91919"/>
                          </a:solidFill>
                          <a:latin typeface="Pretendard"/>
                        </a:rPr>
                        <a:t>ChatGPT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89% → 62.6% (하락)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62.6%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여전히 최대, 그러나 하락 추세 (’25.10→’26.4)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91919"/>
                          </a:solidFill>
                          <a:latin typeface="Pretendard"/>
                        </a:rPr>
                        <a:t>Claude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1.4% → 18.5% (급등)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18.5%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가장 극적인 점유 상승, 신규 #2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91919"/>
                          </a:solidFill>
                          <a:latin typeface="Pretendard"/>
                        </a:rPr>
                        <a:t>Gemini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상승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~9%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구글 생태계·AI Overview 연동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91919"/>
                          </a:solidFill>
                          <a:latin typeface="Pretendard"/>
                        </a:rPr>
                        <a:t>Perplexity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유지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~7.3%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출처 인용 중심, 리서치 특화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upGrowth·Conductor·Goodie AI Search Traffic Report 2026 (측정처별 편차 존재)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03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AI 검색 생태계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19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ChatGPT 독주의 균열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점유 </a:t>
            </a:r>
            <a:r>
              <a:rPr sz="3100" b="1">
                <a:solidFill>
                  <a:srgbClr val="E0533D"/>
                </a:solidFill>
                <a:latin typeface="Pretendard"/>
              </a:rPr>
              <a:t>89% → 62.6%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4937760" cy="24688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937760" cy="91440"/>
          </a:xfrm>
          <a:prstGeom prst="rect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17520"/>
            <a:ext cx="4389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D49"/>
                </a:solidFill>
                <a:latin typeface="Pretendard"/>
              </a:rPr>
              <a:t>ChatGPT AI 추천 점유 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520440"/>
            <a:ext cx="43891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8200" b="1">
                <a:solidFill>
                  <a:srgbClr val="0F2440"/>
                </a:solidFill>
                <a:latin typeface="Pretendard"/>
              </a:rPr>
              <a:t>62.6</a:t>
            </a:r>
            <a:r>
              <a:rPr sz="3600" b="1">
                <a:solidFill>
                  <a:srgbClr val="0F2440"/>
                </a:solidFill>
                <a:latin typeface="Pretendard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709160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0533D"/>
                </a:solidFill>
                <a:latin typeface="Pretendard"/>
              </a:rPr>
              <a:t>’25.10: 89% → ’26.4: 62.6%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926080"/>
            <a:ext cx="5571439" cy="2468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4F4D49"/>
                </a:solidFill>
                <a:latin typeface="Pretendard"/>
              </a:rPr>
              <a:t>불과 6개월 만에 점유율이 26%p 넘게 하락했습니다.
</a:t>
            </a:r>
            <a:r>
              <a:rPr sz="1600" b="0">
                <a:solidFill>
                  <a:srgbClr val="4F4D49"/>
                </a:solidFill>
                <a:latin typeface="Pretendard"/>
              </a:rPr>
              <a:t>단일 플랫폼 의존 전략의 위험을 보여줍니다.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Conductor · upGrowth 2026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03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AI 검색 생태계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20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Claude의 급부상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점유 </a:t>
            </a:r>
            <a:r>
              <a:rPr sz="3100" b="1">
                <a:solidFill>
                  <a:srgbClr val="1F9D63"/>
                </a:solidFill>
                <a:latin typeface="Pretendard"/>
              </a:rPr>
              <a:t>1.4% → 18.5%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4937760" cy="24688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937760" cy="91440"/>
          </a:xfrm>
          <a:prstGeom prst="rect">
            <a:avLst/>
          </a:prstGeom>
          <a:solidFill>
            <a:srgbClr val="1F9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17520"/>
            <a:ext cx="4389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D49"/>
                </a:solidFill>
                <a:latin typeface="Pretendard"/>
              </a:rPr>
              <a:t>Claude AI 추천 점유 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520440"/>
            <a:ext cx="43891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8200" b="1">
                <a:solidFill>
                  <a:srgbClr val="0F2440"/>
                </a:solidFill>
                <a:latin typeface="Pretendard"/>
              </a:rPr>
              <a:t>18.5</a:t>
            </a:r>
            <a:r>
              <a:rPr sz="3600" b="1">
                <a:solidFill>
                  <a:srgbClr val="0F2440"/>
                </a:solidFill>
                <a:latin typeface="Pretendard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709160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9D63"/>
                </a:solidFill>
                <a:latin typeface="Pretendard"/>
              </a:rPr>
              <a:t>가장 극적인 상승, 신규 #2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926080"/>
            <a:ext cx="5571439" cy="2468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4F4D49"/>
                </a:solidFill>
                <a:latin typeface="Pretendard"/>
              </a:rPr>
              <a:t>Claude가 1.4%에서 18.5%로 급등하며 2위로 올라섰습니다.
</a:t>
            </a:r>
            <a:r>
              <a:rPr sz="1600" b="0">
                <a:solidFill>
                  <a:srgbClr val="4F4D49"/>
                </a:solidFill>
                <a:latin typeface="Pretendard"/>
              </a:rPr>
              <a:t>플랫폼 지형은 빠르게 재편되고 있으며, 멀티 엔진 대응이 필수입니다.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AI Search Market Share 2026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03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AI 검색 생태계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21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누가 인용되는가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AI는 </a:t>
            </a:r>
            <a:r>
              <a:rPr sz="3100" b="1">
                <a:solidFill>
                  <a:srgbClr val="0075DE"/>
                </a:solidFill>
                <a:latin typeface="Pretendard"/>
              </a:rPr>
              <a:t>신뢰 가능한 1차 출처</a:t>
            </a:r>
            <a:r>
              <a:rPr sz="3100" b="1">
                <a:solidFill>
                  <a:srgbClr val="191919"/>
                </a:solidFill>
                <a:latin typeface="Pretendard"/>
              </a:rPr>
              <a:t>를 인용한다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11057839" cy="77724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94560"/>
            <a:ext cx="1371600" cy="466344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194560"/>
            <a:ext cx="9274759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권위 있는 위키·커뮤니티·1차 자료가 우선 인용됩니다. </a:t>
            </a:r>
            <a:r>
              <a:rPr sz="1450" b="1">
                <a:solidFill>
                  <a:srgbClr val="0F2440"/>
                </a:solidFill>
                <a:latin typeface="Pretendard"/>
              </a:rPr>
              <a:t>구조화·일관성·신선도</a:t>
            </a:r>
            <a:r>
              <a:rPr sz="1450" b="0">
                <a:solidFill>
                  <a:srgbClr val="191919"/>
                </a:solidFill>
                <a:latin typeface="Pretendard"/>
              </a:rPr>
              <a:t>가 인용을 가릅니다.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3246120"/>
            <a:ext cx="2606040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91919"/>
                </a:solidFill>
                <a:latin typeface="Pretendard"/>
              </a:rPr>
              <a:t>Wikipedia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10128" y="3493008"/>
            <a:ext cx="6851599" cy="237744"/>
          </a:xfrm>
          <a:prstGeom prst="rect">
            <a:avLst/>
          </a:prstGeom>
          <a:solidFill>
            <a:srgbClr val="E7E4DF"/>
          </a:solidFill>
          <a:ln w="6350">
            <a:solidFill>
              <a:srgbClr val="D6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310128" y="3493008"/>
            <a:ext cx="6851599" cy="237744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71455" y="3246120"/>
            <a:ext cx="1353312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440"/>
                </a:solidFill>
                <a:latin typeface="Pretendard"/>
              </a:rPr>
              <a:t>6.2%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977639"/>
            <a:ext cx="2606040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91919"/>
                </a:solidFill>
                <a:latin typeface="Pretendard"/>
              </a:rPr>
              <a:t>Reddit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4224528"/>
            <a:ext cx="6851599" cy="237744"/>
          </a:xfrm>
          <a:prstGeom prst="rect">
            <a:avLst/>
          </a:prstGeom>
          <a:solidFill>
            <a:srgbClr val="E7E4DF"/>
          </a:solidFill>
          <a:ln w="6350">
            <a:solidFill>
              <a:srgbClr val="D6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10128" y="4224528"/>
            <a:ext cx="5755343" cy="237744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71455" y="3977639"/>
            <a:ext cx="1353312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440"/>
                </a:solidFill>
                <a:latin typeface="Pretendard"/>
              </a:rPr>
              <a:t>5.2%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4709160"/>
            <a:ext cx="2606040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91919"/>
                </a:solidFill>
                <a:latin typeface="Pretendard"/>
              </a:rPr>
              <a:t>OpenAI 자사 도메인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10128" y="4956048"/>
            <a:ext cx="6851599" cy="237744"/>
          </a:xfrm>
          <a:prstGeom prst="rect">
            <a:avLst/>
          </a:prstGeom>
          <a:solidFill>
            <a:srgbClr val="E7E4DF"/>
          </a:solidFill>
          <a:ln w="6350">
            <a:solidFill>
              <a:srgbClr val="D6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10128" y="4956048"/>
            <a:ext cx="3562831" cy="237744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271455" y="4709160"/>
            <a:ext cx="1353312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440"/>
                </a:solidFill>
                <a:latin typeface="Pretendard"/>
              </a:rPr>
              <a:t>3.2%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5440680"/>
            <a:ext cx="2606040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91919"/>
                </a:solidFill>
                <a:latin typeface="Pretendard"/>
              </a:rPr>
              <a:t>YouTube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0128" y="5687568"/>
            <a:ext cx="6851599" cy="237744"/>
          </a:xfrm>
          <a:prstGeom prst="rect">
            <a:avLst/>
          </a:prstGeom>
          <a:solidFill>
            <a:srgbClr val="E7E4DF"/>
          </a:solidFill>
          <a:ln w="6350">
            <a:solidFill>
              <a:srgbClr val="D6D2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10128" y="5687568"/>
            <a:ext cx="1849931" cy="237744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271455" y="5440680"/>
            <a:ext cx="1353312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F2440"/>
                </a:solidFill>
                <a:latin typeface="Pretendard"/>
              </a:rPr>
              <a:t>1.7%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ChatGPT 인용 출처 상위 · 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Conductor · Similarweb Gen AI Stats 2026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03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AI 검색 생태계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22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인용을 부르는 3가지 법칙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인용되는 콘텐츠의 </a:t>
            </a:r>
            <a:r>
              <a:rPr sz="3100" b="1">
                <a:solidFill>
                  <a:srgbClr val="0075DE"/>
                </a:solidFill>
                <a:latin typeface="Pretendard"/>
              </a:rPr>
              <a:t>공통점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11057839" cy="77724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94560"/>
            <a:ext cx="1371600" cy="466344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194560"/>
            <a:ext cx="9274759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AI 인용은 운이 아니라 </a:t>
            </a:r>
            <a:r>
              <a:rPr sz="1450" b="1">
                <a:solidFill>
                  <a:srgbClr val="0F2440"/>
                </a:solidFill>
                <a:latin typeface="Pretendard"/>
              </a:rPr>
              <a:t>설계의 결과</a:t>
            </a:r>
            <a:r>
              <a:rPr sz="1450" b="0">
                <a:solidFill>
                  <a:srgbClr val="191919"/>
                </a:solidFill>
                <a:latin typeface="Pretendard"/>
              </a:rPr>
              <a:t>입니다. 세 가지 원칙이 인용 여부를 결정합니다.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91840"/>
            <a:ext cx="3527450" cy="210312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291840"/>
            <a:ext cx="64008" cy="210312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9300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① 1차 출처화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05072"/>
            <a:ext cx="3070250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자사 콘텐츠를 LLM이 참조하는 '진실의 원천(Source of Truth)'으로 구축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2122" y="3291840"/>
            <a:ext cx="3527450" cy="210312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2122" y="3291840"/>
            <a:ext cx="64008" cy="210312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8154" y="349300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② 엔티티 일관성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8154" y="4005072"/>
            <a:ext cx="3070250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브랜드·제품 정보를 도메인 전반에 모순 없이 통일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7316" y="3291840"/>
            <a:ext cx="3527450" cy="210312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7316" y="3291840"/>
            <a:ext cx="64008" cy="210312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3348" y="349300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③ 신선도 (3개월 룰)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3348" y="4005072"/>
            <a:ext cx="3070250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3개월 이상 묵은 콘텐츠는 인용 급감 — 강한 최신성 편향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aeoengine.ai GEO Strategies 2026 · Google AI Optimization Guide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011680"/>
            <a:ext cx="27432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2E4A6E"/>
                </a:solidFill>
                <a:latin typeface="Pretendard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788920"/>
            <a:ext cx="9144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FB4E6"/>
                </a:solidFill>
                <a:latin typeface="Pretendard"/>
              </a:rPr>
              <a:t>CHAPTER 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154680"/>
            <a:ext cx="100584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Pretendard"/>
              </a:rPr>
              <a:t>GEO·AEO 실행 전략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9601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C4D2E6"/>
                </a:solidFill>
                <a:latin typeface="Pretendard"/>
              </a:rPr>
              <a:t>인용을 만드는 두 개의 플레이북 — 콘텐츠·구조화 그리고 기술·권위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069080"/>
            <a:ext cx="2011680" cy="36576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enom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167" y="6199632"/>
            <a:ext cx="1371600" cy="26516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04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GEO·AEO 실행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23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GEO 플레이북 ① 콘텐츠·구조화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답변 우선 포맷과 </a:t>
            </a:r>
            <a:r>
              <a:rPr sz="3100" b="1">
                <a:solidFill>
                  <a:srgbClr val="0075DE"/>
                </a:solidFill>
                <a:latin typeface="Pretendard"/>
              </a:rPr>
              <a:t>스키마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11057839" cy="77724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94560"/>
            <a:ext cx="1371600" cy="466344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194560"/>
            <a:ext cx="9274759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'답변 우선(Answer-first)' 구조와 스키마는 </a:t>
            </a:r>
            <a:r>
              <a:rPr sz="1450" b="1">
                <a:solidFill>
                  <a:srgbClr val="0F2440"/>
                </a:solidFill>
                <a:latin typeface="Pretendard"/>
              </a:rPr>
              <a:t>인용을 막던 장벽을 제거</a:t>
            </a:r>
            <a:r>
              <a:rPr sz="1450" b="0">
                <a:solidFill>
                  <a:srgbClr val="191919"/>
                </a:solidFill>
                <a:latin typeface="Pretendard"/>
              </a:rPr>
              <a:t>합니다.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6928" y="3200400"/>
          <a:ext cx="11057839" cy="2770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94560"/>
                <a:gridCol w="6211519"/>
                <a:gridCol w="265176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전술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실행 방법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효과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91919"/>
                          </a:solidFill>
                          <a:latin typeface="Pretendard"/>
                        </a:rPr>
                        <a:t>답변 우선 포맷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결론을 먼저, 통계·출처로 뒷받침하는 역피라미드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스니펫 인용률 ↑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91919"/>
                          </a:solidFill>
                          <a:latin typeface="Pretendard"/>
                        </a:rPr>
                        <a:t>스키마 마크업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Organization + Article + FAQ Tier-1 완비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AI Overview 노출 +40%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91919"/>
                          </a:solidFill>
                          <a:latin typeface="Pretendard"/>
                        </a:rPr>
                        <a:t>신선도 관리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핵심 페이지 3개월 주기 갱신, 발행·수정일 명시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최신성 편향 대응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91919"/>
                          </a:solidFill>
                          <a:latin typeface="Pretendard"/>
                        </a:rPr>
                        <a:t>llms.txt (보조)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AI 이해용 사이트 요약 — Google AIO엔 효과 제한적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과신 금지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효과  </a:t>
            </a:r>
            <a:r>
              <a:rPr sz="950" b="0">
                <a:solidFill>
                  <a:srgbClr val="8A8780"/>
                </a:solidFill>
                <a:latin typeface="Pretendard"/>
              </a:rPr>
              <a:t>완전한 Tier-1 스키마 보유 시 AI Overview 노출 약 +40% (aeoengine.ai 2026)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04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GEO·AEO 실행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24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구조화 데이터의 효과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스키마 완비 → 노출 </a:t>
            </a:r>
            <a:r>
              <a:rPr sz="3100" b="1">
                <a:solidFill>
                  <a:srgbClr val="1F9D63"/>
                </a:solidFill>
                <a:latin typeface="Pretendard"/>
              </a:rPr>
              <a:t>+40%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4937760" cy="24688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937760" cy="91440"/>
          </a:xfrm>
          <a:prstGeom prst="rect">
            <a:avLst/>
          </a:prstGeom>
          <a:solidFill>
            <a:srgbClr val="1F9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17520"/>
            <a:ext cx="4389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D49"/>
                </a:solidFill>
                <a:latin typeface="Pretendard"/>
              </a:rPr>
              <a:t>Tier-1 스키마 보유 시 AI Overview 노출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520440"/>
            <a:ext cx="43891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8200" b="1">
                <a:solidFill>
                  <a:srgbClr val="0F2440"/>
                </a:solidFill>
                <a:latin typeface="Pretendard"/>
              </a:rPr>
              <a:t>+40</a:t>
            </a:r>
            <a:r>
              <a:rPr sz="3600" b="1">
                <a:solidFill>
                  <a:srgbClr val="0F2440"/>
                </a:solidFill>
                <a:latin typeface="Pretendard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709160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9D63"/>
                </a:solidFill>
                <a:latin typeface="Pretendard"/>
              </a:rPr>
              <a:t>Org + Article + FAQ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926080"/>
            <a:ext cx="5571439" cy="2468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4F4D49"/>
                </a:solidFill>
                <a:latin typeface="Pretendard"/>
              </a:rPr>
              <a:t>스키마가 인용을 보장하진 않지만, 인용을 '막는' 장벽은 확실히 제거합니다.
</a:t>
            </a:r>
            <a:r>
              <a:rPr sz="1600" b="0">
                <a:solidFill>
                  <a:srgbClr val="4F4D49"/>
                </a:solidFill>
                <a:latin typeface="Pretendard"/>
              </a:rPr>
              <a:t>기계가 엔티티를 명확히 이해하게 만드는 가장 기본적인 투자입니다.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aeoengine.ai 2026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04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GEO·AEO 실행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25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답변 우선 포맷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AI가 </a:t>
            </a:r>
            <a:r>
              <a:rPr sz="3100" b="1">
                <a:solidFill>
                  <a:srgbClr val="0075DE"/>
                </a:solidFill>
                <a:latin typeface="Pretendard"/>
              </a:rPr>
              <a:t>그대로 인용</a:t>
            </a:r>
            <a:r>
              <a:rPr sz="3100" b="1">
                <a:solidFill>
                  <a:srgbClr val="191919"/>
                </a:solidFill>
                <a:latin typeface="Pretendard"/>
              </a:rPr>
              <a:t>하게 쓰는 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40280"/>
            <a:ext cx="11057839" cy="82296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240280"/>
            <a:ext cx="1371600" cy="82296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40280"/>
            <a:ext cx="1371600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240280"/>
            <a:ext cx="1371600" cy="512064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240280"/>
            <a:ext cx="9274759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질문에 대한 답을 </a:t>
            </a:r>
            <a:r>
              <a:rPr sz="1450" b="1">
                <a:solidFill>
                  <a:srgbClr val="0F2440"/>
                </a:solidFill>
                <a:latin typeface="Pretendard"/>
              </a:rPr>
              <a:t>문단 맨 앞 1~2문장</a:t>
            </a:r>
            <a:r>
              <a:rPr sz="1450" b="0">
                <a:solidFill>
                  <a:srgbClr val="191919"/>
                </a:solidFill>
                <a:latin typeface="Pretendard"/>
              </a:rPr>
              <a:t>에 명료하게 제시하면 스니펫 인용 확률이 높아집니다.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337560"/>
            <a:ext cx="3527450" cy="210312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337560"/>
            <a:ext cx="64008" cy="210312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53872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결론 먼저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50791"/>
            <a:ext cx="3070250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역피라미드 — 핵심 답을 첫 문장에, 근거는 뒤에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2122" y="3337560"/>
            <a:ext cx="3527450" cy="210312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2122" y="3337560"/>
            <a:ext cx="64008" cy="210312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8154" y="353872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근거 동반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8154" y="4050791"/>
            <a:ext cx="3070250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주장마다 통계·출처를 붙여 신뢰도 강화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7316" y="3337560"/>
            <a:ext cx="3527450" cy="210312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7316" y="3337560"/>
            <a:ext cx="64008" cy="210312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3348" y="353872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질문 형태 제목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3348" y="4050791"/>
            <a:ext cx="3070250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사용자의 자연어 질문과 매칭되는 H2/H3 구성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원칙  </a:t>
            </a:r>
            <a:r>
              <a:rPr sz="950" b="0">
                <a:solidFill>
                  <a:srgbClr val="8A8780"/>
                </a:solidFill>
                <a:latin typeface="Pretendard"/>
              </a:rPr>
              <a:t>Make summaries terse and support assertions with credible references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04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GEO·AEO 실행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26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신선도 — 3개월 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3개월 지난 콘텐츠, </a:t>
            </a:r>
            <a:r>
              <a:rPr sz="3100" b="1">
                <a:solidFill>
                  <a:srgbClr val="E0533D"/>
                </a:solidFill>
                <a:latin typeface="Pretendard"/>
              </a:rPr>
              <a:t>인용 급감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4937760" cy="24688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937760" cy="91440"/>
          </a:xfrm>
          <a:prstGeom prst="rect">
            <a:avLst/>
          </a:prstGeom>
          <a:solidFill>
            <a:srgbClr val="E05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17520"/>
            <a:ext cx="4389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D49"/>
                </a:solidFill>
                <a:latin typeface="Pretendard"/>
              </a:rPr>
              <a:t>AI 인용의 최신성 편향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520440"/>
            <a:ext cx="43891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8200" b="1">
                <a:solidFill>
                  <a:srgbClr val="0F2440"/>
                </a:solidFill>
                <a:latin typeface="Pretendard"/>
              </a:rPr>
              <a:t>3</a:t>
            </a:r>
            <a:r>
              <a:rPr sz="3600" b="1">
                <a:solidFill>
                  <a:srgbClr val="0F2440"/>
                </a:solidFill>
                <a:latin typeface="Pretendard"/>
              </a:rPr>
              <a:t>개월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709160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0533D"/>
                </a:solidFill>
                <a:latin typeface="Pretendard"/>
              </a:rPr>
              <a:t>이후 인용률 급감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926080"/>
            <a:ext cx="5571439" cy="2468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4F4D49"/>
                </a:solidFill>
                <a:latin typeface="Pretendard"/>
              </a:rPr>
              <a:t>AI는 강한 최신성 편향을 가집니다. 3개월 이상 갱신되지 않은 콘텐츠는 인용에서 빠르게 밀려납니다.
</a:t>
            </a:r>
            <a:r>
              <a:rPr sz="1600" b="0">
                <a:solidFill>
                  <a:srgbClr val="4F4D49"/>
                </a:solidFill>
                <a:latin typeface="Pretendard"/>
              </a:rPr>
              <a:t>핵심 페이지의 정기 갱신과 날짜 명시가 필수입니다.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aeoengine.ai · GEO Best Practices 2026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04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GEO·AEO 실행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27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GEO 플레이북 ② 기술·권위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빠른 페이지와 </a:t>
            </a:r>
            <a:r>
              <a:rPr sz="3100" b="1">
                <a:solidFill>
                  <a:srgbClr val="0075DE"/>
                </a:solidFill>
                <a:latin typeface="Pretendard"/>
              </a:rPr>
              <a:t>권위 신호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11057839" cy="77724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94560"/>
            <a:ext cx="1371600" cy="466344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194560"/>
            <a:ext cx="9274759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페이지 속도와 외부 권위(E-E-A-T) 신호는 </a:t>
            </a:r>
            <a:r>
              <a:rPr sz="1450" b="1">
                <a:solidFill>
                  <a:srgbClr val="0F2440"/>
                </a:solidFill>
                <a:latin typeface="Pretendard"/>
              </a:rPr>
              <a:t>인용 확률을 직접 끌어올립니다</a:t>
            </a:r>
            <a:r>
              <a:rPr sz="1450" b="0">
                <a:solidFill>
                  <a:srgbClr val="191919"/>
                </a:solidFill>
                <a:latin typeface="Pretendard"/>
              </a:rPr>
              <a:t>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00400"/>
            <a:ext cx="3515258" cy="265176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200400"/>
            <a:ext cx="3515258" cy="73152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56432"/>
            <a:ext cx="3058058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4F4D49"/>
                </a:solidFill>
                <a:latin typeface="Pretendard"/>
              </a:rPr>
              <a:t>FCP &lt; 0.4초 페이지 인용 확률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101998"/>
            <a:ext cx="3058058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5600" b="1">
                <a:solidFill>
                  <a:srgbClr val="0F2440"/>
                </a:solidFill>
                <a:latin typeface="Pretendard"/>
              </a:rPr>
              <a:t>3</a:t>
            </a:r>
            <a:r>
              <a:rPr sz="2600" b="1">
                <a:solidFill>
                  <a:srgbClr val="0F2440"/>
                </a:solidFill>
                <a:latin typeface="Pretendard"/>
              </a:rPr>
              <a:t>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92040"/>
            <a:ext cx="3058058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4D49"/>
                </a:solidFill>
                <a:latin typeface="Pretendard"/>
              </a:rPr>
              <a:t>vs 1.13초 초과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48656"/>
            <a:ext cx="3058058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8A8780"/>
                </a:solidFill>
                <a:latin typeface="Pretendard"/>
              </a:rPr>
              <a:t>빠른 첫 렌더가 인용 가능성 결정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38218" y="3200400"/>
            <a:ext cx="3515258" cy="265176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38218" y="3200400"/>
            <a:ext cx="3515258" cy="73152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4250" y="3456432"/>
            <a:ext cx="3058058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4F4D49"/>
                </a:solidFill>
                <a:latin typeface="Pretendard"/>
              </a:rPr>
              <a:t>AI Overview 인용의 출처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5962" y="4101998"/>
            <a:ext cx="3058058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5600" b="1">
                <a:solidFill>
                  <a:srgbClr val="0F2440"/>
                </a:solidFill>
                <a:latin typeface="Pretendard"/>
              </a:rPr>
              <a:t>99</a:t>
            </a:r>
            <a:r>
              <a:rPr sz="2600" b="1">
                <a:solidFill>
                  <a:srgbClr val="0F2440"/>
                </a:solidFill>
                <a:latin typeface="Pretendard"/>
              </a:rPr>
              <a:t>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4250" y="4892040"/>
            <a:ext cx="3058058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4F4D49"/>
                </a:solidFill>
                <a:latin typeface="Pretendard"/>
              </a:rPr>
              <a:t>오가닉 Top 10에서 발생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94250" y="5248656"/>
            <a:ext cx="3058058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8A8780"/>
                </a:solidFill>
                <a:latin typeface="Pretendard"/>
              </a:rPr>
              <a:t>SEO 상위 = 인용 후보 진입 조건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09508" y="3200400"/>
            <a:ext cx="3515258" cy="265176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09508" y="3200400"/>
            <a:ext cx="3515258" cy="73152"/>
          </a:xfrm>
          <a:prstGeom prst="rect">
            <a:avLst/>
          </a:prstGeom>
          <a:solidFill>
            <a:srgbClr val="1F9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5540" y="3456432"/>
            <a:ext cx="3058058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4F4D49"/>
                </a:solidFill>
                <a:latin typeface="Pretendard"/>
              </a:rPr>
              <a:t>GEO 사이트 AI 인용량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47252" y="4101998"/>
            <a:ext cx="3058058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5600" b="1">
                <a:solidFill>
                  <a:srgbClr val="0F2440"/>
                </a:solidFill>
                <a:latin typeface="Pretendard"/>
              </a:rPr>
              <a:t>3</a:t>
            </a:r>
            <a:r>
              <a:rPr sz="2600" b="1">
                <a:solidFill>
                  <a:srgbClr val="0F2440"/>
                </a:solidFill>
                <a:latin typeface="Pretendard"/>
              </a:rPr>
              <a:t>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5540" y="4892040"/>
            <a:ext cx="3058058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F9D63"/>
                </a:solidFill>
                <a:latin typeface="Pretendard"/>
              </a:rPr>
              <a:t>vs 전통 SEO 단독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5540" y="5248656"/>
            <a:ext cx="3058058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8A8780"/>
                </a:solidFill>
                <a:latin typeface="Pretendard"/>
              </a:rPr>
              <a:t>최대 3배 더 많은 AI 답변 인용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aeoengine.ai · Search Engine Journal 2026 · Google AI Optimization Guide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04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GEO·AEO 실행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28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속도가 인용을 결정한다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FCP &lt; 0.4초 → 인용 </a:t>
            </a:r>
            <a:r>
              <a:rPr sz="3100" b="1">
                <a:solidFill>
                  <a:srgbClr val="1F9D63"/>
                </a:solidFill>
                <a:latin typeface="Pretendard"/>
              </a:rPr>
              <a:t>3배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4937760" cy="24688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937760" cy="91440"/>
          </a:xfrm>
          <a:prstGeom prst="rect">
            <a:avLst/>
          </a:prstGeom>
          <a:solidFill>
            <a:srgbClr val="1F9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17520"/>
            <a:ext cx="4389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D49"/>
                </a:solidFill>
                <a:latin typeface="Pretendard"/>
              </a:rPr>
              <a:t>ChatGPT 인용 확률 (FCP&lt;0.4s vs &gt;1.13s)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520440"/>
            <a:ext cx="43891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8200" b="1">
                <a:solidFill>
                  <a:srgbClr val="0F2440"/>
                </a:solidFill>
                <a:latin typeface="Pretendard"/>
              </a:rPr>
              <a:t>3</a:t>
            </a:r>
            <a:r>
              <a:rPr sz="3600" b="1">
                <a:solidFill>
                  <a:srgbClr val="0F2440"/>
                </a:solidFill>
                <a:latin typeface="Pretendard"/>
              </a:rPr>
              <a:t>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709160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9D63"/>
                </a:solidFill>
                <a:latin typeface="Pretendard"/>
              </a:rPr>
              <a:t>First Contentful Paint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926080"/>
            <a:ext cx="5571439" cy="2468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4F4D49"/>
                </a:solidFill>
                <a:latin typeface="Pretendard"/>
              </a:rPr>
              <a:t>첫 콘텐츠 렌더가 0.4초 미만인 페이지는 1.13초 초과 페이지보다 3배 더 자주 인용됩니다.
</a:t>
            </a:r>
            <a:r>
              <a:rPr sz="1600" b="0">
                <a:solidFill>
                  <a:srgbClr val="4F4D49"/>
                </a:solidFill>
                <a:latin typeface="Pretendard"/>
              </a:rPr>
              <a:t>기술 SEO(코어 웹 바이탈)가 곧 GEO 경쟁력입니다.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aeoengine.ai 2026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04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GEO·AEO 실행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29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SEO는 GEO의 입장권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AI 인용의 </a:t>
            </a:r>
            <a:r>
              <a:rPr sz="3100" b="1">
                <a:solidFill>
                  <a:srgbClr val="0F2440"/>
                </a:solidFill>
                <a:latin typeface="Pretendard"/>
              </a:rPr>
              <a:t>99%</a:t>
            </a:r>
            <a:r>
              <a:rPr sz="3100" b="1">
                <a:solidFill>
                  <a:srgbClr val="191919"/>
                </a:solidFill>
                <a:latin typeface="Pretendard"/>
              </a:rPr>
              <a:t>는 Top 10에서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4937760" cy="24688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937760" cy="914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17520"/>
            <a:ext cx="4389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D49"/>
                </a:solidFill>
                <a:latin typeface="Pretendard"/>
              </a:rPr>
              <a:t>AI Overview 인용의 출처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520440"/>
            <a:ext cx="43891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8200" b="1">
                <a:solidFill>
                  <a:srgbClr val="0F2440"/>
                </a:solidFill>
                <a:latin typeface="Pretendard"/>
              </a:rPr>
              <a:t>99</a:t>
            </a:r>
            <a:r>
              <a:rPr sz="3600" b="1">
                <a:solidFill>
                  <a:srgbClr val="0F2440"/>
                </a:solidFill>
                <a:latin typeface="Pretendard"/>
              </a:rPr>
              <a:t>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709160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F2440"/>
                </a:solidFill>
                <a:latin typeface="Pretendard"/>
              </a:rPr>
              <a:t>오가닉 Top 10에서 발생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926080"/>
            <a:ext cx="5571439" cy="2468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4F4D49"/>
                </a:solidFill>
                <a:latin typeface="Pretendard"/>
              </a:rPr>
              <a:t>AI Overview가 인용하는 페이지의 99%는 이미 오가닉 검색 Top 10에 있는 페이지입니다.
</a:t>
            </a:r>
            <a:r>
              <a:rPr sz="1600" b="0">
                <a:solidFill>
                  <a:srgbClr val="4F4D49"/>
                </a:solidFill>
                <a:latin typeface="Pretendard"/>
              </a:rPr>
              <a:t>상위 랭킹 없이는 인용 후보에 진입조차 못 합니다 — SEO가 전제입니다.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Search Engine Land 2026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04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GEO·AEO 실행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30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권위의 3축 — E-E-A-T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AI가 신뢰하는 </a:t>
            </a:r>
            <a:r>
              <a:rPr sz="3100" b="1">
                <a:solidFill>
                  <a:srgbClr val="0075DE"/>
                </a:solidFill>
                <a:latin typeface="Pretendard"/>
              </a:rPr>
              <a:t>권위 신호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11057839" cy="77724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94560"/>
            <a:ext cx="1371600" cy="466344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194560"/>
            <a:ext cx="9274759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경험·전문성·권위·신뢰(E-E-A-T)는 </a:t>
            </a:r>
            <a:r>
              <a:rPr sz="1450" b="1">
                <a:solidFill>
                  <a:srgbClr val="0F2440"/>
                </a:solidFill>
                <a:latin typeface="Pretendard"/>
              </a:rPr>
              <a:t>AI 인용의 정성적 기준</a:t>
            </a:r>
            <a:r>
              <a:rPr sz="1450" b="0">
                <a:solidFill>
                  <a:srgbClr val="191919"/>
                </a:solidFill>
                <a:latin typeface="Pretendard"/>
              </a:rPr>
              <a:t>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91840"/>
            <a:ext cx="3527450" cy="210312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291840"/>
            <a:ext cx="64008" cy="210312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9300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Experience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05072"/>
            <a:ext cx="3070250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실제 사용·1차 데이터 기반의 경험적 콘텐츠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2122" y="3291840"/>
            <a:ext cx="3527450" cy="210312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2122" y="3291840"/>
            <a:ext cx="64008" cy="210312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8154" y="349300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Authoritativeness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8154" y="4005072"/>
            <a:ext cx="3070250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외부 인용·언급·백링크로 도메인 권위 축적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7316" y="3291840"/>
            <a:ext cx="3527450" cy="210312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7316" y="3291840"/>
            <a:ext cx="64008" cy="210312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3348" y="349300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Trust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3348" y="4005072"/>
            <a:ext cx="3070250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저자·출처·날짜 명시로 신뢰 신호 강화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E-E-A-T  </a:t>
            </a:r>
            <a:r>
              <a:rPr sz="950" b="0">
                <a:solidFill>
                  <a:srgbClr val="8A8780"/>
                </a:solidFill>
                <a:latin typeface="Pretendard"/>
              </a:rPr>
              <a:t>Experience · Expertise · Authoritativeness · Trust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04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GEO·AEO 실행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31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SEO는 GEO의 전제다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GEO는 SEO의 </a:t>
            </a:r>
            <a:r>
              <a:rPr sz="3100" b="1">
                <a:solidFill>
                  <a:srgbClr val="E0533D"/>
                </a:solidFill>
                <a:latin typeface="Pretendard"/>
              </a:rPr>
              <a:t>대체재가 아니다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11057839" cy="77724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94560"/>
            <a:ext cx="1371600" cy="466344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194560"/>
            <a:ext cx="9274759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SEO를 버리는 게 아니라 그 위에 GEO를 </a:t>
            </a:r>
            <a:r>
              <a:rPr sz="1450" b="1">
                <a:solidFill>
                  <a:srgbClr val="0F2440"/>
                </a:solidFill>
                <a:latin typeface="Pretendard"/>
              </a:rPr>
              <a:t>쌓아야</a:t>
            </a:r>
            <a:r>
              <a:rPr sz="1450" b="0">
                <a:solidFill>
                  <a:srgbClr val="191919"/>
                </a:solidFill>
                <a:latin typeface="Pretendard"/>
              </a:rPr>
              <a:t> 합니다.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6928" y="3200400"/>
          <a:ext cx="11057839" cy="2697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4206240"/>
                <a:gridCol w="5205679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구분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전통적 관점 (오해)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2026 통합 관점 (정답)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91919"/>
                          </a:solidFill>
                          <a:latin typeface="Pretendard"/>
                        </a:rPr>
                        <a:t>관계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GEO가 SEO를 대체한다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GEO는 SEO 위에 중첩되는 계층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91919"/>
                          </a:solidFill>
                          <a:latin typeface="Pretendard"/>
                        </a:rPr>
                        <a:t>출발점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AI 최적화만 별도 진행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오가닉 Top 10 진입이 인용의 전제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91919"/>
                          </a:solidFill>
                          <a:latin typeface="Pretendard"/>
                        </a:rPr>
                        <a:t>투자 배분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SEO 예산 축소·이관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SEO 유지 + GEO 신규 레이어 추가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91919"/>
                          </a:solidFill>
                          <a:latin typeface="Pretendard"/>
                        </a:rPr>
                        <a:t>운영 단위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SEO·GEO 팀 분리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하나의 콘텐츠 파이프라인으로 통합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핵심  </a:t>
            </a:r>
            <a:r>
              <a:rPr sz="950" b="0">
                <a:solidFill>
                  <a:srgbClr val="8A8780"/>
                </a:solidFill>
                <a:latin typeface="Pretendard"/>
              </a:rPr>
              <a:t>99% of AI Overview citations come from the organic Top 10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011680"/>
            <a:ext cx="27432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2E4A6E"/>
                </a:solidFill>
                <a:latin typeface="Pretendard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788920"/>
            <a:ext cx="9144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FB4E6"/>
                </a:solidFill>
                <a:latin typeface="Pretendard"/>
              </a:rPr>
              <a:t>CHAPTER 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154680"/>
            <a:ext cx="100584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Pretendard"/>
              </a:rPr>
              <a:t>한국 시장 (Localization)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9601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C4D2E6"/>
                </a:solidFill>
                <a:latin typeface="Pretendard"/>
              </a:rPr>
              <a:t>네이버 AI 검색의 재편 — 'Cue:' 종료 이후, 대화형 질의를 선점하는 자가 SERP를 지배한다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069080"/>
            <a:ext cx="2011680" cy="36576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enom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167" y="6199632"/>
            <a:ext cx="1371600" cy="26516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05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한국 시장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32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네이버 AI 대응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0075DE"/>
                </a:solidFill>
                <a:latin typeface="Pretendard"/>
              </a:rPr>
              <a:t>대화형 질의</a:t>
            </a:r>
            <a:r>
              <a:rPr sz="3100" b="1">
                <a:solidFill>
                  <a:srgbClr val="191919"/>
                </a:solidFill>
                <a:latin typeface="Pretendard"/>
              </a:rPr>
              <a:t>를 선점하는 자가 SERP를 지배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11057839" cy="77724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94560"/>
            <a:ext cx="1371600" cy="466344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194560"/>
            <a:ext cx="9274759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네이버는 'AI 브리핑·AI 탭' 중심으로 재편 중. </a:t>
            </a:r>
            <a:r>
              <a:rPr sz="1450" b="1">
                <a:solidFill>
                  <a:srgbClr val="0F2440"/>
                </a:solidFill>
                <a:latin typeface="Pretendard"/>
              </a:rPr>
              <a:t>대화형 초롱테일 질의</a:t>
            </a:r>
            <a:r>
              <a:rPr sz="1450" b="0">
                <a:solidFill>
                  <a:srgbClr val="191919"/>
                </a:solidFill>
                <a:latin typeface="Pretendard"/>
              </a:rPr>
              <a:t> 선점이 관건입니다.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6928" y="3200400"/>
          <a:ext cx="11057839" cy="27706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6028639"/>
                <a:gridCol w="3200400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변화 축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현황 / 데이터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마케터 대응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91919"/>
                          </a:solidFill>
                          <a:latin typeface="Pretendard"/>
                        </a:rPr>
                        <a:t>검색 UX 재편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‘Cue:’ 종료(’25.3) → AI 브리핑·AI 탭 전환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답변형 콘텐츠로 브리핑 노출 겨냥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91919"/>
                          </a:solidFill>
                          <a:latin typeface="Pretendard"/>
                        </a:rPr>
                        <a:t>사용자 확산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AI 탭 베타 1개월 300만+ 누적 사용자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초기 트래픽 선점 효과 확보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91919"/>
                          </a:solidFill>
                          <a:latin typeface="Pretendard"/>
                        </a:rPr>
                        <a:t>질의 패턴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대화형·초롱테일 질의 급증(완결형 문장)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FAQ·자연어 질문 매칭 설계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91919"/>
                          </a:solidFill>
                          <a:latin typeface="Pretendard"/>
                        </a:rPr>
                        <a:t>광고 수익화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2026 하반기 생성형 AI 광고 본격화(3Q~)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전환 레이어로서 네이버 재정의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The Egg · 1089 Media · Seoul Economic Daily — Naver AI 2026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05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한국 시장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33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빠른 사용자 확산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AI 탭 베타 1개월 </a:t>
            </a:r>
            <a:r>
              <a:rPr sz="3100" b="1">
                <a:solidFill>
                  <a:srgbClr val="1F9D63"/>
                </a:solidFill>
                <a:latin typeface="Pretendard"/>
              </a:rPr>
              <a:t>300만+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743200"/>
            <a:ext cx="4937760" cy="24688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4937760" cy="91440"/>
          </a:xfrm>
          <a:prstGeom prst="rect">
            <a:avLst/>
          </a:prstGeom>
          <a:solidFill>
            <a:srgbClr val="1F9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3017520"/>
            <a:ext cx="4389120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4F4D49"/>
                </a:solidFill>
                <a:latin typeface="Pretendard"/>
              </a:rPr>
              <a:t>네이버 AI 탭 베타 누적 사용자 (1개월)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3520440"/>
            <a:ext cx="4389120" cy="11887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8200" b="1">
                <a:solidFill>
                  <a:srgbClr val="0F2440"/>
                </a:solidFill>
                <a:latin typeface="Pretendard"/>
              </a:rPr>
              <a:t>300</a:t>
            </a:r>
            <a:r>
              <a:rPr sz="3600" b="1">
                <a:solidFill>
                  <a:srgbClr val="0F2440"/>
                </a:solidFill>
                <a:latin typeface="Pretendard"/>
              </a:rPr>
              <a:t>만+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4709160"/>
            <a:ext cx="438912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F9D63"/>
                </a:solidFill>
                <a:latin typeface="Pretendard"/>
              </a:rPr>
              <a:t>2026.04 베타 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53328" y="2926080"/>
            <a:ext cx="5571439" cy="24688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>
                <a:solidFill>
                  <a:srgbClr val="4F4D49"/>
                </a:solidFill>
                <a:latin typeface="Pretendard"/>
              </a:rPr>
              <a:t>네이버 AI 탭은 베타 출시 한 달 만에 누적 300만 사용자를 돌파했습니다.
</a:t>
            </a:r>
            <a:r>
              <a:rPr sz="1600" b="0">
                <a:solidFill>
                  <a:srgbClr val="4F4D49"/>
                </a:solidFill>
                <a:latin typeface="Pretendard"/>
              </a:rPr>
              <a:t>한국 사용자도 대화형 검색에 빠르게 적응하고 있습니다 — 초기 선점이 중요합니다.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Seoul Economic Daily 2026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05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한국 시장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34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네이버 대응 전략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한국형 </a:t>
            </a:r>
            <a:r>
              <a:rPr sz="3100" b="1">
                <a:solidFill>
                  <a:srgbClr val="0075DE"/>
                </a:solidFill>
                <a:latin typeface="Pretendard"/>
              </a:rPr>
              <a:t>GEO 실행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11057839" cy="77724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94560"/>
            <a:ext cx="1371600" cy="466344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194560"/>
            <a:ext cx="9274759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영어권 전술을 그대로 옮기지 말고, </a:t>
            </a:r>
            <a:r>
              <a:rPr sz="1450" b="1">
                <a:solidFill>
                  <a:srgbClr val="0F2440"/>
                </a:solidFill>
                <a:latin typeface="Pretendard"/>
              </a:rPr>
              <a:t>네이버 생태계 특성</a:t>
            </a:r>
            <a:r>
              <a:rPr sz="1450" b="0">
                <a:solidFill>
                  <a:srgbClr val="191919"/>
                </a:solidFill>
                <a:latin typeface="Pretendard"/>
              </a:rPr>
              <a:t>에 맞춰 현지화해야 합니다.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91840"/>
            <a:ext cx="3527450" cy="210312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291840"/>
            <a:ext cx="64008" cy="210312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9300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대화형 질의 매칭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005072"/>
            <a:ext cx="3070250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완결형 문장·롱테일 질문에 답하는 FAQ·콘텐츠 설계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32122" y="3291840"/>
            <a:ext cx="3527450" cy="210312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32122" y="3291840"/>
            <a:ext cx="64008" cy="210312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88154" y="349300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브리핑 노출 겨냥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8154" y="4005072"/>
            <a:ext cx="3070250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AI 브리핑에 요약될 답변 우선 구조로 작성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97316" y="3291840"/>
            <a:ext cx="3527450" cy="210312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7316" y="3291840"/>
            <a:ext cx="64008" cy="210312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53348" y="349300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전환 레이어화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3348" y="4005072"/>
            <a:ext cx="3070250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네이버를 '발견'이 아닌 '전환'의 마지막 접점으로 운영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시사점  </a:t>
            </a:r>
            <a:r>
              <a:rPr sz="950" b="0">
                <a:solidFill>
                  <a:srgbClr val="8A8780"/>
                </a:solidFill>
                <a:latin typeface="Pretendard"/>
              </a:rPr>
              <a:t>Naver Search is becoming a highly-specialized conversion layer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2011680"/>
            <a:ext cx="2743200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2E4A6E"/>
                </a:solidFill>
                <a:latin typeface="Pretendard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2788920"/>
            <a:ext cx="9144000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8FB4E6"/>
                </a:solidFill>
                <a:latin typeface="Pretendard"/>
              </a:rPr>
              <a:t>CHAPTER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3154680"/>
            <a:ext cx="10058400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Pretendard"/>
              </a:rPr>
              <a:t>측정 &amp; 로드맵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206240"/>
            <a:ext cx="9601200" cy="7315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C4D2E6"/>
                </a:solidFill>
                <a:latin typeface="Pretendard"/>
              </a:rPr>
              <a:t>무엇을 측정할 것인가, 그리고 90일 안에 무엇을 할 것인가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4069080"/>
            <a:ext cx="2011680" cy="36576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venom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53167" y="6199632"/>
            <a:ext cx="1371600" cy="26516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06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측정 &amp;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35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KPI를 재정의하라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'클릭'에서 </a:t>
            </a:r>
            <a:r>
              <a:rPr sz="3100" b="1">
                <a:solidFill>
                  <a:srgbClr val="0075DE"/>
                </a:solidFill>
                <a:latin typeface="Pretendard"/>
              </a:rPr>
              <a:t>'인용'</a:t>
            </a:r>
            <a:r>
              <a:rPr sz="3100" b="1">
                <a:solidFill>
                  <a:srgbClr val="191919"/>
                </a:solidFill>
                <a:latin typeface="Pretendard"/>
              </a:rPr>
              <a:t>으로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11057839" cy="77724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94560"/>
            <a:ext cx="1371600" cy="466344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194560"/>
            <a:ext cx="9274759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CTR 단일 지표로는 AI 시대 성과가 보이지 않습니다. </a:t>
            </a:r>
            <a:r>
              <a:rPr sz="1450" b="1">
                <a:solidFill>
                  <a:srgbClr val="0F2440"/>
                </a:solidFill>
                <a:latin typeface="Pretendard"/>
              </a:rPr>
              <a:t>AI 가시성·인용·전환</a:t>
            </a:r>
            <a:r>
              <a:rPr sz="1450" b="0">
                <a:solidFill>
                  <a:srgbClr val="191919"/>
                </a:solidFill>
                <a:latin typeface="Pretendard"/>
              </a:rPr>
              <a:t>을 측정하세요.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6928" y="3200400"/>
          <a:ext cx="11057839" cy="2697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4023360"/>
                <a:gridCol w="5388559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측정 영역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기존 지표 (SEO)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</a:rPr>
                        <a:t>신규 지표 (AEO·GEO)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91919"/>
                          </a:solidFill>
                          <a:latin typeface="Pretendard"/>
                        </a:rPr>
                        <a:t>가시성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키워드 순위·노출수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AI 가시성 — AI 답변 내 등장 빈도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91919"/>
                          </a:solidFill>
                          <a:latin typeface="Pretendard"/>
                        </a:rPr>
                        <a:t>점유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클릭률(CTR)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인용 점유율(Citation Share)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91919"/>
                          </a:solidFill>
                          <a:latin typeface="Pretendard"/>
                        </a:rPr>
                        <a:t>브랜드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브랜드 검색량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AI 답변 내 브랜드 멘션 빈도·맥락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191919"/>
                          </a:solidFill>
                          <a:latin typeface="Pretendard"/>
                        </a:rPr>
                        <a:t>전환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오가닉 세션 전환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191919"/>
                          </a:solidFill>
                          <a:latin typeface="Pretendard"/>
                        </a:rPr>
                        <a:t>AI 경유 전환(AI-influenced)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전환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단일 CTR → AI 가시성·인용 품질·AI 영향 전환의 멀티 지표 체계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06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측정 &amp;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36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GEO 성과 데이터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조기 도입의 </a:t>
            </a:r>
            <a:r>
              <a:rPr sz="3100" b="1">
                <a:solidFill>
                  <a:srgbClr val="0075DE"/>
                </a:solidFill>
                <a:latin typeface="Pretendard"/>
              </a:rPr>
              <a:t>정량적 보상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11057839" cy="77724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1371600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94560"/>
            <a:ext cx="1371600" cy="466344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194560"/>
            <a:ext cx="9274759" cy="7772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GEO 도입 기업은 전 지표에서 우위를 보고합니다. </a:t>
            </a:r>
            <a:r>
              <a:rPr sz="1450" b="1">
                <a:solidFill>
                  <a:srgbClr val="0F2440"/>
                </a:solidFill>
                <a:latin typeface="Pretendard"/>
              </a:rPr>
              <a:t>지금이 선점 구간</a:t>
            </a:r>
            <a:r>
              <a:rPr sz="1450" b="0">
                <a:solidFill>
                  <a:srgbClr val="191919"/>
                </a:solidFill>
                <a:latin typeface="Pretendard"/>
              </a:rPr>
              <a:t>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3200400"/>
            <a:ext cx="2572435" cy="265176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3200400"/>
            <a:ext cx="2572435" cy="73152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456432"/>
            <a:ext cx="2115235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4F4D49"/>
                </a:solidFill>
                <a:latin typeface="Pretendard"/>
              </a:rPr>
              <a:t>브랜드 가시성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4101998"/>
            <a:ext cx="2115235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5600" b="1">
                <a:solidFill>
                  <a:srgbClr val="0F2440"/>
                </a:solidFill>
                <a:latin typeface="Pretendard"/>
              </a:rPr>
              <a:t>+35</a:t>
            </a:r>
            <a:r>
              <a:rPr sz="2600" b="1">
                <a:solidFill>
                  <a:srgbClr val="0F2440"/>
                </a:solidFill>
                <a:latin typeface="Pretendard"/>
              </a:rPr>
              <a:t>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248656"/>
            <a:ext cx="2115235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8A8780"/>
                </a:solidFill>
                <a:latin typeface="Pretendard"/>
              </a:rPr>
              <a:t>AI 답변 내, SEO 단독 대비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95395" y="3200400"/>
            <a:ext cx="2572435" cy="265176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95395" y="3200400"/>
            <a:ext cx="2572435" cy="73152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1427" y="3456432"/>
            <a:ext cx="2115235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4F4D49"/>
                </a:solidFill>
                <a:latin typeface="Pretendard"/>
              </a:rPr>
              <a:t>AI 인용량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3139" y="4101998"/>
            <a:ext cx="2115235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5600" b="1">
                <a:solidFill>
                  <a:srgbClr val="0F2440"/>
                </a:solidFill>
                <a:latin typeface="Pretendard"/>
              </a:rPr>
              <a:t>3</a:t>
            </a:r>
            <a:r>
              <a:rPr sz="2600" b="1">
                <a:solidFill>
                  <a:srgbClr val="0F2440"/>
                </a:solidFill>
                <a:latin typeface="Pretendard"/>
              </a:rPr>
              <a:t>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1427" y="5248656"/>
            <a:ext cx="2115235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8A8780"/>
                </a:solidFill>
                <a:latin typeface="Pretendard"/>
              </a:rPr>
              <a:t>전통 SEO 단독 대비 최대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23863" y="3200400"/>
            <a:ext cx="2572435" cy="265176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23863" y="3200400"/>
            <a:ext cx="2572435" cy="73152"/>
          </a:xfrm>
          <a:prstGeom prst="rect">
            <a:avLst/>
          </a:prstGeom>
          <a:solidFill>
            <a:srgbClr val="1F9D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9895" y="3456432"/>
            <a:ext cx="2115235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4F4D49"/>
                </a:solidFill>
                <a:latin typeface="Pretendard"/>
              </a:rPr>
              <a:t>적격 트래픽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1607" y="4101998"/>
            <a:ext cx="2115235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5600" b="1">
                <a:solidFill>
                  <a:srgbClr val="0F2440"/>
                </a:solidFill>
                <a:latin typeface="Pretendard"/>
              </a:rPr>
              <a:t>4.4</a:t>
            </a:r>
            <a:r>
              <a:rPr sz="2600" b="1">
                <a:solidFill>
                  <a:srgbClr val="0F2440"/>
                </a:solidFill>
                <a:latin typeface="Pretendard"/>
              </a:rPr>
              <a:t>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9895" y="5248656"/>
            <a:ext cx="2115235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8A8780"/>
                </a:solidFill>
                <a:latin typeface="Pretendard"/>
              </a:rPr>
              <a:t>더 많은 고의도 적격 트래픽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052331" y="3200400"/>
            <a:ext cx="2572435" cy="265176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052331" y="3200400"/>
            <a:ext cx="2572435" cy="73152"/>
          </a:xfrm>
          <a:prstGeom prst="rect">
            <a:avLst/>
          </a:prstGeom>
          <a:solidFill>
            <a:srgbClr val="FF8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08363" y="3456432"/>
            <a:ext cx="2115235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4F4D49"/>
                </a:solidFill>
                <a:latin typeface="Pretendard"/>
              </a:rPr>
              <a:t>투자수익률(ROI)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90075" y="4101998"/>
            <a:ext cx="2115235" cy="10058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191919"/>
                </a:solidFill>
                <a:latin typeface="Pretendard"/>
              </a:rPr>
              <a:t/>
            </a:r>
            <a:r>
              <a:rPr sz="5600" b="1">
                <a:solidFill>
                  <a:srgbClr val="0F2440"/>
                </a:solidFill>
                <a:latin typeface="Pretendard"/>
              </a:rPr>
              <a:t>+22</a:t>
            </a:r>
            <a:r>
              <a:rPr sz="2600" b="1">
                <a:solidFill>
                  <a:srgbClr val="0F2440"/>
                </a:solidFill>
                <a:latin typeface="Pretendard"/>
              </a:rPr>
              <a:t>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08363" y="5248656"/>
            <a:ext cx="2115235" cy="5486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</a:pPr>
            <a:r>
              <a:rPr sz="1100" b="0">
                <a:solidFill>
                  <a:srgbClr val="8A8780"/>
                </a:solidFill>
                <a:latin typeface="Pretendard"/>
              </a:rPr>
              <a:t>GEO 도입 기업 ROI 상승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출처  </a:t>
            </a:r>
            <a:r>
              <a:rPr sz="950" b="0">
                <a:solidFill>
                  <a:srgbClr val="8A8780"/>
                </a:solidFill>
                <a:latin typeface="Pretendard"/>
              </a:rPr>
              <a:t>Gartner · Search Engine Journal · Incremys GEO Statistics 2026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CH 06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측정 &amp;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37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90일 실행 로드맵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진단 → 구조화 → </a:t>
            </a:r>
            <a:r>
              <a:rPr sz="3100" b="1">
                <a:solidFill>
                  <a:srgbClr val="0075DE"/>
                </a:solidFill>
                <a:latin typeface="Pretendard"/>
              </a:rPr>
              <a:t>측정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194560"/>
            <a:ext cx="11057839" cy="82296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194560"/>
            <a:ext cx="1371600" cy="82296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194560"/>
            <a:ext cx="1371600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94560"/>
            <a:ext cx="1371600" cy="512064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9696" y="2194560"/>
            <a:ext cx="9274759" cy="8229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분기 내에 인용 지분을 확보하는 3단계 실행안. </a:t>
            </a:r>
            <a:r>
              <a:rPr sz="1450" b="1">
                <a:solidFill>
                  <a:srgbClr val="0F2440"/>
                </a:solidFill>
                <a:latin typeface="Pretendard"/>
              </a:rPr>
              <a:t>측정 체계 셋업</a:t>
            </a:r>
            <a:r>
              <a:rPr sz="1450" b="0">
                <a:solidFill>
                  <a:srgbClr val="191919"/>
                </a:solidFill>
                <a:latin typeface="Pretendard"/>
              </a:rPr>
              <a:t>까지 마쳐야 한 사이클이 완성됩니다.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66928" y="3246120"/>
          <a:ext cx="11057839" cy="24780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63040"/>
                <a:gridCol w="2377440"/>
                <a:gridCol w="7217359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Pretendard"/>
                        </a:rPr>
                        <a:t>기간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Pretendard"/>
                        </a:rPr>
                        <a:t>단계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FFFFFF"/>
                          </a:solidFill>
                          <a:latin typeface="Pretendard"/>
                        </a:rPr>
                        <a:t>핵심 액션</a:t>
                      </a:r>
                    </a:p>
                  </a:txBody>
                  <a:tcPr anchor="ctr" marL="109728" marR="91440" marT="45720" marB="45720">
                    <a:solidFill>
                      <a:srgbClr val="0F2440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91919"/>
                          </a:solidFill>
                          <a:latin typeface="Pretendard"/>
                        </a:rPr>
                        <a:t>~30일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진단 · 감사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AI 가시성 베이스라인 측정 · 인용 현황 감사 · 핵심 질의 맵핑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91919"/>
                          </a:solidFill>
                          <a:latin typeface="Pretendard"/>
                        </a:rPr>
                        <a:t>~60일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구조화 · 리포맷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스키마 구현 · 답변 우선 콘텐츠 리포맷 · 신선도 갱신 · 속도 개선</a:t>
                      </a:r>
                    </a:p>
                  </a:txBody>
                  <a:tcPr anchor="ctr" marL="109728" marR="91440" marT="45720" marB="45720">
                    <a:solidFill>
                      <a:srgbClr val="F1EFEC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91919"/>
                          </a:solidFill>
                          <a:latin typeface="Pretendard"/>
                        </a:rPr>
                        <a:t>~90일</a:t>
                      </a:r>
                    </a:p>
                  </a:txBody>
                  <a:tcPr anchor="ctr" marL="109728" marR="91440" marT="45720" marB="45720">
                    <a:solidFill>
                      <a:srgbClr val="EFEDE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측정 · 추적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91919"/>
                          </a:solidFill>
                          <a:latin typeface="Pretendard"/>
                        </a:rPr>
                        <a:t>AI 가시성 추적 대시보드 셋업 · 인용 점유율 모니터링 · 반복 최적화</a:t>
                      </a:r>
                    </a:p>
                  </a:txBody>
                  <a:tcPr anchor="ctr" marL="109728" marR="91440" marT="45720" marB="45720">
                    <a:solidFill>
                      <a:srgbClr val="FBFBFA"/>
                    </a:solidFill>
                    <a:lnL w="9525" cap="flat" cmpd="sng" algn="ctr">
                      <a:solidFill>
                        <a:srgbClr val="E3E0DB"/>
                      </a:solidFill>
                    </a:lnL>
                    <a:lnR w="9525" cap="flat" cmpd="sng" algn="ctr">
                      <a:solidFill>
                        <a:srgbClr val="E3E0DB"/>
                      </a:solidFill>
                    </a:lnR>
                    <a:lnT w="9525" cap="flat" cmpd="sng" algn="ctr">
                      <a:solidFill>
                        <a:srgbClr val="E3E0DB"/>
                      </a:solidFill>
                    </a:lnT>
                    <a:lnB w="9525" cap="flat" cmpd="sng" algn="ctr">
                      <a:solidFill>
                        <a:srgbClr val="E3E0D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운영 원칙  </a:t>
            </a:r>
            <a:r>
              <a:rPr sz="950" b="0">
                <a:solidFill>
                  <a:srgbClr val="8A8780"/>
                </a:solidFill>
                <a:latin typeface="Pretendard"/>
              </a:rPr>
              <a:t>측정 가능한 것만 개선된다 — AI 가시성 추적을 90일 차에 반드시 가동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868680"/>
            <a:ext cx="11057839" cy="10972"/>
          </a:xfrm>
          <a:prstGeom prst="rect">
            <a:avLst/>
          </a:prstGeom>
          <a:solidFill>
            <a:srgbClr val="E3E0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66928" y="475488"/>
            <a:ext cx="118872" cy="118872"/>
          </a:xfrm>
          <a:prstGeom prst="ellipse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68096" y="365760"/>
            <a:ext cx="68580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075DE"/>
                </a:solidFill>
                <a:latin typeface="Pretendard"/>
              </a:rPr>
              <a:t>SUMMARY </a:t>
            </a:r>
            <a:r>
              <a:rPr sz="1250" b="0">
                <a:solidFill>
                  <a:srgbClr val="4F4D49"/>
                </a:solidFill>
                <a:latin typeface="Pretendard"/>
              </a:rPr>
              <a:t>·  핵심 요약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81567" y="365760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r"/>
            <a:r>
              <a:rPr sz="1250" b="1">
                <a:solidFill>
                  <a:srgbClr val="191919"/>
                </a:solidFill>
                <a:latin typeface="Pretendard"/>
              </a:rPr>
              <a:t>38 </a:t>
            </a:r>
            <a:r>
              <a:rPr sz="1250">
                <a:solidFill>
                  <a:srgbClr val="8A8780"/>
                </a:solidFill>
                <a:latin typeface="Pretendard"/>
              </a:rPr>
              <a:t>/ 38</a:t>
            </a:r>
          </a:p>
        </p:txBody>
      </p:sp>
      <p:pic>
        <p:nvPicPr>
          <p:cNvPr id="7" name="Picture 6" descr="venom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2079" y="6428232"/>
            <a:ext cx="932688" cy="18030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66928" y="1078992"/>
            <a:ext cx="11057839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75DE"/>
                </a:solidFill>
                <a:latin typeface="Pretendard"/>
              </a:rPr>
              <a:t>검색 환경의 대전환 — 세 줄 요약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389888"/>
            <a:ext cx="11057839" cy="77724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2000"/>
              </a:lnSpc>
            </a:pPr>
            <a:r>
              <a:rPr sz="3100" b="1">
                <a:solidFill>
                  <a:srgbClr val="191919"/>
                </a:solidFill>
                <a:latin typeface="Pretendard"/>
              </a:rPr>
              <a:t>클릭의 시대에서 </a:t>
            </a:r>
            <a:r>
              <a:rPr sz="3100" b="1">
                <a:solidFill>
                  <a:srgbClr val="0075DE"/>
                </a:solidFill>
                <a:latin typeface="Pretendard"/>
              </a:rPr>
              <a:t>인용의 시대</a:t>
            </a:r>
            <a:r>
              <a:rPr sz="3100" b="1">
                <a:solidFill>
                  <a:srgbClr val="191919"/>
                </a:solidFill>
                <a:latin typeface="Pretendard"/>
              </a:rPr>
              <a:t>로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286000"/>
            <a:ext cx="3527450" cy="20116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286000"/>
            <a:ext cx="64008" cy="201168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48716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01  제로클릭은 되돌릴 수 없다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99232"/>
            <a:ext cx="307025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제로클릭 69%, 1위 CTR 2.6%. 검색은 '방문'이 아니라 '소비'로 끝나는 구조로 고착됐습니다.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2122" y="2286000"/>
            <a:ext cx="3527450" cy="20116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2122" y="2286000"/>
            <a:ext cx="64008" cy="201168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8154" y="248716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02  SEO는 폐기가 아닌 GEO의 전제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8154" y="2999232"/>
            <a:ext cx="307025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AI Overview 인용의 99%가 오가닉 Top 10. SEO 위에 AEO·GEO를 중첩해 통합 운영해야 합니다.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7316" y="2286000"/>
            <a:ext cx="3527450" cy="20116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097316" y="2286000"/>
            <a:ext cx="64008" cy="2011680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3348" y="2487168"/>
            <a:ext cx="307025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1">
                <a:solidFill>
                  <a:srgbClr val="0F2440"/>
                </a:solidFill>
                <a:latin typeface="Pretendard"/>
              </a:rPr>
              <a:t>03  KPI를 '클릭'에서 '인용'으로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53348" y="2999232"/>
            <a:ext cx="3070250" cy="10972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F4D49"/>
                </a:solidFill>
                <a:latin typeface="Pretendard"/>
              </a:rPr>
              <a:t>AI 가시성·인용 점유율·AI 경유 전환으로 측정 체계를 재정의해야 성과가 보입니다.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4572000"/>
            <a:ext cx="11057839" cy="868680"/>
          </a:xfrm>
          <a:prstGeom prst="rect">
            <a:avLst/>
          </a:prstGeom>
          <a:solidFill>
            <a:srgbClr val="FBFBFA"/>
          </a:solidFill>
          <a:ln w="9525">
            <a:solidFill>
              <a:srgbClr val="E3E0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4572000"/>
            <a:ext cx="1371600" cy="86868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" y="4572000"/>
            <a:ext cx="1371600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Pretendard"/>
              </a:rPr>
              <a:t>결론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" y="4572000"/>
            <a:ext cx="1371600" cy="557783"/>
          </a:xfrm>
          <a:prstGeom prst="rect">
            <a:avLst/>
          </a:prstGeom>
          <a:noFill/>
        </p:spPr>
        <p:txBody>
          <a:bodyPr wrap="square" anchor="b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0">
                <a:solidFill>
                  <a:srgbClr val="9FB4CF"/>
                </a:solidFill>
                <a:latin typeface="Pretendard"/>
              </a:rPr>
              <a:t>POINT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39696" y="4572000"/>
            <a:ext cx="9274759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25000"/>
              </a:lnSpc>
            </a:pPr>
            <a:r>
              <a:rPr sz="1450" b="0">
                <a:solidFill>
                  <a:srgbClr val="191919"/>
                </a:solidFill>
                <a:latin typeface="Pretendard"/>
              </a:rPr>
              <a:t>90일 로드맵으로 </a:t>
            </a:r>
            <a:r>
              <a:rPr sz="1450" b="1">
                <a:solidFill>
                  <a:srgbClr val="0F2440"/>
                </a:solidFill>
                <a:latin typeface="Pretendard"/>
              </a:rPr>
              <a:t>진단 → 구조화 → 측정</a:t>
            </a:r>
            <a:r>
              <a:rPr sz="1450" b="0">
                <a:solidFill>
                  <a:srgbClr val="191919"/>
                </a:solidFill>
                <a:latin typeface="Pretendard"/>
              </a:rPr>
              <a:t>을 즉시 착수하십시오. 선점 격차는 시간이 갈수록 벌어집니다.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400800"/>
            <a:ext cx="11057839" cy="310896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4F4D49"/>
                </a:solidFill>
                <a:latin typeface="Pretendard"/>
              </a:rPr>
              <a:t>Sources  </a:t>
            </a:r>
            <a:r>
              <a:rPr sz="950" b="0">
                <a:solidFill>
                  <a:srgbClr val="8A8780"/>
                </a:solidFill>
                <a:latin typeface="Pretendard"/>
              </a:rPr>
              <a:t>Gartner · Ahrefs · SparkToro · HubSpot · Conductor · Similarweb · upGrowth · aeoengine.ai · The Egg · Search Engine Land (2025–2026)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468880"/>
            <a:ext cx="12191695" cy="9144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Pretendard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8FB4E6"/>
                </a:solidFill>
                <a:latin typeface="Pretendard"/>
              </a:rPr>
              <a:t>Q &amp; 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90007" y="3383280"/>
            <a:ext cx="2011680" cy="36576"/>
          </a:xfrm>
          <a:prstGeom prst="rect">
            <a:avLst/>
          </a:prstGeom>
          <a:solidFill>
            <a:srgbClr val="0075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enom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90007" y="4526280"/>
            <a:ext cx="2011680" cy="3889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8FB4E6"/>
                </a:solidFill>
                <a:latin typeface="Pretendard"/>
              </a:rPr>
              <a:t>주식회사 베놈  ·  병원마케팅 대행사  ·  1661-4142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