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다이어트 소비 지수</c:v>
                </c:pt>
              </c:strCache>
            </c:strRef>
          </c:tx>
          <c:spPr>
            <a:solidFill>
              <a:srgbClr val="2BB7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6302E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B7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B79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5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E7C7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B7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10대</c:v>
                  </c:pt>
                  <c:pt idx="1">
                    <c:v>20대</c:v>
                  </c:pt>
                  <c:pt idx="2">
                    <c:v>30대</c:v>
                  </c:pt>
                  <c:pt idx="3">
                    <c:v>40대</c:v>
                  </c:pt>
                  <c:pt idx="4">
                    <c:v>50대</c:v>
                  </c:pt>
                  <c:pt idx="5">
                    <c:v>60대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35</c:v>
                </c:pt>
                <c:pt idx="2">
                  <c:v>78</c:v>
                </c:pt>
                <c:pt idx="3">
                  <c:v>100</c:v>
                </c:pt>
                <c:pt idx="4">
                  <c:v>53</c:v>
                </c:pt>
                <c:pt idx="5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6302E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302E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다이어트주사·삭센다·위고비</c:v>
                </c:pt>
              </c:strCache>
            </c:strRef>
          </c:tx>
          <c:spPr>
            <a:solidFill>
              <a:srgbClr val="FF6B5B"/>
            </a:solidFill>
            <a:ln w="38100" cap="flat">
              <a:solidFill>
                <a:srgbClr val="FF6B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B5B"/>
              </a:solidFill>
              <a:ln w="9525" cap="flat">
                <a:solidFill>
                  <a:srgbClr val="FF6B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23Q1</c:v>
                  </c:pt>
                  <c:pt idx="1">
                    <c:v>23Q2</c:v>
                  </c:pt>
                  <c:pt idx="2">
                    <c:v>23Q3</c:v>
                  </c:pt>
                  <c:pt idx="3">
                    <c:v>23Q4</c:v>
                  </c:pt>
                  <c:pt idx="4">
                    <c:v>24Q1</c:v>
                  </c:pt>
                  <c:pt idx="5">
                    <c:v>24Q2</c:v>
                  </c:pt>
                  <c:pt idx="6">
                    <c:v>24Q3</c:v>
                  </c:pt>
                  <c:pt idx="7">
                    <c:v>24Q4</c:v>
                  </c:pt>
                  <c:pt idx="8">
                    <c:v>25Q1</c:v>
                  </c:pt>
                  <c:pt idx="9">
                    <c:v>25Q2</c:v>
                  </c:pt>
                  <c:pt idx="10">
                    <c:v>25Q3</c:v>
                  </c:pt>
                  <c:pt idx="11">
                    <c:v>25Q4</c:v>
                  </c:pt>
                  <c:pt idx="12">
                    <c:v>26Q1</c:v>
                  </c:pt>
                  <c:pt idx="13">
                    <c:v>26Q2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7.5</c:v>
                </c:pt>
                <c:pt idx="1">
                  <c:v>10.7</c:v>
                </c:pt>
                <c:pt idx="2">
                  <c:v>11.1</c:v>
                </c:pt>
                <c:pt idx="3">
                  <c:v>12</c:v>
                </c:pt>
                <c:pt idx="4">
                  <c:v>9.8</c:v>
                </c:pt>
                <c:pt idx="5">
                  <c:v>13.2</c:v>
                </c:pt>
                <c:pt idx="6">
                  <c:v>16.9</c:v>
                </c:pt>
                <c:pt idx="7">
                  <c:v>52.2</c:v>
                </c:pt>
                <c:pt idx="8">
                  <c:v>35.7</c:v>
                </c:pt>
                <c:pt idx="9">
                  <c:v>72.9</c:v>
                </c:pt>
                <c:pt idx="10">
                  <c:v>49.3</c:v>
                </c:pt>
                <c:pt idx="11">
                  <c:v>26.5</c:v>
                </c:pt>
                <c:pt idx="12">
                  <c:v>21.3</c:v>
                </c:pt>
                <c:pt idx="13">
                  <c:v>15.3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다이어트 (일반)</c:v>
                </c:pt>
              </c:strCache>
            </c:strRef>
          </c:tx>
          <c:spPr>
            <a:solidFill>
              <a:srgbClr val="0E7C7B"/>
            </a:solidFill>
            <a:ln w="38100" cap="flat">
              <a:solidFill>
                <a:srgbClr val="0E7C7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7C7B"/>
              </a:solidFill>
              <a:ln w="9525" cap="flat">
                <a:solidFill>
                  <a:srgbClr val="0E7C7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23Q1</c:v>
                  </c:pt>
                  <c:pt idx="1">
                    <c:v>23Q2</c:v>
                  </c:pt>
                  <c:pt idx="2">
                    <c:v>23Q3</c:v>
                  </c:pt>
                  <c:pt idx="3">
                    <c:v>23Q4</c:v>
                  </c:pt>
                  <c:pt idx="4">
                    <c:v>24Q1</c:v>
                  </c:pt>
                  <c:pt idx="5">
                    <c:v>24Q2</c:v>
                  </c:pt>
                  <c:pt idx="6">
                    <c:v>24Q3</c:v>
                  </c:pt>
                  <c:pt idx="7">
                    <c:v>24Q4</c:v>
                  </c:pt>
                  <c:pt idx="8">
                    <c:v>25Q1</c:v>
                  </c:pt>
                  <c:pt idx="9">
                    <c:v>25Q2</c:v>
                  </c:pt>
                  <c:pt idx="10">
                    <c:v>25Q3</c:v>
                  </c:pt>
                  <c:pt idx="11">
                    <c:v>25Q4</c:v>
                  </c:pt>
                  <c:pt idx="12">
                    <c:v>26Q1</c:v>
                  </c:pt>
                  <c:pt idx="13">
                    <c:v>26Q2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13.3</c:v>
                </c:pt>
                <c:pt idx="1">
                  <c:v>12.3</c:v>
                </c:pt>
                <c:pt idx="2">
                  <c:v>10.1</c:v>
                </c:pt>
                <c:pt idx="3">
                  <c:v>7.6</c:v>
                </c:pt>
                <c:pt idx="4">
                  <c:v>9.7</c:v>
                </c:pt>
                <c:pt idx="5">
                  <c:v>10.1</c:v>
                </c:pt>
                <c:pt idx="6">
                  <c:v>8.9</c:v>
                </c:pt>
                <c:pt idx="7">
                  <c:v>7.1</c:v>
                </c:pt>
                <c:pt idx="8">
                  <c:v>7.8</c:v>
                </c:pt>
                <c:pt idx="9">
                  <c:v>7.5</c:v>
                </c:pt>
                <c:pt idx="10">
                  <c:v>6.5</c:v>
                </c:pt>
                <c:pt idx="11">
                  <c:v>4.7</c:v>
                </c:pt>
                <c:pt idx="12">
                  <c:v>5.2</c:v>
                </c:pt>
                <c:pt idx="13">
                  <c:v>4.6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다이어트한약·한방</c:v>
                </c:pt>
              </c:strCache>
            </c:strRef>
          </c:tx>
          <c:spPr>
            <a:solidFill>
              <a:srgbClr val="2BB79A"/>
            </a:solidFill>
            <a:ln w="38100" cap="flat">
              <a:solidFill>
                <a:srgbClr val="2BB79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BB79A"/>
              </a:solidFill>
              <a:ln w="9525" cap="flat">
                <a:solidFill>
                  <a:srgbClr val="2BB79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23Q1</c:v>
                  </c:pt>
                  <c:pt idx="1">
                    <c:v>23Q2</c:v>
                  </c:pt>
                  <c:pt idx="2">
                    <c:v>23Q3</c:v>
                  </c:pt>
                  <c:pt idx="3">
                    <c:v>23Q4</c:v>
                  </c:pt>
                  <c:pt idx="4">
                    <c:v>24Q1</c:v>
                  </c:pt>
                  <c:pt idx="5">
                    <c:v>24Q2</c:v>
                  </c:pt>
                  <c:pt idx="6">
                    <c:v>24Q3</c:v>
                  </c:pt>
                  <c:pt idx="7">
                    <c:v>24Q4</c:v>
                  </c:pt>
                  <c:pt idx="8">
                    <c:v>25Q1</c:v>
                  </c:pt>
                  <c:pt idx="9">
                    <c:v>25Q2</c:v>
                  </c:pt>
                  <c:pt idx="10">
                    <c:v>25Q3</c:v>
                  </c:pt>
                  <c:pt idx="11">
                    <c:v>25Q4</c:v>
                  </c:pt>
                  <c:pt idx="12">
                    <c:v>26Q1</c:v>
                  </c:pt>
                  <c:pt idx="13">
                    <c:v>26Q2</c:v>
                  </c:pt>
                </c:lvl>
              </c:multiLvlStrCache>
            </c:multiLvlStrRef>
          </c:cat>
          <c:val>
            <c:numRef>
              <c:f>Sheet1!$D$2:$D$15</c:f>
              <c:numCache>
                <c:formatCode>General</c:formatCode>
                <c:ptCount val="14"/>
                <c:pt idx="0">
                  <c:v>2.4</c:v>
                </c:pt>
                <c:pt idx="1">
                  <c:v>2.5</c:v>
                </c:pt>
                <c:pt idx="2">
                  <c:v>2.1</c:v>
                </c:pt>
                <c:pt idx="3">
                  <c:v>1.7</c:v>
                </c:pt>
                <c:pt idx="4">
                  <c:v>2.3</c:v>
                </c:pt>
                <c:pt idx="5">
                  <c:v>2.5</c:v>
                </c:pt>
                <c:pt idx="6">
                  <c:v>2.3</c:v>
                </c:pt>
                <c:pt idx="7">
                  <c:v>2</c:v>
                </c:pt>
                <c:pt idx="8">
                  <c:v>2.8</c:v>
                </c:pt>
                <c:pt idx="9">
                  <c:v>2.5</c:v>
                </c:pt>
                <c:pt idx="10">
                  <c:v>2</c:v>
                </c:pt>
                <c:pt idx="11">
                  <c:v>1.5</c:v>
                </c:pt>
                <c:pt idx="12">
                  <c:v>1.5</c:v>
                </c:pt>
                <c:pt idx="13">
                  <c:v>1.4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D9E5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6A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6302E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대구 달서구 다이어트/비만 진료 상권 분석. 인구, 병원 밀집도, 남녀·연령, 다이어트 키워드 4개 축. 모든 수치는 행안부·심평원·Naver DataLab 실측 기반이며, 미확정 항목은 별도 표기.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문장으로 요약: 최대 배후시장, 양방 공급 빈틈, 30~50대 코어, 주사 키워드 재편.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주민등록 515,142명(2026.03 행안부 원자료). 여 263,101 &gt; 남 252,041, 성비 95.8 여초, 여성 51.1%. 세대 239,483. 여성 26.3만 1차 모수 + 남성 대사 세그먼트.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866개 의료기관(대구 20.8%), 1만명당 16.7개. 공급 총량 균형이나 다이어트 상위 노출은 한방 편중 → 양방 의학 비만치료 빈틈.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심평원 진료통계 실측: 비만(E66) 직접 진료 174명 vs 대사질환군(고혈압/당뇨/고지혈) 약 13.5만. 비만 의료화 갭이 기회. 대사질환 배후가 의학 비만치료 1차 타깃.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Naver 지역검색 리뷰순 상위 샘플(API가 5건 캡이라 개수 아님). 한방 강세, 양방 얇음. 죽전~감삼 클러스터.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연령 지수 40대100 30대78 50대53 20대35 60대14 10대6. 코어 30~50대. 의학적 신뢰 소구. 성별은 여성우세+남성 대사 세그먼트.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슬라이드. 주사(위고비·삭센다) 2024.10 폭증 2025봄 정점. 일반어 하락. 한약 낮고 안정. 계절성 1~5월.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4축: 양방 의학 포지션, 40대·이원화 타깃, 시술어+지역롱테일 키워드, 12~1월 선행 타이밍.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 로드맵: 데이터 확정 → 포지션/크리에이티브 → 검색 선점 → 제안·집행.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출처와 신뢰성. 실측 소스 명시, 미확정 항목은 확정법과 함께 투명 표기. 통계 날조 금지 원칙 준수.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INTELLIGENCE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달서구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다이어트·비만 진료 상권 분석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41248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· 병원 밀집도 · 남녀·연령 · 다이어트 키워드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515,142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5623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달서구 인구 (대구 1위)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3484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34840" y="5623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의료기관 수 (대구의 20.8%)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0" y="5074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위고비·삭센다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46720" y="56235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시장 재편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62636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병원마케팅  ·  2026.07  ·  실측 기반 확정본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핵심 4가지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92808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92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83080" y="19293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최대 배후시장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83080" y="2386584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달서구 515,142명(2026.3)·대구 인구 1위, 밀도 약 8,300명/㎢. 여성 26.3만 &gt; 남성 25.2만 — 다이어트 주 소구층 절대수 최대.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892808"/>
            <a:ext cx="777240" cy="777240"/>
          </a:xfrm>
          <a:prstGeom prst="ellipse">
            <a:avLst/>
          </a:prstGeom>
          <a:solidFill>
            <a:srgbClr val="2BB79A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9280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06640" y="192938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 전문공급의 빈틈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06640" y="2386584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의료기관 866개(대구 20.8%)지만 다이어트 상위 노출은 한방 편중. 양방 의학 비만치료 포지션이 비어 있음.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133088"/>
            <a:ext cx="777240" cy="777240"/>
          </a:xfrm>
          <a:prstGeom prst="ellipse">
            <a:avLst/>
          </a:prstGeom>
          <a:solidFill>
            <a:srgbClr val="FF6B5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33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4169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코어는 30~50대·40대 피크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83080" y="4626864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 소비 지수 40대 100 &gt; 30대 78 &gt; 50대 53. '20대 여성' 통념보다 고연령·구매력 세대.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840480"/>
            <a:ext cx="5349240" cy="2011680"/>
          </a:xfrm>
          <a:prstGeom prst="roundRect">
            <a:avLst>
              <a:gd name="adj" fmla="val 4545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33088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133088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06640" y="4169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주사(위고비·삭센다) 재편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4626864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2024.10 위고비 출시 후 검색 폭증·2025 봄 정점. '다이어트 일반'은 하락 → 의학 시술어로 수요 이동.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인구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최대 자치구 · 여초, 고밀도 정주 시장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94760" cy="4297680"/>
          </a:xfrm>
          <a:prstGeom prst="roundRect">
            <a:avLst>
              <a:gd name="adj" fmla="val 2892"/>
            </a:avLst>
          </a:prstGeom>
          <a:solidFill>
            <a:srgbClr val="0F3B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주민등록 인구 (2026.03)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794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515,142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48640" y="3127248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 · 대구 8개 구·군 중 1위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3154680" cy="0"/>
          </a:xfrm>
          <a:prstGeom prst="line">
            <a:avLst/>
          </a:prstGeom>
          <a:noFill/>
          <a:ln w="12700">
            <a:solidFill>
              <a:srgbClr val="2E5E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33832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239,483 세대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(세대당 2.15명)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밀도 ≈ 8,300명/㎢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(대구 평균의 3배대)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517,059(2025.12) → 515,142 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감소 지속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708660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74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 구성 — 여초(女超) 확정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</a:rPr>
              <a:t>여자  </a:t>
            </a:r>
            <a:pPr indent="0" marL="0">
              <a:buNone/>
            </a:pPr>
            <a:r>
              <a:rPr lang="en-US" sz="24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263,101</a:t>
            </a:r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</a:rPr>
              <a:t> 명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A"/>
                </a:solidFill>
              </a:rPr>
              <a:t>남자  </a:t>
            </a:r>
            <a:pPr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252,041</a:t>
            </a:r>
            <a:pPr indent="0" marL="0">
              <a:buNone/>
            </a:pPr>
            <a:r>
              <a:rPr lang="en-US" sz="1200" dirty="0">
                <a:solidFill>
                  <a:srgbClr val="5B6B6A"/>
                </a:solidFill>
              </a:rPr>
              <a:t> 명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52928"/>
            <a:ext cx="3385635" cy="384048"/>
          </a:xfrm>
          <a:prstGeom prst="roundRect">
            <a:avLst>
              <a:gd name="adj" fmla="val 11905"/>
            </a:avLst>
          </a:prstGeom>
          <a:solidFill>
            <a:srgbClr val="FF6B5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40515" y="2852928"/>
            <a:ext cx="3243765" cy="384048"/>
          </a:xfrm>
          <a:prstGeom prst="roundRect">
            <a:avLst>
              <a:gd name="adj" fmla="val 11905"/>
            </a:avLst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51.1%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921240" y="28529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48.9%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3310128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성비 95.8 (여자 100명당 남자 95.8명) · 여성이 11,060명 더 많음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3977640"/>
            <a:ext cx="7086600" cy="2011680"/>
          </a:xfrm>
          <a:prstGeom prst="roundRect">
            <a:avLst>
              <a:gd name="adj" fmla="val 4545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416052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함의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54880" y="4526280"/>
            <a:ext cx="6629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26.3만 = 1차 타깃 모수(TAM) 상한.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 주 소구층 여성 절대수가 대구 자치구 중 최대.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남성 25.2만도 유효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40~50대 대사·검진 연계 비만치료로 이원 설계.
</a:t>
            </a:r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고밀·정주형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회차·패키지·재방문(LTV) 중심 마케팅에 유리.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병원 밀집도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총량은 균형, 다이어트 전문은 한방 편중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  <a:effectLst>
            <a:outerShdw sx="100000" sy="100000" kx="0" ky="0" algn="bl" rotWithShape="0" blurRad="76200" dist="25400" dir="5400000">
              <a:srgbClr val="BFCFCC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837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866</a:t>
            </a:r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개소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8368" y="29077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달서구 의료기관 수 (전 종별 합계)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6916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  <a:effectLst>
            <a:outerShdw sx="100000" sy="100000" kx="0" ky="0" algn="bl" rotWithShape="0" blurRad="76200" dist="25400" dir="5400000">
              <a:srgbClr val="BFCFCC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1837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B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</a:t>
            </a:r>
            <a:pPr algn="ctr" indent="0" marL="0">
              <a:buNone/>
            </a:pPr>
            <a:r>
              <a:rPr lang="en-US" sz="13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%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38728" y="29077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대구 전체 4,155개소 중 달서구 점유율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691640"/>
            <a:ext cx="274320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  <a:effectLst>
            <a:outerShdw sx="100000" sy="100000" kx="0" ky="0" algn="bl" rotWithShape="0" blurRad="76200" dist="25400" dir="5400000">
              <a:srgbClr val="BFCFCC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183794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</a:t>
            </a:r>
            <a:pPr algn="ctr" indent="0" marL="0">
              <a:buNone/>
            </a:pPr>
            <a:r>
              <a:rPr lang="en-US" sz="1300" b="1" dirty="0">
                <a:solidFill>
                  <a:srgbClr val="FF6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개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6419088" y="2907792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1만 명당 의료기관 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89720" y="1691640"/>
            <a:ext cx="2423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  <a:effectLst>
            <a:outerShdw sx="100000" sy="100000" kx="0" ky="0" algn="bl" rotWithShape="0" blurRad="76200" dist="25400" dir="5400000">
              <a:srgbClr val="BFCFCC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1837944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F3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4/5</a:t>
            </a:r>
            <a:pPr algn="ctr" indent="0" marL="0">
              <a:buNone/>
            </a:pP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9299448" y="2907792"/>
            <a:ext cx="22037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'다이어트' 상위 노출 중 한방 비중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11064240" cy="2240280"/>
          </a:xfrm>
          <a:prstGeom prst="roundRect">
            <a:avLst>
              <a:gd name="adj" fmla="val 408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해석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315968"/>
            <a:ext cx="10607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비중 21.9% vs 의료기관 비중 20.8% → 소폭 과소공급.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수요 대비 공급 밀도가 낮아 신규 진입 여지가 있음.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그러나 다이어트·비만 '전문 포지션'은 한방에 쏠려 있음.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'달서구 다이어트' 상위 노출 5곳 중 4곳이 한의원/한방병원.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6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양방 의학 비만치료(주사·처방·대사) 브랜드의 진입·검색 선점 여지가 큼.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실측 의료 수요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비만은 아직 '병원 밖' — 의료화 갭이 곧 기회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74920" cy="1783080"/>
          </a:xfrm>
          <a:prstGeom prst="roundRect">
            <a:avLst>
              <a:gd name="adj" fmla="val 6154"/>
            </a:avLst>
          </a:prstGeom>
          <a:solidFill>
            <a:srgbClr val="0F3B3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 (E66) 직접 진료 · 2022 · 달서구 주민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174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명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비만을 '질병'으로 병원에서 직접 치료받은 인원 — 극소수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5074920" cy="2286000"/>
          </a:xfrm>
          <a:prstGeom prst="roundRect">
            <a:avLst>
              <a:gd name="adj" fmla="val 4000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5876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대사질환 진료 배후 (주상병 기준)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20624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135,000</a:t>
            </a:r>
            <a:pPr indent="0" marL="0">
              <a:buNone/>
            </a:pPr>
            <a:r>
              <a:rPr lang="en-US" sz="14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7240" y="486460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본태성고혈압 (I10)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48646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67,929 명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523036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2형당뇨 (E11)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03320" y="52303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34,443 명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5596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지질대사·고지혈 (E78)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03320" y="5596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32,723 명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52160" y="1737360"/>
            <a:ext cx="5760720" cy="4251960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뜻하나 — 갭 = 기회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80760" y="2331720"/>
            <a:ext cx="530352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수요 ↔ 의료 전환의 갭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위고비·삭센다 검색은 폭증하는데 비만 직접 진료는 174명뿐. 미개척 의료화 시장을 선점할 여지.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거대 대사질환 배후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고혈압·당뇨·고지혈 13만+ = 체중감량으로 대사개선이 필요한 모수. 남성 40~50대 대사 세그먼트의 실측 근거.
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연령 분포
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비만 진료는 30~34세 정점, 20~59세 고루 분포 — 미용 목적 연령대와 일치.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080760" y="562356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주상병 기준 진료인원(코드 중복 가능) · 소수 셀 마스킹 → 174명은 하한 · 2022년 · 출처 심평원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경쟁 지형 (샘플)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리뷰순 상위 노출 · 달구벌대로 죽전~감삼 클러스터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91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한방 다이어트 (강세)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더편한한의원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931920" y="2450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용산동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935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손모아한의원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931920" y="29352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진천동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4198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미올한의원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31920" y="3419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상인동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904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창한방병원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감삼동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잘보는한의원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931920" y="4389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진천동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1691640"/>
            <a:ext cx="53492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69164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FF6B5B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69164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 의원 (상대적으로 얇음)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4505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대곡연세의원·가정의학과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46920" y="24505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두류동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29352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웰리브의원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646920" y="2935224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대곡동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41985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아트너의원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46920" y="34198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죽전동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39044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더데이의원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46920" y="39044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월성동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9224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더차오름의원·피부과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646920" y="43891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죽전동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F3B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입지 인사이트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달구벌대로변 죽전~감삼이 미용·의원 밀집축, 월배권(상인·진천·월성)은 생활밀착 한의원 중심. 전문 비만 브랜드가 얇아 검색·브랜딩 선점 이익이 큼.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남녀·연령 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다이어트 소비 코어는 30~50대, 40대 피크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3736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DataLab 쇼핑 '다이어트식품' 지수 (2025.7, 피크=100)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98080" y="1737360"/>
            <a:ext cx="4114800" cy="4206240"/>
          </a:xfrm>
          <a:prstGeom prst="roundRect">
            <a:avLst>
              <a:gd name="adj" fmla="val 222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266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뜻하나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26680" y="2377440"/>
            <a:ext cx="3703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= 40대 (±30·50대).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구매력 있는 세대가 중심.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크리에이티브 축: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체형·이벤트 감성보다 건강·대사·리바운드 방지 등 의학적 신뢰 소구가 적중.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성별(실측): 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 263,101 &gt; 남 252,041 (여초). 여성 코어 + 남성 40~50대 대사 세그먼트 이원화.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다이어트 키워드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위고비·삭센다 주사가 시장을 재편했다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783080"/>
          <a:ext cx="7680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06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DataLab 검색어 지수 (분기 평균, 2023.1~2026.6 · 최대값=100 정규화)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458200" y="178308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0F3B3A"/>
          </a:solidFill>
          <a:ln/>
        </p:spPr>
      </p:sp>
      <p:sp>
        <p:nvSpPr>
          <p:cNvPr id="8" name="Text 5"/>
          <p:cNvSpPr/>
          <p:nvPr/>
        </p:nvSpPr>
        <p:spPr>
          <a:xfrm>
            <a:off x="8641080" y="19202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6B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2024.10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 국내 상용화 → 주사 검색 폭증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458200" y="315468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329184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↘ 다이어트(일반)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13.3 → 4.6 지속 하락. 제네릭어 → 의학 시술어로 이동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458200" y="4526280"/>
            <a:ext cx="3154680" cy="1280160"/>
          </a:xfrm>
          <a:prstGeom prst="roundRect">
            <a:avLst>
              <a:gd name="adj" fmla="val 7143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663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6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계절성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1~5월 강세, 11~12월 저점 → 광고는 12~1월 선행 배치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전략 · 포지셔닝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빈틈을 파고드는 4개 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788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 의학 비만치료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위고비·삭센다·식욕억제·대사 관리로 한방 편중 시장의 빈틈 공략.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6B5B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788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40대 코어 · 이원화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38728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여성 30~40대(체형·건강) + 남성 40~50대(대사·검진 연계) 이원 카피.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2BB79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27648" y="2788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시술어 + 지역 롱테일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27648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'위고비/삭센다/다이어트주사' 선점 + '대구·성서·월배·죽전' 롱테일 SEO/GEO.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15400" y="1737360"/>
            <a:ext cx="2606040" cy="4114800"/>
          </a:xfrm>
          <a:prstGeom prst="roundRect">
            <a:avLst>
              <a:gd name="adj" fmla="val 3509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15400" y="173736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0F3B3A"/>
          </a:solidFill>
          <a:ln/>
        </p:spPr>
      </p:sp>
      <p:sp>
        <p:nvSpPr>
          <p:cNvPr id="22" name="Text 20"/>
          <p:cNvSpPr/>
          <p:nvPr/>
        </p:nvSpPr>
        <p:spPr>
          <a:xfrm>
            <a:off x="9098280" y="173736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16568" y="2788920"/>
            <a:ext cx="2240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12~1월 선행 광고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16568" y="3749040"/>
            <a:ext cx="22402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연초·봄 검색 피크 직전에 콘텐츠·광고를 미리 깔아 수확.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로드맵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→ 조준 → 선점 → 제안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869680" y="42062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· 대구 달서구 다이어트 상권 분석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51560" y="2606040"/>
            <a:ext cx="0" cy="256032"/>
          </a:xfrm>
          <a:prstGeom prst="line">
            <a:avLst/>
          </a:prstGeom>
          <a:noFill/>
          <a:ln w="25400">
            <a:solidFill>
              <a:srgbClr val="D9E5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83080" y="1801368"/>
            <a:ext cx="9829800" cy="786384"/>
          </a:xfrm>
          <a:prstGeom prst="roundRect">
            <a:avLst>
              <a:gd name="adj" fmla="val 930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01368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801368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1801368"/>
            <a:ext cx="548640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성별인구 + 심평원 의원/한의원 종별 수로 TAM·경쟁 밀도 마감.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862072"/>
            <a:ext cx="822960" cy="822960"/>
          </a:xfrm>
          <a:prstGeom prst="ellipse">
            <a:avLst/>
          </a:prstGeom>
          <a:solidFill>
            <a:srgbClr val="2BB79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620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51560" y="3685032"/>
            <a:ext cx="0" cy="256032"/>
          </a:xfrm>
          <a:prstGeom prst="line">
            <a:avLst/>
          </a:prstGeom>
          <a:noFill/>
          <a:ln w="25400">
            <a:solidFill>
              <a:srgbClr val="D9E5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83080" y="2880360"/>
            <a:ext cx="9829800" cy="786384"/>
          </a:xfrm>
          <a:prstGeom prst="roundRect">
            <a:avLst>
              <a:gd name="adj" fmla="val 930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8803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80360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포지션·크리에이티브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2880360"/>
            <a:ext cx="548640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양방 의학 비만치료 메시지, 40대 신뢰 소구 카피·비주얼 세트 제작.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3941064"/>
            <a:ext cx="822960" cy="82296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4106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051560" y="4764024"/>
            <a:ext cx="0" cy="256032"/>
          </a:xfrm>
          <a:prstGeom prst="line">
            <a:avLst/>
          </a:prstGeom>
          <a:noFill/>
          <a:ln w="25400">
            <a:solidFill>
              <a:srgbClr val="D9E5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3959352"/>
            <a:ext cx="9829800" cy="786384"/>
          </a:xfrm>
          <a:prstGeom prst="roundRect">
            <a:avLst>
              <a:gd name="adj" fmla="val 930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11680" y="3959352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3959352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선점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0" y="3959352"/>
            <a:ext cx="548640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시술어 광고 + 대구·랜드마크 롱테일 SEO/GEO(seo-engine)로 노출 장악.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020056"/>
            <a:ext cx="822960" cy="822960"/>
          </a:xfrm>
          <a:prstGeom prst="ellipse">
            <a:avLst/>
          </a:prstGeom>
          <a:solidFill>
            <a:srgbClr val="2BB79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005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783080" y="5038344"/>
            <a:ext cx="9829800" cy="786384"/>
          </a:xfrm>
          <a:prstGeom prst="roundRect">
            <a:avLst>
              <a:gd name="adj" fmla="val 9302"/>
            </a:avLst>
          </a:prstGeom>
          <a:solidFill>
            <a:srgbClr val="F1F6F5"/>
          </a:solidFill>
          <a:ln w="12700">
            <a:solidFill>
              <a:srgbClr val="D9E5E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011680" y="5038344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83280" y="5038344"/>
            <a:ext cx="2468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0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제안·집행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943600" y="5038344"/>
            <a:ext cx="5486400" cy="7863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1페이지 클라이언트 제안서 합본, 12~1월 광고 선행 집행으로 봄 피크 수확.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행안부 주민등록(2026.03) · 심평원/공공데이터 · Naver DataLab·지역검색(2026.07)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28016"/>
          </a:xfrm>
          <a:prstGeom prst="rect">
            <a:avLst/>
          </a:prstGeom>
          <a:solidFill>
            <a:srgbClr val="FF6B5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출처 · 신뢰성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실측 &gt; 추론 &gt; 통계 날조 금지 — 미확정 항목은 숫자를 비우고 확정법을 명시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B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소스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5669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인구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행정안전부 주민등록 원자료(2026.03, 동별 성별) · 공공데이터포털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공공데이터/건강보험심사평가원 의료기관 현황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키워드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DataLab 검색어·쇼핑 트렌드(2026.07 수집)
</a:t>
            </a:r>
            <a:pPr indent="0" marL="0">
              <a:lnSpc>
                <a:spcPct val="15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경쟁  </a:t>
            </a:r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 지역검색(리뷰순 상위 샘플)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720840" y="2103120"/>
            <a:ext cx="4892040" cy="3566160"/>
          </a:xfrm>
          <a:prstGeom prst="roundRect">
            <a:avLst>
              <a:gd name="adj" fmla="val 2564"/>
            </a:avLst>
          </a:prstGeom>
          <a:solidFill>
            <a:srgbClr val="143F3E"/>
          </a:solidFill>
          <a:ln w="12700">
            <a:solidFill>
              <a:srgbClr val="2E5E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2286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확정이 필요한 항목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269748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여성 × 30~50대 코어 인원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연령×성별 원자료(동별 성별 합계는 실측 확정)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의원 vs 한의원 종별 분해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심평원 표시과목별 표(전체 866개는 확정)
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검색 f:m 절대비  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FBA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네이버 검색광고 성별 노출/클릭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09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VENOM 병원마케팅 · 2026.07 · 대구 달서구 다이어트 상권 분석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2026-07-23T10:11:11Z</dcterms:created>
  <dcterms:modified xsi:type="dcterms:W3CDTF">2026-07-23T10:11:11Z</dcterms:modified>
</cp:coreProperties>
</file>