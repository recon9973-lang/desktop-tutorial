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다이어트 소비 지수</c:v>
                </c:pt>
              </c:strCache>
            </c:strRef>
          </c:tx>
          <c:spPr>
            <a:solidFill>
              <a:srgbClr val="2BB7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6302E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6B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10대</c:v>
                  </c:pt>
                  <c:pt idx="1">
                    <c:v>20대</c:v>
                  </c:pt>
                  <c:pt idx="2">
                    <c:v>30대</c:v>
                  </c:pt>
                  <c:pt idx="3">
                    <c:v>40대</c:v>
                  </c:pt>
                  <c:pt idx="4">
                    <c:v>50대</c:v>
                  </c:pt>
                  <c:pt idx="5">
                    <c:v>60대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35</c:v>
                </c:pt>
                <c:pt idx="2">
                  <c:v>78</c:v>
                </c:pt>
                <c:pt idx="3">
                  <c:v>100</c:v>
                </c:pt>
                <c:pt idx="4">
                  <c:v>53</c:v>
                </c:pt>
                <c:pt idx="5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6302E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302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다이어트주사·삭센다·위고비</c:v>
                </c:pt>
              </c:strCache>
            </c:strRef>
          </c:tx>
          <c:spPr>
            <a:solidFill>
              <a:srgbClr val="FF6B5B"/>
            </a:solidFill>
            <a:ln w="38100" cap="flat">
              <a:solidFill>
                <a:srgbClr val="FF6B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5B"/>
              </a:solidFill>
              <a:ln w="9525" cap="flat">
                <a:solidFill>
                  <a:srgbClr val="FF6B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7.5</c:v>
                </c:pt>
                <c:pt idx="1">
                  <c:v>10.7</c:v>
                </c:pt>
                <c:pt idx="2">
                  <c:v>11.1</c:v>
                </c:pt>
                <c:pt idx="3">
                  <c:v>12</c:v>
                </c:pt>
                <c:pt idx="4">
                  <c:v>9.8</c:v>
                </c:pt>
                <c:pt idx="5">
                  <c:v>13.2</c:v>
                </c:pt>
                <c:pt idx="6">
                  <c:v>16.9</c:v>
                </c:pt>
                <c:pt idx="7">
                  <c:v>52.2</c:v>
                </c:pt>
                <c:pt idx="8">
                  <c:v>35.7</c:v>
                </c:pt>
                <c:pt idx="9">
                  <c:v>72.9</c:v>
                </c:pt>
                <c:pt idx="10">
                  <c:v>49.3</c:v>
                </c:pt>
                <c:pt idx="11">
                  <c:v>26.5</c:v>
                </c:pt>
                <c:pt idx="12">
                  <c:v>21.3</c:v>
                </c:pt>
                <c:pt idx="13">
                  <c:v>15.3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다이어트 (일반)</c:v>
                </c:pt>
              </c:strCache>
            </c:strRef>
          </c:tx>
          <c:spPr>
            <a:solidFill>
              <a:srgbClr val="0E7C7B"/>
            </a:solidFill>
            <a:ln w="38100" cap="flat">
              <a:solidFill>
                <a:srgbClr val="0E7C7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7C7B"/>
              </a:solidFill>
              <a:ln w="9525" cap="flat">
                <a:solidFill>
                  <a:srgbClr val="0E7C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13.3</c:v>
                </c:pt>
                <c:pt idx="1">
                  <c:v>12.3</c:v>
                </c:pt>
                <c:pt idx="2">
                  <c:v>10.1</c:v>
                </c:pt>
                <c:pt idx="3">
                  <c:v>7.6</c:v>
                </c:pt>
                <c:pt idx="4">
                  <c:v>9.7</c:v>
                </c:pt>
                <c:pt idx="5">
                  <c:v>10.1</c:v>
                </c:pt>
                <c:pt idx="6">
                  <c:v>8.9</c:v>
                </c:pt>
                <c:pt idx="7">
                  <c:v>7.1</c:v>
                </c:pt>
                <c:pt idx="8">
                  <c:v>7.8</c:v>
                </c:pt>
                <c:pt idx="9">
                  <c:v>7.5</c:v>
                </c:pt>
                <c:pt idx="10">
                  <c:v>6.5</c:v>
                </c:pt>
                <c:pt idx="11">
                  <c:v>4.7</c:v>
                </c:pt>
                <c:pt idx="12">
                  <c:v>5.2</c:v>
                </c:pt>
                <c:pt idx="13">
                  <c:v>4.6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다이어트한약·한방</c:v>
                </c:pt>
              </c:strCache>
            </c:strRef>
          </c:tx>
          <c:spPr>
            <a:solidFill>
              <a:srgbClr val="2BB79A"/>
            </a:solidFill>
            <a:ln w="38100" cap="flat">
              <a:solidFill>
                <a:srgbClr val="2BB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BB79A"/>
              </a:solidFill>
              <a:ln w="9525" cap="flat">
                <a:solidFill>
                  <a:srgbClr val="2BB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2.4</c:v>
                </c:pt>
                <c:pt idx="1">
                  <c:v>2.5</c:v>
                </c:pt>
                <c:pt idx="2">
                  <c:v>2.1</c:v>
                </c:pt>
                <c:pt idx="3">
                  <c:v>1.7</c:v>
                </c:pt>
                <c:pt idx="4">
                  <c:v>2.3</c:v>
                </c:pt>
                <c:pt idx="5">
                  <c:v>2.5</c:v>
                </c:pt>
                <c:pt idx="6">
                  <c:v>2.3</c:v>
                </c:pt>
                <c:pt idx="7">
                  <c:v>2</c:v>
                </c:pt>
                <c:pt idx="8">
                  <c:v>2.8</c:v>
                </c:pt>
                <c:pt idx="9">
                  <c:v>2.5</c:v>
                </c:pt>
                <c:pt idx="10">
                  <c:v>2</c:v>
                </c:pt>
                <c:pt idx="11">
                  <c:v>1.5</c:v>
                </c:pt>
                <c:pt idx="12">
                  <c:v>1.5</c:v>
                </c:pt>
                <c:pt idx="13">
                  <c:v>1.4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12700" cap="flat">
              <a:solidFill>
                <a:srgbClr val="D9E5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A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302E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대구 달서구 다이어트/비만 진료 상권 분석. 인구, 병원 밀집도, 남녀·연령, 다이어트 키워드 4개 축. 모든 수치는 행안부·심평원·Naver DataLab 실측 기반이며, 미확정 항목은 별도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문장으로 요약: 최대 배후시장, 양방 공급 빈틈, 30~50대 코어, 주사 키워드 재편.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총인구 517,059명(2025.12 행안부). 대구 1위, 밀도 8,300/㎢. 감소 추세. 성별은 여초 경향이나 정확 인원은 원자료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866개 의료기관(대구 20.8%), 1만명당 16.7개. 공급 총량 균형이나 다이어트 상위 노출은 한방 편중 → 양방 의학 비만치료 빈틈.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Naver 지역검색 리뷰순 상위 샘플(API가 5건 캡이라 개수 아님). 한방 강세, 양방 얇음. 죽전~감삼 클러스터.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연령 지수 40대100 30대78 50대53 20대35 60대14 10대6. 코어 30~50대. 의학적 신뢰 소구. 성별은 여성우세+남성 대사 세그먼트.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슬라이드. 주사(위고비·삭센다) 2024.10 폭증 2025봄 정점. 일반어 하락. 한약 낮고 안정. 계절성 1~5월.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4축: 양방 의학 포지션, 40대·이원화 타깃, 시술어+지역롱테일 키워드, 12~1월 선행 타이밍.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 로드맵: 데이터 확정 → 포지션/크리에이티브 → 검색 선점 → 제안·집행.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신뢰성. 실측 소스 명시, 미확정 항목은 확정법과 함께 투명 표기. 통계 날조 금지 원칙 준수.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"/>
          </a:xfrm>
          <a:prstGeom prst="rect">
            <a:avLst/>
          </a:prstGeom>
          <a:solidFill>
            <a:srgbClr val="FF6B5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INTELLIGENCE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달서구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다이어트·비만 진료 상권 분석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· 병원 밀집도 · 남녀·연령 · 다이어트 키워드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517,059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인구 (대구 1위)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3484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43484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의료기관 수 (대구의 20.8%)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4672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위고비·삭센다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04672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시장 재편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병원마케팅  ·  2026.07  ·  실측 기반 확정본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핵심 4가지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92808"/>
            <a:ext cx="777240" cy="777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192938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최대 배후시장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38658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517,059명으로 대구 자치구 인구 1위, 밀도 약 8,300명/㎢. 다이어트 잠재수요 절대량이 대구 최대.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892808"/>
            <a:ext cx="777240" cy="77724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06640" y="192938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전문공급의 빈틈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06640" y="238658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의료기관 866개(대구 20.8%)지만 다이어트 상위 노출은 한방 편중. 양방 의학 비만치료 포지션이 비어 있음.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33088"/>
            <a:ext cx="777240" cy="777240"/>
          </a:xfrm>
          <a:prstGeom prst="ellipse">
            <a:avLst/>
          </a:prstGeom>
          <a:solidFill>
            <a:srgbClr val="FF6B5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16966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코어는 30~50대·40대 피크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83080" y="462686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소비 지수 40대 100 &gt; 30대 78 &gt; 50대 53. '20대 여성' 통념보다 고연령·구매력 세대.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133088"/>
            <a:ext cx="777240" cy="777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416966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주사(위고비·삭센다) 재편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06640" y="462686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2024.10 위고비 출시 후 검색 폭증·2025 봄 정점. '다이어트 일반'은 하락 → 의학 시술어로 수요 이동.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인구 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최대 자치구, 고밀도 정주 시장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114800" cy="4297680"/>
          </a:xfrm>
          <a:prstGeom prst="roundRect">
            <a:avLst>
              <a:gd name="adj" fmla="val 2667"/>
            </a:avLst>
          </a:prstGeom>
          <a:solidFill>
            <a:srgbClr val="0F3B3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총인구 (2025.12)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517,059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8개 자치구·군 중 인구 1위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206240"/>
            <a:ext cx="3703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▾ 전월 대비 −623명 · 정점(2013년 약 61만) 이후 완만한 감소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5029200"/>
            <a:ext cx="3703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인구밀도 ≈ 8,300명/㎢  (면적 62.3㎢) — 대구 평균의 3배대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937760" y="1691640"/>
            <a:ext cx="333756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83480" y="1837944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여초</a:t>
            </a:r>
            <a:pPr algn="ctr" indent="0" marL="0">
              <a:buNone/>
            </a:pP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5047488" y="3136392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연령대 여성 우세 경향(대구 통상). 정확 남/여 인원은 행안부 원자료로 확정 필요.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58200" y="1691640"/>
            <a:ext cx="31546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03920" y="183794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정주형</a:t>
            </a:r>
            <a:pPr algn="ctr" indent="0" marL="0">
              <a:buNone/>
            </a:pP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8567928" y="3136392"/>
            <a:ext cx="2935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대단지 아파트 배후(성서·월배·죽전). 재방문·회차 치료(패키지)에 유리한 구조.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3977640"/>
            <a:ext cx="667512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4160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함의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166360" y="4526280"/>
            <a:ext cx="6263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절대량 최대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신규 유입보다 기존 주민 내 검색·인지 점유(마인드셰어) 확보가 핵심.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고밀·정주형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회차·패키지 치료와 재방문 설계에 유리. LTV 중심 마케팅 적합.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병원 밀집도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 총량은 균형, 다이어트 전문은 한방 편중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743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8379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866</a:t>
            </a:r>
            <a:pPr algn="ct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개소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58368" y="290779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의료기관 수 (전 종별 합계)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743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8379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</a:t>
            </a:r>
            <a:pPr algn="ctr" indent="0" marL="0">
              <a:buNone/>
            </a:pPr>
            <a:r>
              <a:rPr lang="en-US" sz="13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%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538728" y="290779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전체 4,155개소 중 달서구 점유율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1691640"/>
            <a:ext cx="2743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18379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16.7</a:t>
            </a:r>
            <a:pPr algn="ctr" indent="0" marL="0"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419088" y="290779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1만 명당 의료기관 수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89720" y="1691640"/>
            <a:ext cx="24231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1837944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F3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</a:t>
            </a:r>
            <a:pPr algn="ctr" indent="0" marL="0">
              <a:buNone/>
            </a:pP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99448" y="2907792"/>
            <a:ext cx="22037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'다이어트' 상위 노출 중 한방 비중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11064240" cy="2240280"/>
          </a:xfrm>
          <a:prstGeom prst="roundRect">
            <a:avLst>
              <a:gd name="adj" fmla="val 408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해석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315968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비중과 공급 총량은 균형.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달서구는 대구 인구의 약 1/5, 의료기관도 20.8% 보유.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다이어트·비만 '전문 포지션'은 한방에 쏠려 있음.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'달서구 다이어트' 상위 노출 5곳 중 4곳이 한의원/한방병원.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양방 의학 비만치료(주사·처방·대사) 브랜드의 진입·검색 선점 여지가 큼.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경쟁 지형 (샘플)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리뷰순 상위 노출 · 달구벌대로 죽전~감삼 클러스터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한방 다이어트 (강세)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505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더편한한의원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31920" y="2450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용산동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935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손모아한의원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31920" y="293522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진천동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미올한의원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341985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상인동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9044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창한방병원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931920" y="3904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감삼동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389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잘보는한의원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93192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진천동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6916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FF6B5B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6916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의원 (상대적으로 얇음)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4505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대곡연세의원·가정의학과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646920" y="2450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두류동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2935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웰리브의원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46920" y="293522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대곡동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4198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아트너의원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646920" y="341985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죽전동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39044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더데이의원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46920" y="3904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월성동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92240" y="4389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더차오름의원·피부과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64692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죽전동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0F3B3A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입지 인사이트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달구벌대로변 죽전~감삼이 미용·의원 밀집축, 월배권(상인·진천·월성)은 생활밀착 한의원 중심. 전문 비만 브랜드가 얇아 검색·브랜딩 선점 이익이 큼.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남녀·연령 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소비 코어는 30~50대, 40대 피크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쇼핑 '다이어트식품' 지수 (2025.7, 피크=100)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498080" y="1737360"/>
            <a:ext cx="4114800" cy="4206240"/>
          </a:xfrm>
          <a:prstGeom prst="roundRect">
            <a:avLst>
              <a:gd name="adj" fmla="val 222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뜻하나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26680" y="2377440"/>
            <a:ext cx="37033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= 40대 (±30·50대).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구매력 있는 세대가 중심.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크리에이티브 축: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체형·이벤트 감성보다 건강·대사·리바운드 방지 등 의학적 신뢰 소구가 적중.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우세 + 남성(40~50대 대사증후군) 별도 세그먼트. 정확 f:m 비는 광고계정 데이터로 확정.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다이어트 키워드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위고비·삭센다 주사가 시장을 재편했다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680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검색어 지수 (분기 평균, 2023.1~2026.6 · 최대값=100 정규화)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458200" y="1783080"/>
            <a:ext cx="3154680" cy="1234440"/>
          </a:xfrm>
          <a:prstGeom prst="roundRect">
            <a:avLst>
              <a:gd name="adj" fmla="val 7407"/>
            </a:avLst>
          </a:prstGeom>
          <a:solidFill>
            <a:srgbClr val="0F3B3A"/>
          </a:solidFill>
          <a:ln/>
        </p:spPr>
      </p:sp>
      <p:sp>
        <p:nvSpPr>
          <p:cNvPr id="8" name="Text 5"/>
          <p:cNvSpPr/>
          <p:nvPr/>
        </p:nvSpPr>
        <p:spPr>
          <a:xfrm>
            <a:off x="8641080" y="19202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2024.10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 국내 상용화 → 주사 검색 폭증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458200" y="3154680"/>
            <a:ext cx="3154680" cy="1234440"/>
          </a:xfrm>
          <a:prstGeom prst="roundRect">
            <a:avLst>
              <a:gd name="adj" fmla="val 7407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41080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↘ 다이어트(일반)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13.3 → 4.6 지속 하락. 제네릭어 → 의학 시술어로 이동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458200" y="4526280"/>
            <a:ext cx="3154680" cy="1280160"/>
          </a:xfrm>
          <a:prstGeom prst="roundRect">
            <a:avLst>
              <a:gd name="adj" fmla="val 7143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41080" y="46634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1~5월 강세, 11~12월 저점 → 광고는 12~1월 선행 배치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· 포지셔닝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빈틈을 파고드는 4개 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의학 비만치료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위고비·삭센다·식욕억제·대사 관리로 한방 편중 시장의 빈틈 공략.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FF6B5B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40대 코어 · 이원화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3872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30~40대(체형·건강) + 남성 40~50대(대사·검진 연계) 이원 카피.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2BB79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시술어 + 지역 롱테일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2764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'위고비/삭센다/다이어트주사' 선점 + '대구·성서·월배·죽전' 롱테일 SEO/GEO.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1540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540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0F3B3A"/>
          </a:solidFill>
          <a:ln/>
        </p:spPr>
      </p:sp>
      <p:sp>
        <p:nvSpPr>
          <p:cNvPr id="22" name="Text 20"/>
          <p:cNvSpPr/>
          <p:nvPr/>
        </p:nvSpPr>
        <p:spPr>
          <a:xfrm>
            <a:off x="909828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1656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12~1월 선행 광고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1656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연초·봄 검색 피크 직전에 콘텐츠·광고를 미리 깔아 수확.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로드맵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→ 조준 → 선점 →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822960" cy="8229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051560" y="2606040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1801368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1801368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1801368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확정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0" y="1801368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성별인구 + 심평원 의원/한의원 종별 수로 TAM·경쟁 밀도 마감.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862072"/>
            <a:ext cx="822960" cy="82296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620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51560" y="3685032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3080" y="2880360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2880360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2880360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포지션·크리에이티브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2880360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의학 비만치료 메시지, 40대 신뢰 소구 카피·비주얼 세트 제작.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41064"/>
            <a:ext cx="822960" cy="8229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410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51560" y="4764024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3959352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3959352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0" y="3959352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선점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0" y="3959352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시술어 광고 + 대구·랜드마크 롱테일 SEO/GEO(seo-engine)로 노출 장악.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5020056"/>
            <a:ext cx="822960" cy="82296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0200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783080" y="5038344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11680" y="5038344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5038344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제안·집행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5038344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클라이언트 제안서 합본, 12~1월 광고 선행 집행으로 봄 피크 수확.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주민등록(2025.12) · 심평원/공공데이터 · Naver DataLab·지역검색(2026.07)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"/>
          </a:xfrm>
          <a:prstGeom prst="rect">
            <a:avLst/>
          </a:prstGeom>
          <a:solidFill>
            <a:srgbClr val="FF6B5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출처 · 신뢰성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실측 &gt; 추론 &gt; 통계 날조 금지 — 미확정 항목은 숫자를 비우고 확정법을 명시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소스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주민등록(2025.12) · 공공데이터포털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공공데이터/건강보험심사평가원 의료기관 현황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검색어·쇼핑 트렌드(2026.07 수집)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지역검색(리뷰순 상위 샘플)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564"/>
            </a:avLst>
          </a:prstGeom>
          <a:solidFill>
            <a:srgbClr val="143F3E"/>
          </a:solidFill>
          <a:ln w="12700">
            <a:solidFill>
              <a:srgbClr val="2E5E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확정이 필요한 항목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49440" y="2697480"/>
            <a:ext cx="44805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정확 남/여 인구·세대수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행안부 원자료(조직 egress 정책상 이번 세션 원문 다운로드 차단)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의원 vs 한의원 종별 분해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심평원 표시과목별 표(전체 866개는 확정)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검색 f:m 절대비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네이버 검색광고 성별 노출/클릭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병원마케팅 · 2026.07 · 대구 달서구 다이어트 상권 분석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2026-07-23T09:45:45Z</dcterms:created>
  <dcterms:modified xsi:type="dcterms:W3CDTF">2026-07-23T09:45:45Z</dcterms:modified>
</cp:coreProperties>
</file>