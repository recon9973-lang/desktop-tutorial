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notesMasterIdLst>
    <p:notesMasterId r:id="rId6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1.png"/><Relationship Id="rId3" Type="http://schemas.openxmlformats.org/officeDocument/2006/relationships/image" Target="../media/image-18-1.png"/><Relationship Id="rId4" Type="http://schemas.openxmlformats.org/officeDocument/2006/relationships/image" Target="../media/image-1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1.png"/><Relationship Id="rId3" Type="http://schemas.openxmlformats.org/officeDocument/2006/relationships/image" Target="../media/image-29-1.png"/><Relationship Id="rId4" Type="http://schemas.openxmlformats.org/officeDocument/2006/relationships/image" Target="../media/image-29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2.png"/><Relationship Id="rId4" Type="http://schemas.openxmlformats.org/officeDocument/2006/relationships/image" Target="../media/image-34-2.png"/><Relationship Id="rId5" Type="http://schemas.openxmlformats.org/officeDocument/2006/relationships/image" Target="../media/image-34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1.png"/><Relationship Id="rId3" Type="http://schemas.openxmlformats.org/officeDocument/2006/relationships/image" Target="../media/image-37-1.png"/><Relationship Id="rId4" Type="http://schemas.openxmlformats.org/officeDocument/2006/relationships/image" Target="../media/image-37-1.png"/><Relationship Id="rId5" Type="http://schemas.openxmlformats.org/officeDocument/2006/relationships/image" Target="../media/image-37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1.png"/><Relationship Id="rId3" Type="http://schemas.openxmlformats.org/officeDocument/2006/relationships/image" Target="../media/image-39-1.png"/><Relationship Id="rId4" Type="http://schemas.openxmlformats.org/officeDocument/2006/relationships/image" Target="../media/image-39-1.png"/><Relationship Id="rId5" Type="http://schemas.openxmlformats.org/officeDocument/2006/relationships/image" Target="../media/image-39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1.png"/><Relationship Id="rId3" Type="http://schemas.openxmlformats.org/officeDocument/2006/relationships/image" Target="../media/image-41-1.png"/><Relationship Id="rId4" Type="http://schemas.openxmlformats.org/officeDocument/2006/relationships/image" Target="../media/image-4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image" Target="../media/image-4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1.png"/><Relationship Id="rId3" Type="http://schemas.openxmlformats.org/officeDocument/2006/relationships/image" Target="../media/image-4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image" Target="../media/image-4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1.png"/><Relationship Id="rId3" Type="http://schemas.openxmlformats.org/officeDocument/2006/relationships/image" Target="../media/image-51-1.png"/><Relationship Id="rId4" Type="http://schemas.openxmlformats.org/officeDocument/2006/relationships/image" Target="../media/image-51-1.png"/><Relationship Id="rId5" Type="http://schemas.openxmlformats.org/officeDocument/2006/relationships/image" Target="../media/image-51-1.png"/><Relationship Id="rId6" Type="http://schemas.openxmlformats.org/officeDocument/2006/relationships/image" Target="../media/image-51-1.png"/><Relationship Id="rId7" Type="http://schemas.openxmlformats.org/officeDocument/2006/relationships/image" Target="../media/image-51-1.png"/><Relationship Id="rId8" Type="http://schemas.openxmlformats.org/officeDocument/2006/relationships/image" Target="../media/image-51-1.png"/><Relationship Id="rId9" Type="http://schemas.openxmlformats.org/officeDocument/2006/relationships/image" Target="../media/image-51-1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1.png"/><Relationship Id="rId3" Type="http://schemas.openxmlformats.org/officeDocument/2006/relationships/image" Target="../media/image-5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1.png"/><Relationship Id="rId3" Type="http://schemas.openxmlformats.org/officeDocument/2006/relationships/image" Target="../media/image-60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206240"/>
            <a:ext cx="4754880" cy="4754880"/>
          </a:xfrm>
          <a:prstGeom prst="ellipse">
            <a:avLst/>
          </a:prstGeom>
          <a:solidFill>
            <a:srgbClr val="342F8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914400"/>
            <a:ext cx="2377440" cy="2377440"/>
          </a:xfrm>
          <a:prstGeom prst="ellipse">
            <a:avLst/>
          </a:prstGeom>
          <a:solidFill>
            <a:srgbClr val="FF7A45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/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9875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SEO &amp; AEO 실전</a:t>
            </a:r>
            <a:endParaRPr lang="en-US" sz="4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의도부터 즉답형 작성까지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7C9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기초 인프라는 갖췄다. 이제 검색 의도를 정확히 읽고, AI가 그대로 인용하고 싶어지는 콘텐츠를 직접 만드는 단계다.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9808" y="4791456"/>
            <a:ext cx="100584" cy="10058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64515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D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SEO 4대 전략 — 검색 의도 분석부터 토픽 클러스터 설계까지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49808" y="5212080"/>
            <a:ext cx="100584" cy="10058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506577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D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 3단계 실전법 — 질문 수집, 즉답형 작성, FAQ 구조화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49808" y="5632704"/>
            <a:ext cx="100584" cy="10058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54864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D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좋은 예시·나쁜 예시로 비교하는 실전 작성 원칙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49808" y="6053328"/>
            <a:ext cx="100584" cy="10058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590702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D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 1주 완성 체크리스트, 오늘 바로 시작하는 법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31520" y="6355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5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검색 시대 마케팅 — SEO·AEO·GEO 5주 완성 과정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다루는 5가지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08760" y="1783080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· 콘텐츠 SEO 4대 전략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349240" y="1783080"/>
            <a:ext cx="5989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의도 분석 → 토픽 클러스터 → E-E-A-T 작성 → 콘텐츠 최적화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642616"/>
            <a:ext cx="10789920" cy="0"/>
          </a:xfrm>
          <a:prstGeom prst="line">
            <a:avLst/>
          </a:prstGeom>
          <a:noFill/>
          <a:ln w="12700">
            <a:solidFill>
              <a:srgbClr val="E2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679192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08760" y="2679192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· 검색 의도와 정보 이득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349240" y="2679192"/>
            <a:ext cx="5989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Intent Gap을 찾고 Information Gain으로 차별화하는 법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538728"/>
            <a:ext cx="10789920" cy="0"/>
          </a:xfrm>
          <a:prstGeom prst="line">
            <a:avLst/>
          </a:prstGeom>
          <a:noFill/>
          <a:ln w="12700">
            <a:solidFill>
              <a:srgbClr val="E2E2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575304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08760" y="3575304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· AEO 실전 3단계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349240" y="3575304"/>
            <a:ext cx="5989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질문 수집 → 역피라미드 작성 → FAQ 구조화, 좋은 예시로 직접 비교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434840"/>
            <a:ext cx="10789920" cy="0"/>
          </a:xfrm>
          <a:prstGeom prst="line">
            <a:avLst/>
          </a:prstGeom>
          <a:noFill/>
          <a:ln w="12700">
            <a:solidFill>
              <a:srgbClr val="E2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471416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08760" y="4471416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· GEO 콘텐츠 작성 심화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349240" y="4471416"/>
            <a:ext cx="5989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Executive Summary 구조화 공식과 독창적 프레임워크 개발법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5330952"/>
            <a:ext cx="10789920" cy="0"/>
          </a:xfrm>
          <a:prstGeom prst="line">
            <a:avLst/>
          </a:prstGeom>
          <a:noFill/>
          <a:ln w="12700">
            <a:solidFill>
              <a:srgbClr val="E2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5367528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08760" y="5367528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 · 오늘 바로 시작하기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349240" y="5367528"/>
            <a:ext cx="5989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 1주 완성 체크리스트로 이번 주 안에 첫 결과 만들기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852160" cy="5852160"/>
          </a:xfrm>
          <a:prstGeom prst="ellipse">
            <a:avLst/>
          </a:prstGeom>
          <a:solidFill>
            <a:srgbClr val="342F8C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234440"/>
            <a:ext cx="960120" cy="960120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4" name="Image 0" descr="/home/claude/seo_course/icons/filetex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" y="148407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SEO 4대 핵심 전략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9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2026년 기준, 한 페이지의 완성도가 아니라 사이트 전체의 주제적 권위가 평가된다.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핵심 개념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SEO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Content SEO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사용자의 의도에 정확히 부합하는 고품질 콘텐츠를 제작·최적화해 검색엔진과 AI에서 높은 가시성을 확보하는 전략이다.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907792"/>
            <a:ext cx="10844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2026년 기준 평가 대상은 한 페이지의 완성도가 아니라 사이트 전체의 주제적 권위(Topical Authority)와 신뢰 자산이다. 키워드 하나에 집중하는 시대는 끝났다.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4873752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1" name="Image 1" descr="/home/claude/seo_course/icons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4973604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3776472"/>
            <a:ext cx="1024128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출발점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포털에서 고객이 검색하는 키워드를 분석하고, 자사·경쟁사 키워드를 비교해 핵심·연관 키워드를 선정하는 것부터 시작한다.</a:t>
            </a:r>
            <a:endParaRPr lang="en-US" sz="1260" dirty="0"/>
          </a:p>
        </p:txBody>
      </p:sp>
      <p:sp>
        <p:nvSpPr>
          <p:cNvPr id="13" name="Text 9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4대 전략 흐름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의도 분석 → 토픽 클러스터 → E-E-A-T → 최적화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546604" cy="4160520"/>
          </a:xfrm>
          <a:prstGeom prst="roundRect">
            <a:avLst>
              <a:gd name="adj" fmla="val 3232"/>
            </a:avLst>
          </a:prstGeom>
          <a:solidFill>
            <a:srgbClr val="1E1B4B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984248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49808" y="2624328"/>
            <a:ext cx="21808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1 · 검색 의도 분석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3319272"/>
            <a:ext cx="218084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30" dirty="0">
                <a:solidFill>
                  <a:srgbClr val="D4D6F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SERP를 분석해 정보형·탐색형·거래형·비교형 중 어떤 의도인지 파악한다.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3095244" y="3570732"/>
            <a:ext cx="329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›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406140" y="1783080"/>
            <a:ext cx="2546604" cy="4160520"/>
          </a:xfrm>
          <a:prstGeom prst="roundRect">
            <a:avLst>
              <a:gd name="adj" fmla="val 3232"/>
            </a:avLst>
          </a:prstGeom>
          <a:solidFill>
            <a:srgbClr val="342F8C"/>
          </a:solidFill>
          <a:ln/>
        </p:spPr>
      </p:sp>
      <p:sp>
        <p:nvSpPr>
          <p:cNvPr id="10" name="Text 8"/>
          <p:cNvSpPr/>
          <p:nvPr/>
        </p:nvSpPr>
        <p:spPr>
          <a:xfrm>
            <a:off x="3589020" y="1984248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89020" y="2624328"/>
            <a:ext cx="21808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2 · 토픽 클러스터 설계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89020" y="3319272"/>
            <a:ext cx="218084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30" dirty="0">
                <a:solidFill>
                  <a:srgbClr val="D4D6F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필러 페이지와 서브토픽을 내부 링크로 연결해 주제적 권위를 구축한다.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5934456" y="3570732"/>
            <a:ext cx="329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245352" y="1783080"/>
            <a:ext cx="2546604" cy="4160520"/>
          </a:xfrm>
          <a:prstGeom prst="roundRect">
            <a:avLst>
              <a:gd name="adj" fmla="val 3232"/>
            </a:avLst>
          </a:prstGeom>
          <a:solidFill>
            <a:srgbClr val="1E1B4B"/>
          </a:solidFill>
          <a:ln/>
        </p:spPr>
      </p:sp>
      <p:sp>
        <p:nvSpPr>
          <p:cNvPr id="15" name="Text 13"/>
          <p:cNvSpPr/>
          <p:nvPr/>
        </p:nvSpPr>
        <p:spPr>
          <a:xfrm>
            <a:off x="6428232" y="1984248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28232" y="2624328"/>
            <a:ext cx="21808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3 · E-E-A-T 기반 작성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28232" y="3319272"/>
            <a:ext cx="218084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30" dirty="0">
                <a:solidFill>
                  <a:srgbClr val="D4D6F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경험·전문성·권위·신뢰를 담아, 2026년 가장 중요한 Experience를 차별화한다.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8773668" y="3570732"/>
            <a:ext cx="329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›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9084564" y="1783080"/>
            <a:ext cx="2546604" cy="4160520"/>
          </a:xfrm>
          <a:prstGeom prst="roundRect">
            <a:avLst>
              <a:gd name="adj" fmla="val 3232"/>
            </a:avLst>
          </a:prstGeom>
          <a:solidFill>
            <a:srgbClr val="342F8C"/>
          </a:solidFill>
          <a:ln/>
        </p:spPr>
      </p:sp>
      <p:sp>
        <p:nvSpPr>
          <p:cNvPr id="20" name="Text 18"/>
          <p:cNvSpPr/>
          <p:nvPr/>
        </p:nvSpPr>
        <p:spPr>
          <a:xfrm>
            <a:off x="9267444" y="1984248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267444" y="2624328"/>
            <a:ext cx="21808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4 · 콘텐츠 최적화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267444" y="3319272"/>
            <a:ext cx="218084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30" dirty="0">
                <a:solidFill>
                  <a:srgbClr val="D4D6F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Answer-First 구조와 구조화 데이터로 AI와 사용자 모두에게 잘 읽히게 만든다.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1단계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의도 (Search Intent)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사용자가 진짜로 원하는 것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사용자가 검색어를 입력할 때 실제로 원하는 정보·행동·결과를 의미하며, 의도가 불일치하면 콘텐츠 품질과 무관하게 상위 노출에 실패한다.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3146679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0" name="Image 1" descr="/home/claude/seo_course/icons/filetex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3246531"/>
            <a:ext cx="184343" cy="184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" y="2907792"/>
            <a:ext cx="10241280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정보형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개념이나 방법을 알고 싶어 검색한다 (예: ○○란 무엇인가요)</a:t>
            </a:r>
            <a:endParaRPr lang="en-US" sz="1260" dirty="0"/>
          </a:p>
        </p:txBody>
      </p:sp>
      <p:sp>
        <p:nvSpPr>
          <p:cNvPr id="12" name="Shape 8"/>
          <p:cNvSpPr/>
          <p:nvPr/>
        </p:nvSpPr>
        <p:spPr>
          <a:xfrm>
            <a:off x="566928" y="4008501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3" name="Image 2" descr="/home/claude/seo_course/icons/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80" y="4108353"/>
            <a:ext cx="184343" cy="1843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8992" y="3769614"/>
            <a:ext cx="10241280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탐색형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특정 브랜드나 사이트를 찾기 위해 검색한다</a:t>
            </a:r>
            <a:endParaRPr lang="en-US" sz="1260" dirty="0"/>
          </a:p>
        </p:txBody>
      </p:sp>
      <p:sp>
        <p:nvSpPr>
          <p:cNvPr id="15" name="Shape 10"/>
          <p:cNvSpPr/>
          <p:nvPr/>
        </p:nvSpPr>
        <p:spPr>
          <a:xfrm>
            <a:off x="566928" y="4870323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6" name="Image 3" descr="/home/claude/seo_course/icons/stor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80" y="4970175"/>
            <a:ext cx="184343" cy="1843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78992" y="4631436"/>
            <a:ext cx="10241280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거래형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구매·신청 등 행동을 하기 위해 검색한다</a:t>
            </a:r>
            <a:endParaRPr lang="en-US" sz="1260" dirty="0"/>
          </a:p>
        </p:txBody>
      </p:sp>
      <p:sp>
        <p:nvSpPr>
          <p:cNvPr id="18" name="Shape 12"/>
          <p:cNvSpPr/>
          <p:nvPr/>
        </p:nvSpPr>
        <p:spPr>
          <a:xfrm>
            <a:off x="566928" y="5732145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9" name="Image 4" descr="/home/claude/seo_course/icons/balanc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80" y="5831997"/>
            <a:ext cx="184343" cy="18434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78992" y="5493258"/>
            <a:ext cx="10241280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비교형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여러 옵션 중 선택하기 위해 비교 정보를 찾는다</a:t>
            </a:r>
            <a:endParaRPr lang="en-US" sz="1260" dirty="0"/>
          </a:p>
        </p:txBody>
      </p:sp>
      <p:sp>
        <p:nvSpPr>
          <p:cNvPr id="21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STEP 1 체크리스트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의도 분석, 모든 콘텐츠의 출발점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237286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2458456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20574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타겟 키워드의 SERP 상위 10개 결과를 분석한다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566928" y="333298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16" y="3418576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301752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정보형·탐색형·거래형·비교형 의도를 정확히 분류한다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429310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437869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97764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Intent Gap — 기존 콘텐츠가 충족하지 못하는 영역을 찾는다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566928" y="525322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16" y="5338816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24128" y="493776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분석 결과에 따라 콘텐츠 유형·형식·깊이를 결정한다</a:t>
            </a:r>
            <a:endParaRPr lang="en-US" sz="1260" dirty="0"/>
          </a:p>
        </p:txBody>
      </p:sp>
      <p:sp>
        <p:nvSpPr>
          <p:cNvPr id="16" name="Text 1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2단계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토픽 클러스터 (Topic Cluster)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필러 페이지 + 서브토픽 구조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하나의 필러 페이지(핵심 주제)를 중심으로 관련 서브토픽 페이지들이 내부 링크로 연결된 콘텐츠 구조다.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907792"/>
            <a:ext cx="10844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개별 키워드 순위가 아니라 사이트 전체의 주제적 권위(Topical Authority)를 구축해, 구글이 해당 주제에서 가장 신뢰할 수 있는 사이트로 인식하게 만드는 것이 목표다.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4873752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1" name="Image 1" descr="/home/claude/seo_course/icons/lin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4973604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3776472"/>
            <a:ext cx="1024128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장치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필러와 서브토픽 사이의 양방향 내부 링크가 클러스터 효과를 만든다.</a:t>
            </a:r>
            <a:endParaRPr lang="en-US" sz="1260" dirty="0"/>
          </a:p>
        </p:txBody>
      </p:sp>
      <p:sp>
        <p:nvSpPr>
          <p:cNvPr id="13" name="Text 9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STEP 2 체크리스트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토픽 클러스터 설계 4가지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333298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3418576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필러 페이지(핵심 주제)를 명확히 선정한다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6099048" y="333298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636" y="3418576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56248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서브토픽 페이지 클러스터를 구성한다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429310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437869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977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필러와 서브토픽을 내부 링크로 상호 연결한다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6099048" y="429310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636" y="4378696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56248" y="3977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Topical Authority가 누적되도록 장기 전략을 세운다</a:t>
            </a:r>
            <a:endParaRPr lang="en-US" sz="1260" dirty="0"/>
          </a:p>
        </p:txBody>
      </p:sp>
      <p:sp>
        <p:nvSpPr>
          <p:cNvPr id="16" name="Text 1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STEP 3 체크리스트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E-E-A-T 기반 작성, 2026년 차별화는 Experience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333298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3418576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경험 데이터·1차 자료를 콘텐츠에 포함한다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6099048" y="333298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636" y="3418576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56248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전문가 저자 정보와 프로필을 명확히 표기한다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429310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437869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977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출처·날짜·수정 이력을 투명하게 공개한다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6099048" y="429310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636" y="4378696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56248" y="3977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Information Gain(정보 이득) — 기존에 없던 정보를 제공한다</a:t>
            </a:r>
            <a:endParaRPr lang="en-US" sz="1260" dirty="0"/>
          </a:p>
        </p:txBody>
      </p:sp>
      <p:sp>
        <p:nvSpPr>
          <p:cNvPr id="16" name="Text 1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STEP 4 체크리스트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최적화, 발행 후에도 끝나지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3332988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3418576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Answer-First 구조 — 핵심 답변을 가장 먼저 배치한다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6099048" y="3332988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636" y="3418576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56248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질문형 소제목과 짧은 문단으로 가독성을 높인다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4293108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437869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977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구조화 데이터와 내부 링크를 지속적으로 보강한다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6099048" y="4293108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636" y="4378696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56248" y="3977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최신 정보로 주기적으로 갱신한다</a:t>
            </a:r>
            <a:endParaRPr lang="en-US" sz="1260" dirty="0"/>
          </a:p>
        </p:txBody>
      </p:sp>
      <p:sp>
        <p:nvSpPr>
          <p:cNvPr id="16" name="Text 1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실무 체크리스트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발행 전·후, 반드시 확인해야 할 합격 기준</a:t>
            </a:r>
            <a:endParaRPr lang="en-US" sz="2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09928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937760"/>
                <a:gridCol w="41148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단계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점검 항목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합격 기준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의도 분석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SERP 상위 10개 콘텐츠 유형 확인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의도 유형·형식·깊이 일치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토픽 설계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필러↔서브토픽 내부 링크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클러스터 내 양방향 링크 100%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E-E-A-T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경험 데이터·저자·출처·날짜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1차 데이터 1개 이상, 저자 명시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제목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H1 고유성·의도 키워드 포함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60자 이내, 의도 반영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구조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Answer-First·질문형 H2·H3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첫 200자 내 핵심 답변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스키마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Article·FAQ·DefinedTerm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Rich Results Test 통과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갱신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최신 정보·날짜 업데이트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트렌드형 3개월, Evergreen 6개월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한국 시장 특수성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콘텐츠, 다른 평가 기준 — 구글코리아 vs 네이버</a:t>
            </a:r>
            <a:endParaRPr lang="en-US" sz="2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48256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구글 코리아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네이버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E-E-A-T (경험·전문성·권위·신뢰) 평가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C-Rank 출처 신뢰도 알고리즘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Helpful Content 시스템 적용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D.I.A 문서 품질 평가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외부 권위 신호(백링크) 중시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플랫폼 내 반응(체류시간·공유·확산)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구조화 데이터 적극 반영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콘텐츠 일관성·전문성 중시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Information Gain 보상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블로그·카페 생태계 연계 가산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5595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실전 Tip: 구글용 H2는 키워드 중심으로, 네이버용 본문은 자연어 비율을 높이고 체류를 유도하는 리스트·이미지를 적극 활용한다.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분량 가이드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유형별 적정 분량은 다르다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505200" cy="443484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800~1,500자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정의형 콘텐츠 (용어 설명, 개념 정리)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4398264"/>
            <a:ext cx="3176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짧고 명확하게, 핵심 정의에 집중한다.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31520" y="560527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SEO 실무 기준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46448" y="1627632"/>
            <a:ext cx="3505200" cy="443484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1104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2,000~4,000자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451104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104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가이드형 콘텐츠 (방법론, 심층 분석)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11040" y="4398264"/>
            <a:ext cx="3176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주제 커버리지에 비례해 충분한 분량이 필요하다.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511040" y="560527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SEO 실무 기준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25968" y="1627632"/>
            <a:ext cx="3505200" cy="443484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9056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500~800자</a:t>
            </a:r>
            <a:endParaRPr lang="en-US" sz="3800" dirty="0"/>
          </a:p>
        </p:txBody>
      </p:sp>
      <p:sp>
        <p:nvSpPr>
          <p:cNvPr id="18" name="Shape 16"/>
          <p:cNvSpPr/>
          <p:nvPr/>
        </p:nvSpPr>
        <p:spPr>
          <a:xfrm>
            <a:off x="829056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9056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FAQ·AEO형 콘텐츠 (즉답형 답변)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90560" y="4398264"/>
            <a:ext cx="3176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짧고 완전한 답변이 핵심이다.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8290560" y="560527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 실전 가이드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클러스터 내부 역할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필러 페이지 vs 서브토픽 페이지, 역할이 다르다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EEF0FC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필러 페이지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59536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PILLAR PAGE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주제 전체를 포괄하는 핵심 허브 역할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859536" y="2871216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넓고 개괄적인 개요를 제공한다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859536" y="3110789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모든 서브토픽 페이지로 연결되는 출발점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859536" y="3405226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클러스터에서 가장 많은 내부 링크를 받는다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6263640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FFE9DC"/>
          </a:solidFill>
          <a:ln/>
        </p:spPr>
      </p:sp>
      <p:sp>
        <p:nvSpPr>
          <p:cNvPr id="12" name="Text 10"/>
          <p:cNvSpPr/>
          <p:nvPr/>
        </p:nvSpPr>
        <p:spPr>
          <a:xfrm>
            <a:off x="6556248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서브토픽 페이지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556248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SUBTOPIC PAGE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56248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세부 질문 하나에 깊이 있게 답하는 역할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6556248" y="289316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좁고 구체적인 주제를 깊게 파고든다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6556248" y="3165653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필러 페이지로 다시 연결되어 권위를 보탠다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6556248" y="3482035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AEO형 즉답 콘텐츠와 특히 잘 맞는 형태다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실전 도구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의도 분석, 실전에서 쓰는 도구 4가지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Search Console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실제로 어떤 검색어로 내 사이트가 노출되는지 데이터를 제공한다.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609904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chartb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02552" y="1627632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 데이터랩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702552" y="1975104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 사용자의 검색 트렌드와 연관 키워드를 확인할 수 있다.</a:t>
            </a:r>
            <a:endParaRPr lang="en-US" sz="1230" dirty="0"/>
          </a:p>
        </p:txBody>
      </p:sp>
      <p:sp>
        <p:nvSpPr>
          <p:cNvPr id="12" name="Shape 8"/>
          <p:cNvSpPr/>
          <p:nvPr/>
        </p:nvSpPr>
        <p:spPr>
          <a:xfrm>
            <a:off x="56692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2" descr="/home/claude/seo_course/icons/lin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23944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3968496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Ahrefs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70432" y="4315968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경쟁사가 어떤 키워드로 트래픽을 얻는지 역으로 분석할 수 있다.</a:t>
            </a:r>
            <a:endParaRPr lang="en-US" sz="1230" dirty="0"/>
          </a:p>
        </p:txBody>
      </p:sp>
      <p:sp>
        <p:nvSpPr>
          <p:cNvPr id="16" name="Shape 11"/>
          <p:cNvSpPr/>
          <p:nvPr/>
        </p:nvSpPr>
        <p:spPr>
          <a:xfrm>
            <a:off x="609904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7" name="Image 3" descr="/home/claude/seo_course/icons/chartlin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123944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02552" y="3968496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Semrush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702552" y="4315968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SERP 상위 콘텐츠의 형식과 구조를 한눈에 비교할 수 있다.</a:t>
            </a:r>
            <a:endParaRPr lang="en-US" sz="1230" dirty="0"/>
          </a:p>
        </p:txBody>
      </p:sp>
      <p:sp>
        <p:nvSpPr>
          <p:cNvPr id="20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852160" cy="5852160"/>
          </a:xfrm>
          <a:prstGeom prst="ellipse">
            <a:avLst/>
          </a:prstGeom>
          <a:solidFill>
            <a:srgbClr val="342F8C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234440"/>
            <a:ext cx="960120" cy="960120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4" name="Image 0" descr="/home/claude/seo_course/icons/puzz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" y="148407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의도와 Information Gain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9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남들과 똑같은 콘텐츠는 구글도, AI도 보상하지 않는다. 의도를 정확히 맞추고, 거기에 없던 정보를 더하는 법을 다룬다.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INTENT GAP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Intent Gap, 경�쟁 콘텐츠가 놓친 빈틈을 찾아라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상위 10개 결과를 분석하면 의외로 공통적으로 빠진 부분이 보인다.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32257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/home/claude/seo_course/icons/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4144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228600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형식의 틈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70432" y="2633472"/>
            <a:ext cx="4654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상위 결과가 모두 글로만 되어 있다면, 표나 체크리스트로 차별화할 기회다.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6099048" y="232257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0" name="Image 1" descr="/home/claude/seo_course/icons/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44144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02552" y="228600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깊이의 틈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702552" y="2633472"/>
            <a:ext cx="4654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상위 결과가 표면적이라면, 실제 데이터와 1차 경험으로 더 깊이 들어갈 수 있다.</a:t>
            </a:r>
            <a:endParaRPr lang="en-US" sz="1230" dirty="0"/>
          </a:p>
        </p:txBody>
      </p:sp>
      <p:sp>
        <p:nvSpPr>
          <p:cNvPr id="13" name="Shape 9"/>
          <p:cNvSpPr/>
          <p:nvPr/>
        </p:nvSpPr>
        <p:spPr>
          <a:xfrm>
            <a:off x="566928" y="433425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2" descr="/home/claude/seo_course/icons/ey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453128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70432" y="429768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최신성의 틈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170432" y="4645152"/>
            <a:ext cx="4654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상위 결과가 오래되었다면, 최신 정보로 갱신하는 것만으로도 기회가 생긴다.</a:t>
            </a:r>
            <a:endParaRPr lang="en-US" sz="1230" dirty="0"/>
          </a:p>
        </p:txBody>
      </p:sp>
      <p:sp>
        <p:nvSpPr>
          <p:cNvPr id="17" name="Shape 12"/>
          <p:cNvSpPr/>
          <p:nvPr/>
        </p:nvSpPr>
        <p:spPr>
          <a:xfrm>
            <a:off x="6099048" y="433425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8" name="Image 3" descr="/home/claude/seo_course/icons/ey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453128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02552" y="429768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관점의 틈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6702552" y="4645152"/>
            <a:ext cx="4654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상위 결과가 같은 시각만 반복한다면, 반대 관점이나 독자적 프레임워크가 차별점이 된다.</a:t>
            </a:r>
            <a:endParaRPr lang="en-US" sz="1230" dirty="0"/>
          </a:p>
        </p:txBody>
      </p:sp>
      <p:sp>
        <p:nvSpPr>
          <p:cNvPr id="21" name="Text 1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핵심 개념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Information Gain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 이득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상위 콘텐츠에는 없는 새로운 정보를 제공하는 것으로, 단순 요약·재작성이 아니라 '이 콘텐츠에서만 얻을 수 있는 정보'가 있어야 구글이 보상한다.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3146679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0" name="Image 1" descr="/home/claude/seo_course/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3246531"/>
            <a:ext cx="184343" cy="184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" y="2907792"/>
            <a:ext cx="10241280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1차 데이터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자체 조사·실험·운영 수치를 포함한다</a:t>
            </a:r>
            <a:endParaRPr lang="en-US" sz="1260" dirty="0"/>
          </a:p>
        </p:txBody>
      </p:sp>
      <p:sp>
        <p:nvSpPr>
          <p:cNvPr id="12" name="Shape 8"/>
          <p:cNvSpPr/>
          <p:nvPr/>
        </p:nvSpPr>
        <p:spPr>
          <a:xfrm>
            <a:off x="566928" y="4008501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3" name="Image 2" descr="/home/claude/seo_course/icons/lightbulb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80" y="4108353"/>
            <a:ext cx="184343" cy="1843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8992" y="3769614"/>
            <a:ext cx="10241280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독자적 프레임워크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기존에 없던 분류 기준이나 체크리스트를 제시한다</a:t>
            </a:r>
            <a:endParaRPr lang="en-US" sz="1260" dirty="0"/>
          </a:p>
        </p:txBody>
      </p:sp>
      <p:sp>
        <p:nvSpPr>
          <p:cNvPr id="15" name="Shape 10"/>
          <p:cNvSpPr/>
          <p:nvPr/>
        </p:nvSpPr>
        <p:spPr>
          <a:xfrm>
            <a:off x="566928" y="4870323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6" name="Image 3" descr="/home/claude/seo_course/icons/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80" y="4970175"/>
            <a:ext cx="184343" cy="1843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78992" y="4631436"/>
            <a:ext cx="10241280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실무 경험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 사례나 예상 밖 발견을 공유한다</a:t>
            </a:r>
            <a:endParaRPr lang="en-US" sz="1260" dirty="0"/>
          </a:p>
        </p:txBody>
      </p:sp>
      <p:sp>
        <p:nvSpPr>
          <p:cNvPr id="18" name="Shape 12"/>
          <p:cNvSpPr/>
          <p:nvPr/>
        </p:nvSpPr>
        <p:spPr>
          <a:xfrm>
            <a:off x="566928" y="5732145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9" name="Image 4" descr="/home/claude/seo_course/icons/refresh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80" y="5831997"/>
            <a:ext cx="184343" cy="18434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78992" y="5493258"/>
            <a:ext cx="10241280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최신 업데이트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업계 변화를 가장 먼저 반영한다</a:t>
            </a:r>
            <a:endParaRPr lang="en-US" sz="1260" dirty="0"/>
          </a:p>
        </p:txBody>
      </p:sp>
      <p:sp>
        <p:nvSpPr>
          <p:cNvPr id="21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자주 묻는 질문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SEO, 실무에서 가장 많이 묻는 질문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의도 분석은 구체적으로 어떻게 하나요?</a:t>
            </a:r>
            <a:endParaRPr lang="en-US" sz="1330" dirty="0"/>
          </a:p>
        </p:txBody>
      </p:sp>
      <p:sp>
        <p:nvSpPr>
          <p:cNvPr id="6" name="Text 4"/>
          <p:cNvSpPr/>
          <p:nvPr/>
        </p:nvSpPr>
        <p:spPr>
          <a:xfrm>
            <a:off x="566928" y="2112264"/>
            <a:ext cx="4206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112264"/>
            <a:ext cx="103327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SERP 상위 10개의 콘텐츠 유형·형식·깊이를 분석하고, 정보형·탐색형·거래형·비교형 중 어떤 의도인지 분류한 뒤 Intent Gap을 찾는 순서로 진행한다.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566928" y="324612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3246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토픽 클러스터는 작은 사이트에도 필요한가요?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566928" y="3666744"/>
            <a:ext cx="4206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666744"/>
            <a:ext cx="103327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필요하다. 페이지가 적을수록 오히려 명확한 클러스터 구조가 사이트 전체의 정체성을 빠르게 확립하는 데 도움이 된다.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566928" y="480060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4800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E-E-A-T는 구체적으로 어떻게 적용하나요?</a:t>
            </a:r>
            <a:endParaRPr lang="en-US" sz="1330" dirty="0"/>
          </a:p>
        </p:txBody>
      </p:sp>
      <p:sp>
        <p:nvSpPr>
          <p:cNvPr id="14" name="Text 12"/>
          <p:cNvSpPr/>
          <p:nvPr/>
        </p:nvSpPr>
        <p:spPr>
          <a:xfrm>
            <a:off x="566928" y="5221224"/>
            <a:ext cx="4206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5221224"/>
            <a:ext cx="103327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사용·운영 경험과 1차 데이터, 저자 정보·자격 증명, 업계 인용·백링크, 출처·날짜 명시 네 가지를 모두 갖추는 것이다. 2026년 기준 Experience가 가장 중요한 차별화 요소다.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자주 묻는 질문 (계속)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GEO와의 관계에 관한 질문들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SEO와 GEO는 어떤 관계인가요?</a:t>
            </a:r>
            <a:endParaRPr lang="en-US" sz="1330" dirty="0"/>
          </a:p>
        </p:txBody>
      </p:sp>
      <p:sp>
        <p:nvSpPr>
          <p:cNvPr id="6" name="Text 4"/>
          <p:cNvSpPr/>
          <p:nvPr/>
        </p:nvSpPr>
        <p:spPr>
          <a:xfrm>
            <a:off x="566928" y="2112264"/>
            <a:ext cx="4206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112264"/>
            <a:ext cx="103327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SEO는 GEO의 핵심 재료다. AI 검색 엔진은 신뢰할 수 있는 콘텐츠를 답변 출처로 인용하며, 정의형 문장·Answer-First·구조화 데이터·FAQ 패턴이 인용되기 쉬운 구조다.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566928" y="324612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3246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Information Gain은 어떻게 만들면 되나요?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566928" y="3666744"/>
            <a:ext cx="4206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666744"/>
            <a:ext cx="103327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1차 데이터 포함, 독자적 프레임워크 제시, 실무 경험 공유, 최신 업데이트 반영 네 가지 방법이 있다. 단순 재작성이 아닌 '여기서만 얻을 수 있는 정보'가 핵심이다.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566928" y="480060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4800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네이버와 구글의 콘텐츠 평가 차이는 무엇인가요?</a:t>
            </a:r>
            <a:endParaRPr lang="en-US" sz="1330" dirty="0"/>
          </a:p>
        </p:txBody>
      </p:sp>
      <p:sp>
        <p:nvSpPr>
          <p:cNvPr id="14" name="Text 12"/>
          <p:cNvSpPr/>
          <p:nvPr/>
        </p:nvSpPr>
        <p:spPr>
          <a:xfrm>
            <a:off x="566928" y="5221224"/>
            <a:ext cx="4206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5221224"/>
            <a:ext cx="103327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구글코리아는 E-E-A-T·외부 권위(백링크) 중심, 네이버는 C-Rank·D.I.A 기반으로 플랫폼 내 사용자 반응을 중시한다. '하나의 콘텐츠, 두 개의 배포 전략'이 핵심이다.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AI 인용 패턴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인용하는 콘텐츠 패턴 5가지, 직접 적용해보기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quo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명확한 정의문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10186416" cy="51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'~란, ~를 의미한다' 형태로 50~80자 내에 명확히 정의하는 문장을 본문 앞부분에 둔다.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566928" y="2600554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fla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1942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2563978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첫 200자 핵심 답변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70432" y="2911450"/>
            <a:ext cx="10186416" cy="51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본문이 시작되고 첫 200자 안에 핵심 답변을 배치해 AI가 빠르게 발췌할 수 있게 한다.</a:t>
            </a:r>
            <a:endParaRPr lang="en-US" sz="1230" dirty="0"/>
          </a:p>
        </p:txBody>
      </p:sp>
      <p:sp>
        <p:nvSpPr>
          <p:cNvPr id="12" name="Shape 8"/>
          <p:cNvSpPr/>
          <p:nvPr/>
        </p:nvSpPr>
        <p:spPr>
          <a:xfrm>
            <a:off x="566928" y="3536899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2" descr="/home/claude/seo_course/icons/list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55771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3500323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구조화된 정보 정리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70432" y="3847795"/>
            <a:ext cx="10186416" cy="51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비교표·번호 리스트·체크리스트로 정보를 정리하면 AI가 그대로 인용하기 쉽다.</a:t>
            </a:r>
            <a:endParaRPr lang="en-US" sz="1230" dirty="0"/>
          </a:p>
        </p:txBody>
      </p:sp>
      <p:sp>
        <p:nvSpPr>
          <p:cNvPr id="16" name="Shape 11"/>
          <p:cNvSpPr/>
          <p:nvPr/>
        </p:nvSpPr>
        <p:spPr>
          <a:xfrm>
            <a:off x="566928" y="4473245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7" name="Image 3" descr="/home/claude/seo_course/icons/questio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592117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70432" y="4436669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Q&amp;A 형식 구조화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170432" y="4784141"/>
            <a:ext cx="10186416" cy="51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질문-답변 형식으로 정리하고 FAQ 스키마를 함께 적용한다.</a:t>
            </a:r>
            <a:endParaRPr lang="en-US" sz="1230" dirty="0"/>
          </a:p>
        </p:txBody>
      </p:sp>
      <p:sp>
        <p:nvSpPr>
          <p:cNvPr id="20" name="Shape 14"/>
          <p:cNvSpPr/>
          <p:nvPr/>
        </p:nvSpPr>
        <p:spPr>
          <a:xfrm>
            <a:off x="566928" y="540959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1" name="Image 4" descr="/home/claude/seo_course/icons/shield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528462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70432" y="5373014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E-E-A-T 신호 강화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1170432" y="5720486"/>
            <a:ext cx="10186416" cy="51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E-E-A-T 신호가 강한 콘텐츠일수록 AI 인용 확률이 함께 상승한다.</a:t>
            </a:r>
            <a:endParaRPr lang="en-US" sz="1230" dirty="0"/>
          </a:p>
        </p:txBody>
      </p:sp>
      <p:sp>
        <p:nvSpPr>
          <p:cNvPr id="24" name="Text 17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배포 전략 실전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하나의 콘텐츠, 두 개의 작성 팁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EEF0FC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구글용 작성 팁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59536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KEYWORD-AWARE STRUCTURE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H2 소제목에 의도 키워드를 명확히 포함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859536" y="289316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Answer-First로 핵심 답변을 앞에 배치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859536" y="324246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구조화 데이터·내부 링크를 꼼꼼히 보강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6263640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FFE9DC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네이버용 작성 팁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556248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ENGAGEMENT-AWARE STRUCTURE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56248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자연어 비율을 높여 사람이 쓴 듯한 문장으로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6556248" y="2915107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체류 시간을 늘리는 리스트·이미지를 적극 활용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6556248" y="3253435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댓글·공감을 유도하는 마무리 질문 던지기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한국 시장 신호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네이버에서 실제로 중요한 4가지 신호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thumbs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CTR (클릭률)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매우 중요한 신호이며, 제목이 클릭률에 미치는 영향이 특히 크다.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609904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refres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02552" y="1627632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최신성 (업데이트 빈도)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702552" y="1975104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금융·병원·지역 키워드에서 특히 중요하게 평가된다.</a:t>
            </a:r>
            <a:endParaRPr lang="en-US" sz="1230" dirty="0"/>
          </a:p>
        </p:txBody>
      </p:sp>
      <p:sp>
        <p:nvSpPr>
          <p:cNvPr id="12" name="Shape 8"/>
          <p:cNvSpPr/>
          <p:nvPr/>
        </p:nvSpPr>
        <p:spPr>
          <a:xfrm>
            <a:off x="56692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2" descr="/home/claude/seo_course/icons/c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23944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3968496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 반응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70432" y="4315968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체류시간·스크롤·반복 방문·공유 등 행동 신호를 종합적으로 본다.</a:t>
            </a:r>
            <a:endParaRPr lang="en-US" sz="1230" dirty="0"/>
          </a:p>
        </p:txBody>
      </p:sp>
      <p:sp>
        <p:nvSpPr>
          <p:cNvPr id="16" name="Shape 11"/>
          <p:cNvSpPr/>
          <p:nvPr/>
        </p:nvSpPr>
        <p:spPr>
          <a:xfrm>
            <a:off x="609904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7" name="Image 3" descr="/home/claude/seo_course/icons/megaphon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123944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02552" y="3968496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브랜드 검색량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702552" y="4315968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브랜드명 자체를 검색하는 행위가 신뢰 신호로 작동한다.</a:t>
            </a:r>
            <a:endParaRPr lang="en-US" sz="1230" dirty="0"/>
          </a:p>
        </p:txBody>
      </p:sp>
      <p:sp>
        <p:nvSpPr>
          <p:cNvPr id="20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가독성 실전 팁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목차와 표를 쓰면 스캔 가능성이 올라간다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list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목차 활용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4654296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본문 상단에 번호를 매긴 목차를 배치하면 독자와 AI 모두 전체 구조를 빠르게 파악한다.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609904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02552" y="1627632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 활용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702552" y="1975104"/>
            <a:ext cx="4654296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비교 항목이 있다면 서술형 문장보다 표로 정리하는 것이 훨씬 명확하게 읽힌다.</a:t>
            </a:r>
            <a:endParaRPr lang="en-US" sz="1230" dirty="0"/>
          </a:p>
        </p:txBody>
      </p:sp>
      <p:sp>
        <p:nvSpPr>
          <p:cNvPr id="12" name="Text 8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GEO 대응 실전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'AI가 쓴 느낌'을 제거해야 하는 이유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의미 없는 일반론이나 추상적 설명은 AI 검색에서도 사람에게도 신뢰를 얻지 못한다.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32257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/home/claude/seo_course/icons/x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4144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2286000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피해야 할 패턴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70432" y="2633472"/>
            <a:ext cx="101864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구체적 숫자나 경험 없이 "다양한 요인에 따라 다를 수 있습니다" 같은 두루뭉술한 문장으로 채우는 것이다.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566928" y="433425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0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45312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0432" y="4297680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대안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170432" y="4645152"/>
            <a:ext cx="101864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"직접 3개월 사용해보니", "실제 광고 집행 결과"처럼 실제 사용 후기·직접 비교·테스트 결과를 구체적으로 담아야 한다.</a:t>
            </a:r>
            <a:endParaRPr lang="en-US" sz="1230" dirty="0"/>
          </a:p>
        </p:txBody>
      </p:sp>
      <p:sp>
        <p:nvSpPr>
          <p:cNvPr id="13" name="Text 9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의도별 작성 전략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정보형 vs 거래형, 같은 주제라도 다르게 써야 한다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EEF0FC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정보형 콘텐츠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59536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INFORMATIONAL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정의·원리·배경 설명에 집중한다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859536" y="2838298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Information Gain — 깊이 있는 분석으로 차별화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859536" y="3264408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신뢰 신호(출처·데이터)가 핵심 평가 기준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6263640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FFE9DC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거래형 콘텐츠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556248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TRANSACTIONAL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56248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가격·옵션·신청 방법을 명확히 제시한다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6556248" y="2882189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행동을 유도하는 명확한 CTA가 필요하다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6556248" y="3187598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리뷰·평점 등 구매 결정 신호가 핵심이다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상황별 전략 선택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 우선 vs GEO 우선, 무엇을 먼저 시작할까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ro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 우선 추천 상황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스타트업·초기 단계 기업, 이커머스·금융상품·부동산 등 거래형 키워드 중심 업종, 고객지원 비용 절감이 시급한 경우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566928" y="3224784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graduationc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34365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3188208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GEO 우선 추천 상황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70432" y="3535680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B2B 기업·전문 서비스업, 마케팅 에이전시·IT 컨설팅 등 경쟁이 치열한 성숙 시장, 장기적 브랜드 빌딩이 중요한 경우</a:t>
            </a:r>
            <a:endParaRPr lang="en-US" sz="1230" dirty="0"/>
          </a:p>
        </p:txBody>
      </p:sp>
      <p:sp>
        <p:nvSpPr>
          <p:cNvPr id="12" name="Shape 8"/>
          <p:cNvSpPr/>
          <p:nvPr/>
        </p:nvSpPr>
        <p:spPr>
          <a:xfrm>
            <a:off x="566928" y="478536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2" descr="/home/claude/seo_course/icons/balanc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90423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4748784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전략 권장 상황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70432" y="5096256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충분한 리소스를 보유한 중견기업 이상, B2C는 AEO로 즉시 정보 제공·B2B는 GEO로 전문성 어필이 모두 필요한 경우</a:t>
            </a:r>
            <a:endParaRPr lang="en-US" sz="1230" dirty="0"/>
          </a:p>
        </p:txBody>
      </p:sp>
      <p:sp>
        <p:nvSpPr>
          <p:cNvPr id="16" name="Text 1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발행 후 관리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SEO, 발행 후에도 끝나지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333298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3418576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순위 변동을 주기적으로 추적한다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6099048" y="333298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636" y="3418576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56248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ChatGPT·Claude 등에서 실제로 인용되는지 테스트한다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429310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437869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977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체류 시간·스크롤 깊이 등 사용자 행동을 분석한다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6099048" y="429310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636" y="4378696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56248" y="3977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경쟁사 콘텐츠가 업데이트되었는지 정기적으로 벤치마크한다</a:t>
            </a:r>
            <a:endParaRPr lang="en-US" sz="1260" dirty="0"/>
          </a:p>
        </p:txBody>
      </p:sp>
      <p:sp>
        <p:nvSpPr>
          <p:cNvPr id="16" name="Text 1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852160" cy="5852160"/>
          </a:xfrm>
          <a:prstGeom prst="ellipse">
            <a:avLst/>
          </a:prstGeom>
          <a:solidFill>
            <a:srgbClr val="342F8C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234440"/>
            <a:ext cx="960120" cy="960120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4" name="Image 0" descr="/home/claude/seo_course/icons/quest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" y="148407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 실전: 질문 중심 설계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9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 성공의 80%는 올바른 질문을 찾는 것에서 시작된다. 오늘 직접 만들어볼 수 있는 3단계를 다룬다.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AEO 1단계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질문 중심 콘텐츠 구조 설계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1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고객이 실제로 묻는 질문을 파악하고, 그에 대한 직접적인 답변을 제공하는 콘텐츠를 기획하는 단계다.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907792"/>
            <a:ext cx="10844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핵심은 SEO 툴의 키워드 검색량이 아니라, 실제 고객이 사용하는 자연어 질문을 찾는 것이다.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4873752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1" name="Image 1" descr="/home/claude/seo_course/icons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4973604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3776472"/>
            <a:ext cx="1024128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내부 출처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영업팀·고객지원팀이 자주 받는 질문 리스트를 활용하면 효과적이다.</a:t>
            </a:r>
            <a:endParaRPr lang="en-US" sz="1260" dirty="0"/>
          </a:p>
        </p:txBody>
      </p:sp>
      <p:sp>
        <p:nvSpPr>
          <p:cNvPr id="13" name="Text 9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질문 수집처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고객 질문은 어디서 모으는가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영업팀·CS팀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고객을 가장 자주 직접 만나는 팀이 가장 정확한 질문 데이터를 갖고 있다.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609904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questio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02552" y="1627632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 People Also Ask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702552" y="1975104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결과 하단의 연관 질문 섹션에서 실제 검색 질문을 확인할 수 있다.</a:t>
            </a:r>
            <a:endParaRPr lang="en-US" sz="1230" dirty="0"/>
          </a:p>
        </p:txBody>
      </p:sp>
      <p:sp>
        <p:nvSpPr>
          <p:cNvPr id="12" name="Shape 8"/>
          <p:cNvSpPr/>
          <p:nvPr/>
        </p:nvSpPr>
        <p:spPr>
          <a:xfrm>
            <a:off x="56692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2" descr="/home/claude/seo_course/icons/comment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23944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3968496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 지식iN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70432" y="4315968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 사용자들이 실제로 쓰는 자연어 질문 표현을 가장 잘 보여준다.</a:t>
            </a:r>
            <a:endParaRPr lang="en-US" sz="1230" dirty="0"/>
          </a:p>
        </p:txBody>
      </p:sp>
      <p:sp>
        <p:nvSpPr>
          <p:cNvPr id="16" name="Shape 11"/>
          <p:cNvSpPr/>
          <p:nvPr/>
        </p:nvSpPr>
        <p:spPr>
          <a:xfrm>
            <a:off x="609904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7" name="Image 3" descr="/home/claude/seo_course/icons/comment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123944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02552" y="3968496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관련 커뮤니티·카페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702552" y="4315968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업종별 전문 커뮤니티에서 더 구체적이고 전문적인 질문을 발견할 수 있다.</a:t>
            </a:r>
            <a:endParaRPr lang="en-US" sz="1230" dirty="0"/>
          </a:p>
        </p:txBody>
      </p:sp>
      <p:sp>
        <p:nvSpPr>
          <p:cNvPr id="20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검색어와 자연어의 차이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키워드가 아니라, 사람이 실제로 말하는 문장을 찾아라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EEF0FC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SEO 키워드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59536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도구가 보여주는 검색량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" y="2587752"/>
            <a:ext cx="4700016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"프로젝트 관리 툴 추천"처럼 SEO 툴에서 검색량이 높게 나오는 짧은 키워드 중심으로 콘텐츠를 기획하는 방식이다. 검색량은 크지만 AI 검색에서는 점점 덜 활용되는 형태다.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FFE9DC"/>
          </a:solidFill>
          <a:ln/>
        </p:spPr>
      </p:sp>
      <p:sp>
        <p:nvSpPr>
          <p:cNvPr id="9" name="Text 7"/>
          <p:cNvSpPr/>
          <p:nvPr/>
        </p:nvSpPr>
        <p:spPr>
          <a:xfrm>
            <a:off x="6556248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 시대의 자연어 질문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556248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사용자가 AI에게 실제로 묻는 문장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56248" y="2587752"/>
            <a:ext cx="4700016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"팀 협업이 잘 되는 툴이 뭐가 있나요?"처럼 구어체로 묻는 질문이 AI 검색에서 훨씬 더 자주 활용된다. 구글 PAA, 네이버 지식iN, 관련 카페에서 이런 실제 질문을 수집하는 것이 중요하다.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AEO 2단계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즉답형 콘텐츠 작성법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2 — 역피라미드 구조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가장 중요한 답변을 맨 앞에 배치하고, 뒤에 상세 설명을 이어가는 역피라미드 구조로 작성한다.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3146679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0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3246531"/>
            <a:ext cx="184343" cy="184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" y="2907792"/>
            <a:ext cx="10241280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원칙 1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첫 문장에 완전한 답변 포함 (주어+서술어+목적어)</a:t>
            </a:r>
            <a:endParaRPr lang="en-US" sz="1260" dirty="0"/>
          </a:p>
        </p:txBody>
      </p:sp>
      <p:sp>
        <p:nvSpPr>
          <p:cNvPr id="12" name="Shape 8"/>
          <p:cNvSpPr/>
          <p:nvPr/>
        </p:nvSpPr>
        <p:spPr>
          <a:xfrm>
            <a:off x="566928" y="4008501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3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80" y="4108353"/>
            <a:ext cx="184343" cy="1843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8992" y="3769614"/>
            <a:ext cx="10241280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원칙 2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구체적 숫자와 데이터 활용 (예: 약 30%, 평균 3개월)</a:t>
            </a:r>
            <a:endParaRPr lang="en-US" sz="1260" dirty="0"/>
          </a:p>
        </p:txBody>
      </p:sp>
      <p:sp>
        <p:nvSpPr>
          <p:cNvPr id="15" name="Shape 10"/>
          <p:cNvSpPr/>
          <p:nvPr/>
        </p:nvSpPr>
        <p:spPr>
          <a:xfrm>
            <a:off x="566928" y="4870323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6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80" y="4970175"/>
            <a:ext cx="184343" cy="1843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78992" y="4631436"/>
            <a:ext cx="10241280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원칙 3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'입니다', '습니다'로 끝나는 명확한 문장 사용</a:t>
            </a:r>
            <a:endParaRPr lang="en-US" sz="1260" dirty="0"/>
          </a:p>
        </p:txBody>
      </p:sp>
      <p:sp>
        <p:nvSpPr>
          <p:cNvPr id="18" name="Shape 12"/>
          <p:cNvSpPr/>
          <p:nvPr/>
        </p:nvSpPr>
        <p:spPr>
          <a:xfrm>
            <a:off x="566928" y="5732145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9" name="Image 4" descr="/home/claude/seo_course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80" y="5831997"/>
            <a:ext cx="184343" cy="18434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78992" y="5493258"/>
            <a:ext cx="10241280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원칙 4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최대한 분명하고 명료하게 작성하기</a:t>
            </a:r>
            <a:endParaRPr lang="en-US" sz="1260" dirty="0"/>
          </a:p>
        </p:txBody>
      </p:sp>
      <p:sp>
        <p:nvSpPr>
          <p:cNvPr id="21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실전 비교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"SEO 최적화에 얼마나 걸리나요?" 나쁜 예시 vs 좋은 예시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EEF0FC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나쁜 예시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59536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모호하고 즉답이 없음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" y="2587752"/>
            <a:ext cx="4700016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"SEO는 복잡한 작업이므로 경우에 따라 결과가 다를 수 있으며..." — 질문에 대한 직접적인 답이 없고, 끝까지 읽어도 구체적인 기간을 알 수 없다. AI는 이런 문장을 발췌하기 어렵다.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FFE9DC"/>
          </a:solidFill>
          <a:ln/>
        </p:spPr>
      </p:sp>
      <p:sp>
        <p:nvSpPr>
          <p:cNvPr id="9" name="Text 7"/>
          <p:cNvSpPr/>
          <p:nvPr/>
        </p:nvSpPr>
        <p:spPr>
          <a:xfrm>
            <a:off x="6556248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좋은 예시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556248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구체적이고 즉답형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56248" y="2587752"/>
            <a:ext cx="4700016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"SEO 효과는 일반적으로 3~6개월 후 나타납니다. 새 웹사이트의 경우 6~12개월이 소요되며, 기존 사이트 개선은 2~4개월 내에 결과를 확인할 수 있습니다." — 첫 문장에 완전한 답이 있고 숫자가 구체적이다.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AEO 3단계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FAQ 형식과 연관 질문 준비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3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하나의 주제에 대해 5~7개의 연관 질문을 함께 다뤄야 AI가 콘텐츠를 종합적인 정보원으로 인식한다.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4439412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0" name="Image 1" descr="/home/claude/seo_course/icons/questio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4539264"/>
            <a:ext cx="184343" cy="184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" y="2907792"/>
            <a:ext cx="10241280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예시 주제: 마케팅 자동화 도구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주제라면 아래와 같은 연관 질문을 함께 다루는 것이 효과적이다.</a:t>
            </a:r>
            <a:endParaRPr lang="en-US" sz="1260" dirty="0"/>
          </a:p>
        </p:txBody>
      </p:sp>
      <p:sp>
        <p:nvSpPr>
          <p:cNvPr id="12" name="Text 8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연관 질문 예시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마케팅 자동화 도구, 5개 연관 질문으로 종합 정보원 되기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933042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2018629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627632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마케팅 자동화란 무엇인가요?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566928" y="2873045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16" y="2958633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2567635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마케팅 자동화 도구 비용은 얼마인가요?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381304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389863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507638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마케팅 자동화 도구 선택 기준은?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566928" y="4753051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16" y="4838639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24128" y="4447642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마케팅 자동화 구축 기간은?</a:t>
            </a:r>
            <a:endParaRPr lang="en-US" sz="1260" dirty="0"/>
          </a:p>
        </p:txBody>
      </p:sp>
      <p:sp>
        <p:nvSpPr>
          <p:cNvPr id="16" name="Shape 10"/>
          <p:cNvSpPr/>
          <p:nvPr/>
        </p:nvSpPr>
        <p:spPr>
          <a:xfrm>
            <a:off x="566928" y="5693054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7" name="Image 4" descr="/home/claude/seo_course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516" y="5778642"/>
            <a:ext cx="158008" cy="1580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24128" y="5387645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마케팅 자동화 ROI 측정 방법은?</a:t>
            </a:r>
            <a:endParaRPr lang="en-US" sz="1260" dirty="0"/>
          </a:p>
        </p:txBody>
      </p:sp>
      <p:sp>
        <p:nvSpPr>
          <p:cNvPr id="19" name="Text 12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937760" cy="4937760"/>
          </a:xfrm>
          <a:prstGeom prst="ellipse">
            <a:avLst/>
          </a:prstGeom>
          <a:solidFill>
            <a:srgbClr val="342F8C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핵심 메시지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3232" y="14173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80%</a:t>
            </a:r>
            <a:endParaRPr lang="en-US" sz="9200" dirty="0"/>
          </a:p>
        </p:txBody>
      </p:sp>
      <p:sp>
        <p:nvSpPr>
          <p:cNvPr id="5" name="Text 3"/>
          <p:cNvSpPr/>
          <p:nvPr/>
        </p:nvSpPr>
        <p:spPr>
          <a:xfrm>
            <a:off x="731520" y="3611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D7D9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 성공에서 '올바른 질문을 찾는 것'이 차지하는 비중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443484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작성 기술보다 먼저, 어떤 질문에 답할지를 정확히 찾는 것이 AEO의 80%를 결정한다. 화려한 글쓰기보다 정확한 질문 수집이 우선이다.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88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 실전 적용 가이드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오늘 시작하기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 1주 완성 체크리스트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933042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2018629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627632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고객이 자주 묻는 질문 10개 수집 (영업팀·CS팀·커뮤니티 활용)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566928" y="2873045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16" y="2958633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2567635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질문에 대한 50자 이내 완전한 답변 작성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381304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389863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507638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FAQ 페이지 또는 블로그 포스트로 발행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566928" y="4753051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16" y="4838639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24128" y="4447642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 서치콘솔에서 Featured Snippet 모니터링 설정</a:t>
            </a:r>
            <a:endParaRPr lang="en-US" sz="1260" dirty="0"/>
          </a:p>
        </p:txBody>
      </p:sp>
      <p:sp>
        <p:nvSpPr>
          <p:cNvPr id="16" name="Shape 10"/>
          <p:cNvSpPr/>
          <p:nvPr/>
        </p:nvSpPr>
        <p:spPr>
          <a:xfrm>
            <a:off x="566928" y="5693054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17" name="Image 4" descr="/home/claude/seo_course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516" y="5778642"/>
            <a:ext cx="158008" cy="1580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24128" y="5387645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음성검색 테스트 진행 (스마트폰으로 직접 질문해보기)</a:t>
            </a:r>
            <a:endParaRPr lang="en-US" sz="1260" dirty="0"/>
          </a:p>
        </p:txBody>
      </p:sp>
      <p:sp>
        <p:nvSpPr>
          <p:cNvPr id="19" name="Text 12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비슷하지만 다른 개념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Featured Snippet과 AI 답변 인용의 관계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EEF0FC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Featured Snippet (추천 스니펫)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59536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 검색 결과 상단 강조 박스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 검색 결과 0번 위치에 노출되는 요약 박스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859536" y="2937053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비교적 짧고 명확한 답변이 선택되는 경향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859536" y="324246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오랫동안 SEO 실무자들의 목표였던 영역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6263640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FFE9DC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답변 인용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556248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AI의 답변 출처 채택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56248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ChatGPT·Perplexity 등이 답변을 만들 때 참조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6556248" y="301386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더 정확하고 구체적인 답변을 요구하는 경향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6556248" y="3330245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Featured Snippet에 강한 콘텐츠가 AI 인용에도 유리한 경우가 많다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음성검색 최적화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음성검색까지 고려한 추가 체크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3332988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3418576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제목과 본문을 자연스러운 질문 형태로 구성한다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6099048" y="3332988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636" y="3418576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56248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답변은 음성으로 들었을 때도 이해되도록 간결하게 작성한다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4293108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437869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977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지역 기반 질문이라면 지역명을 명확히 포함한다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6099048" y="4293108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636" y="4378696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56248" y="3977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스마트폰으로 직접 질문해보며 실제 음성 답변을 테스트한다</a:t>
            </a:r>
            <a:endParaRPr lang="en-US" sz="1260" dirty="0"/>
          </a:p>
        </p:txBody>
      </p:sp>
      <p:sp>
        <p:nvSpPr>
          <p:cNvPr id="16" name="Text 1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AEO 실제 성과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 최적화, 실제로 어떤 성과로 이어지는가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505200" cy="443484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4~6주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 최적화 적용 기업의 Featured Snippet 획득률 증가 체감 시점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4398264"/>
            <a:ext cx="3176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비교적 빠르게 성과를 확인할 수 있는 전략이다.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31520" y="560527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 실전 적용 가이드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46448" y="1627632"/>
            <a:ext cx="3505200" cy="443484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1104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4~8주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451104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104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 전략의 전반적인 효과 발현 기간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11040" y="4398264"/>
            <a:ext cx="3176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GEO(3~6개월)보다 훨씬 빠른 결과를 기대할 수 있다.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511040" y="560527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AEO·GEO 비교 가이드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25968" y="1627632"/>
            <a:ext cx="3505200" cy="443484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9056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저비용</a:t>
            </a:r>
            <a:endParaRPr lang="en-US" sz="3800" dirty="0"/>
          </a:p>
        </p:txBody>
      </p:sp>
      <p:sp>
        <p:nvSpPr>
          <p:cNvPr id="18" name="Shape 16"/>
          <p:cNvSpPr/>
          <p:nvPr/>
        </p:nvSpPr>
        <p:spPr>
          <a:xfrm>
            <a:off x="829056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9056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 전략에 필요한 상대적 투자 비용 수준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90560" y="4398264"/>
            <a:ext cx="3176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GEO 대비 적은 리소스로 시작할 수 있는 진입점이다.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8290560" y="560527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AEO·GEO 비교 가이드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시각적 효과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FAQ 스키마, 검색 결과에서 실제로 어떻게 보이는가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list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 화면에서 질문이 펼쳐져 보임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일반 링크보다 훨씬 많은 화면 공간을 차지해 시각적으로 눈에 띈다.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566928" y="3224784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34365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3188208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클릭 전에 답을 미리 알 수 있음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70432" y="3535680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사용자가 클릭하지 않아도 신뢰를 먼저 얻을 수 있는 구조다.</a:t>
            </a:r>
            <a:endParaRPr lang="en-US" sz="1230" dirty="0"/>
          </a:p>
        </p:txBody>
      </p:sp>
      <p:sp>
        <p:nvSpPr>
          <p:cNvPr id="12" name="Shape 8"/>
          <p:cNvSpPr/>
          <p:nvPr/>
        </p:nvSpPr>
        <p:spPr>
          <a:xfrm>
            <a:off x="566928" y="478536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2" descr="/home/claude/seo_course/icons/chartb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90423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4748784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결과 화면 점유율 증가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70432" y="5096256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순위라도 화면에서 차지하는 영역이 커져 체감 노출이 늘어난다.</a:t>
            </a:r>
            <a:endParaRPr lang="en-US" sz="1230" dirty="0"/>
          </a:p>
        </p:txBody>
      </p:sp>
      <p:sp>
        <p:nvSpPr>
          <p:cNvPr id="16" name="Text 1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852160" cy="5852160"/>
          </a:xfrm>
          <a:prstGeom prst="ellipse">
            <a:avLst/>
          </a:prstGeom>
          <a:solidFill>
            <a:srgbClr val="342F8C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234440"/>
            <a:ext cx="960120" cy="960120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4" name="Image 0" descr="/home/claude/seo_course/icons/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" y="148407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GEO 콘텐츠 작성 심화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9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AEO가 즉답이라면 GEO는 깊이다. 경영진도 이해하는 요약과 실무진도 만족하는 세부 사항을 동시에 담는 법을 다룬다.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구조화 공식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Executive Summary 균형 공식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요약과 심층 분석의 5단 구조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GEO 콘텐츠는 '경영진도 이해할 수 있는 요약'과 '실무진도 만족할 세부 사항'을 모두 포함해야 한다.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3146679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0" name="Image 1" descr="/home/claude/seo_course/icons/filetex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3246531"/>
            <a:ext cx="184343" cy="184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" y="2907792"/>
            <a:ext cx="10241280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Executive Summary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200자 — 전체 내용을 한눈에 파악할 수 있는 핵심 요약</a:t>
            </a:r>
            <a:endParaRPr lang="en-US" sz="1260" dirty="0"/>
          </a:p>
        </p:txBody>
      </p:sp>
      <p:sp>
        <p:nvSpPr>
          <p:cNvPr id="12" name="Shape 8"/>
          <p:cNvSpPr/>
          <p:nvPr/>
        </p:nvSpPr>
        <p:spPr>
          <a:xfrm>
            <a:off x="566928" y="4008501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3" name="Image 2" descr="/home/claude/seo_course/icons/chartb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80" y="4108353"/>
            <a:ext cx="184343" cy="1843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8992" y="3769614"/>
            <a:ext cx="10241280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배경과 현황 분석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500자 — 왜 이 주제가 지금 중요한지 맥락을 제공</a:t>
            </a:r>
            <a:endParaRPr lang="en-US" sz="1260" dirty="0"/>
          </a:p>
        </p:txBody>
      </p:sp>
      <p:sp>
        <p:nvSpPr>
          <p:cNvPr id="15" name="Shape 10"/>
          <p:cNvSpPr/>
          <p:nvPr/>
        </p:nvSpPr>
        <p:spPr>
          <a:xfrm>
            <a:off x="566928" y="4870323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6" name="Image 3" descr="/home/claude/seo_course/icons/lightbulb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80" y="4970175"/>
            <a:ext cx="184343" cy="1843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78992" y="4631436"/>
            <a:ext cx="10241280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인사이트 3가지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300자 — 독자적 관점이 드러나는 핵심 통찰</a:t>
            </a:r>
            <a:endParaRPr lang="en-US" sz="1260" dirty="0"/>
          </a:p>
        </p:txBody>
      </p:sp>
      <p:sp>
        <p:nvSpPr>
          <p:cNvPr id="18" name="Shape 12"/>
          <p:cNvSpPr/>
          <p:nvPr/>
        </p:nvSpPr>
        <p:spPr>
          <a:xfrm>
            <a:off x="566928" y="5732145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9" name="Image 4" descr="/home/claude/seo_course/icons/wrench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80" y="5831997"/>
            <a:ext cx="184343" cy="18434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78992" y="5493258"/>
            <a:ext cx="10241280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 방안 + 예상 결과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400자 + 200자 — 구체적 액션과 기대 효과</a:t>
            </a:r>
            <a:endParaRPr lang="en-US" sz="1260" dirty="0"/>
          </a:p>
        </p:txBody>
      </p:sp>
      <p:sp>
        <p:nvSpPr>
          <p:cNvPr id="21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적용 예시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B2B 리드 생성 전략, Executive Summary 적용 예시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quo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Executive Summary 적용 예시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10186416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2026년 B2B 리드 생성은 양적 확대에서 질적 심화로 전환되고 있다. MQL(마케팅 적격 리드) 중심에서 PQL(제품 적격 리드) 기반 전략으로 변화하며, 이는 전환율 향상으로 이어진다 — 이처럼 첫 200자 안에 핵심 주장과 변화 방향을 압축해서 제시한다.</a:t>
            </a:r>
            <a:endParaRPr lang="en-US" sz="1230" dirty="0"/>
          </a:p>
        </p:txBody>
      </p:sp>
      <p:sp>
        <p:nvSpPr>
          <p:cNvPr id="8" name="Text 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프레임워크 개발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독창적 프레임워크를 만드는 3가지 방법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2852928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2938516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253746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3단계 모델, 5가지 원칙 등 숫자를 활용해 체계화한다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566928" y="3813048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16" y="3898636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349758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업계 데이터와 고유 경험을 결합한 인사이트를 제시한다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4773168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485875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44577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반대 관점을 제시한다 — '일반적으로 A라고 하지만, 실제로는 B입니다'</a:t>
            </a:r>
            <a:endParaRPr lang="en-US" sz="1260" dirty="0"/>
          </a:p>
        </p:txBody>
      </p:sp>
      <p:sp>
        <p:nvSpPr>
          <p:cNvPr id="13" name="Text 8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뻔한 조언 VS 프레임워크 조언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메시지, 다른 설득력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EEF0FC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뻔한 조언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59536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GENERIC ADVICE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" y="2587752"/>
            <a:ext cx="4700016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"콘텐츠 마케팅에서는 기존의 양질의 콘텐츠를 많이 만들어라" — 누구나 할 수 있는 말이라 AI도 특별히 인용할 이유가 없다.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FFE9DC"/>
          </a:solidFill>
          <a:ln/>
        </p:spPr>
      </p:sp>
      <p:sp>
        <p:nvSpPr>
          <p:cNvPr id="9" name="Text 7"/>
          <p:cNvSpPr/>
          <p:nvPr/>
        </p:nvSpPr>
        <p:spPr>
          <a:xfrm>
            <a:off x="6556248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프레임워크 조언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556248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FRAMEWORK-DRIVEN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56248" y="2587752"/>
            <a:ext cx="4700016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"콘텐츠 마케팅의 80/20 법칙을 기억하라. 20%의 핵심 콘텐츠가 80%의 성과를 만든다. 2026년 기업들은 월 20개 포스팅보다 분기 5개의 심층 분석 콘텐츠를 선택한다" — 숫자와 구조가 있어 AI가 학습·인용하기 쉽다.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E-E-A-T 구현법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E-E-A-T, 구체적으로 어떻게 보여주는가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Experience · Expertise · Authoritativeness · Trustworthiness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요소는 추상적 개념이 아니라, 콘텐츠 안에서 구체적으로 보여줄 수 있는 실제 장치들이다.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3146679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0" name="Image 1" descr="/home/claude/seo_course/icons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3246531"/>
            <a:ext cx="184343" cy="184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" y="2907792"/>
            <a:ext cx="10241280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Experience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"지난 3년간 50개 기업 컨설팅 경험에서"처럼 구체적 경험을 직접 인용한다</a:t>
            </a:r>
            <a:endParaRPr lang="en-US" sz="1260" dirty="0"/>
          </a:p>
        </p:txBody>
      </p:sp>
      <p:sp>
        <p:nvSpPr>
          <p:cNvPr id="12" name="Shape 8"/>
          <p:cNvSpPr/>
          <p:nvPr/>
        </p:nvSpPr>
        <p:spPr>
          <a:xfrm>
            <a:off x="566928" y="4008501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3" name="Image 2" descr="/home/claude/seo_course/icons/chartb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80" y="4108353"/>
            <a:ext cx="184343" cy="1843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8992" y="3769614"/>
            <a:ext cx="10241280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Expertise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구체적 수치와 데이터를 인용해 전문성을 증명한다</a:t>
            </a:r>
            <a:endParaRPr lang="en-US" sz="1260" dirty="0"/>
          </a:p>
        </p:txBody>
      </p:sp>
      <p:sp>
        <p:nvSpPr>
          <p:cNvPr id="15" name="Shape 10"/>
          <p:cNvSpPr/>
          <p:nvPr/>
        </p:nvSpPr>
        <p:spPr>
          <a:xfrm>
            <a:off x="566928" y="4870323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6" name="Image 3" descr="/home/claude/seo_course/icons/awar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80" y="4970175"/>
            <a:ext cx="184343" cy="1843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78992" y="4631436"/>
            <a:ext cx="10241280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Authoritativeness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업계 전문가 인터뷰, 저자 신원 표시, 외부 인증을 언급한다</a:t>
            </a:r>
            <a:endParaRPr lang="en-US" sz="1260" dirty="0"/>
          </a:p>
        </p:txBody>
      </p:sp>
      <p:sp>
        <p:nvSpPr>
          <p:cNvPr id="18" name="Shape 12"/>
          <p:cNvSpPr/>
          <p:nvPr/>
        </p:nvSpPr>
        <p:spPr>
          <a:xfrm>
            <a:off x="566928" y="5732145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9" name="Image 4" descr="/home/claude/seo_course/icons/shield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80" y="5831997"/>
            <a:ext cx="184343" cy="18434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78992" y="5493258"/>
            <a:ext cx="10241280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Trustworthiness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 사례와 한계점도 솔직하게 공개한다</a:t>
            </a:r>
            <a:endParaRPr lang="en-US" sz="1260" dirty="0"/>
          </a:p>
        </p:txBody>
      </p:sp>
      <p:sp>
        <p:nvSpPr>
          <p:cNvPr id="21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937760" cy="4937760"/>
          </a:xfrm>
          <a:prstGeom prst="ellipse">
            <a:avLst/>
          </a:prstGeom>
          <a:solidFill>
            <a:srgbClr val="342F8C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의외의 발견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3232" y="14173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실패담 &gt; 성공담</a:t>
            </a:r>
            <a:endParaRPr lang="en-US" sz="9200" dirty="0"/>
          </a:p>
        </p:txBody>
      </p:sp>
      <p:sp>
        <p:nvSpPr>
          <p:cNvPr id="5" name="Text 3"/>
          <p:cNvSpPr/>
          <p:nvPr/>
        </p:nvSpPr>
        <p:spPr>
          <a:xfrm>
            <a:off x="731520" y="3611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D7D9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 사례를 포함한 콘텐츠가 AI 인용률이 더 높다는 연구 결과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443484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완벽한 성공담보다는 진솔한 경험과 교훈을 담은 콘텐츠가 더 신뢰받는다. 한계와 실패를 솔직하게 공개하는 것이 오히려 신뢰도(Trustworthiness)를 높이는 전략이 된다.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88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신뢰도 연구, 2025~2026</a:t>
            </a:r>
            <a:endParaRPr lang="en-US" sz="10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작성 전 체크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긴 콘텐츠를 쓰기 전, 9가지 필수 지침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724152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1809740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627632"/>
            <a:ext cx="10332720" cy="52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분량: 공백 제외 1,500~2,500자로 밀도 있게 작성한다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566928" y="2246376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16" y="2331964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2149856"/>
            <a:ext cx="10332720" cy="52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하단에 Q&amp;A 5개 이상을 명확히 넣는다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2768600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2854188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2672080"/>
            <a:ext cx="10332720" cy="52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중간에 FAQ 5개 이상을 구조화해 넣는다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566928" y="3290824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16" y="3376412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24128" y="3194304"/>
            <a:ext cx="10332720" cy="52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서론은 역피라미드형(즉답형) 구조로 작성한다</a:t>
            </a:r>
            <a:endParaRPr lang="en-US" sz="1260" dirty="0"/>
          </a:p>
        </p:txBody>
      </p:sp>
      <p:sp>
        <p:nvSpPr>
          <p:cNvPr id="16" name="Shape 10"/>
          <p:cNvSpPr/>
          <p:nvPr/>
        </p:nvSpPr>
        <p:spPr>
          <a:xfrm>
            <a:off x="566928" y="381304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7" name="Image 4" descr="/home/claude/seo_course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516" y="3898636"/>
            <a:ext cx="158008" cy="1580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24128" y="3716528"/>
            <a:ext cx="10332720" cy="52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본문 시작 전 전체 요약 박스(헤드 요약)를 배치한다</a:t>
            </a:r>
            <a:endParaRPr lang="en-US" sz="1260" dirty="0"/>
          </a:p>
        </p:txBody>
      </p:sp>
      <p:sp>
        <p:nvSpPr>
          <p:cNvPr id="19" name="Shape 12"/>
          <p:cNvSpPr/>
          <p:nvPr/>
        </p:nvSpPr>
        <p:spPr>
          <a:xfrm>
            <a:off x="566928" y="4335272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0" name="Image 5" descr="/home/claude/seo_course/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516" y="4420860"/>
            <a:ext cx="158008" cy="15800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24128" y="4238752"/>
            <a:ext cx="10332720" cy="52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공신력 있는 출처와 구체적 숫자를 본문에 명시한다</a:t>
            </a:r>
            <a:endParaRPr lang="en-US" sz="1260" dirty="0"/>
          </a:p>
        </p:txBody>
      </p:sp>
      <p:sp>
        <p:nvSpPr>
          <p:cNvPr id="22" name="Shape 14"/>
          <p:cNvSpPr/>
          <p:nvPr/>
        </p:nvSpPr>
        <p:spPr>
          <a:xfrm>
            <a:off x="566928" y="4857496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3" name="Image 6" descr="/home/claude/seo_course/icons/chec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516" y="4943084"/>
            <a:ext cx="158008" cy="15800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024128" y="4760976"/>
            <a:ext cx="10332720" cy="52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본문 상단에 번호 매긴 목차를 배치한다</a:t>
            </a:r>
            <a:endParaRPr lang="en-US" sz="1260" dirty="0"/>
          </a:p>
        </p:txBody>
      </p:sp>
      <p:sp>
        <p:nvSpPr>
          <p:cNvPr id="25" name="Shape 16"/>
          <p:cNvSpPr/>
          <p:nvPr/>
        </p:nvSpPr>
        <p:spPr>
          <a:xfrm>
            <a:off x="566928" y="5379720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6" name="Image 7" descr="/home/claude/seo_course/icons/check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516" y="5465308"/>
            <a:ext cx="158008" cy="15800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024128" y="5283200"/>
            <a:ext cx="10332720" cy="52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표·번호 리스트·단계별 설명으로 시각적으로 구조화한다</a:t>
            </a:r>
            <a:endParaRPr lang="en-US" sz="1260" dirty="0"/>
          </a:p>
        </p:txBody>
      </p:sp>
      <p:sp>
        <p:nvSpPr>
          <p:cNvPr id="28" name="Shape 18"/>
          <p:cNvSpPr/>
          <p:nvPr/>
        </p:nvSpPr>
        <p:spPr>
          <a:xfrm>
            <a:off x="566928" y="5901944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9" name="Image 8" descr="/home/claude/seo_course/icons/check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516" y="5987532"/>
            <a:ext cx="158008" cy="15800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1024128" y="5805424"/>
            <a:ext cx="10332720" cy="52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3단계 모델·5가지 원칙 같은 숫자 프레임워크를 도입한다</a:t>
            </a:r>
            <a:endParaRPr lang="en-US" sz="1260" dirty="0"/>
          </a:p>
        </p:txBody>
      </p:sp>
      <p:sp>
        <p:nvSpPr>
          <p:cNvPr id="31" name="Text 2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32" name="Text 2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흔한 실수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Executive Summary 작성 시 흔한 실수 3가지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x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너무 길게 쓰기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200자를 훌쩍 넘겨버리면 '요약'이 아니라 또 하나의 본문이 되어 버린다.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566928" y="3224784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x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34365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3188208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결론을 맨 뒤로 미루기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70432" y="3535680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역피라미드 원칙을 잊고 배경 설명부터 시작하면 핵심이 묻힌다.</a:t>
            </a:r>
            <a:endParaRPr lang="en-US" sz="1230" dirty="0"/>
          </a:p>
        </p:txBody>
      </p:sp>
      <p:sp>
        <p:nvSpPr>
          <p:cNvPr id="12" name="Shape 8"/>
          <p:cNvSpPr/>
          <p:nvPr/>
        </p:nvSpPr>
        <p:spPr>
          <a:xfrm>
            <a:off x="566928" y="478536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2" descr="/home/claude/seo_course/icons/x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90423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4748784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추상적 표현으로만 채우기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70432" y="5096256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구체적 숫자나 변화 방향 없이 일반론만 나열하면 차별성이 사라진다.</a:t>
            </a:r>
            <a:endParaRPr lang="en-US" sz="1230" dirty="0"/>
          </a:p>
        </p:txBody>
      </p:sp>
      <p:sp>
        <p:nvSpPr>
          <p:cNvPr id="16" name="Text 1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다시 보는 핵심 개념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Topical Authority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주제적 권위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하나의 도메인이 특정 주제에 대해 얼마나 깊이 있고 일관되게 콘텐츠를 쌓아왔는지를 평가하는 개념이다.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907792"/>
            <a:ext cx="10844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마케팅 채널에서 갑자기 요리·패션·금융 등 관련 없는 주제를 다루면 AI와 검색엔진이 채널의 정체성을 파악하기 어려워져, 결과적으로 어떤 주제에서도 우선적으로 인용되지 못하게 된다.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4873752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1" name="Image 1" descr="/home/claude/seo_course/icons/compas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4973604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3776472"/>
            <a:ext cx="1024128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실무 원칙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주제를 정하고, 그 주제에서 누구보다 깊이 있는 콘텐츠 허브를 구축하는 것이 Topical Authority를 쌓는 가장 확실한 길이다.</a:t>
            </a:r>
            <a:endParaRPr lang="en-US" sz="1260" dirty="0"/>
          </a:p>
        </p:txBody>
      </p:sp>
      <p:sp>
        <p:nvSpPr>
          <p:cNvPr id="13" name="Text 9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두 개념의 연결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Information Gain과 Executive Summary, GEO의 두 기둥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EEF0FC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Information Gain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59536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내용의 차별성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'무엇을' 말할지를 결정하는 재료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859536" y="2849270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1차 데이터·독자적 프레임워크가 핵심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859536" y="3132734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2에서 다룬 콘텐츠 차별화 전략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6263640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FFE9DC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Executive Summary 공식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556248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전달의 구조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56248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'어떻게' 전달할지를 결정하는 틀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6556248" y="2849270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요약 → 배경 → 인사이트 → 실행안 구조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6556248" y="3165653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4에서 다룬 콘텐츠 구조화 전략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852160" cy="5852160"/>
          </a:xfrm>
          <a:prstGeom prst="ellipse">
            <a:avLst/>
          </a:prstGeom>
          <a:solidFill>
            <a:srgbClr val="342F8C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234440"/>
            <a:ext cx="960120" cy="960120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4" name="Image 0" descr="/home/claude/seo_course/icons/compas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" y="148407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5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정리: AEO와 GEO, 같은 콘텐츠 다른 깊이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9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배운 두 가지 실전 작성법을 나란히 놓고, 다음 회차로 이어지는 다리를 놓는다.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5 · 적용 전후 비교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질문, 다른 답변 구조 — Before &amp; After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배운 원칙을 하나의 질문에 모두 적용해보면 이렇게 달라진다.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157984"/>
            <a:ext cx="5394960" cy="4169664"/>
          </a:xfrm>
          <a:prstGeom prst="roundRect">
            <a:avLst>
              <a:gd name="adj" fmla="val 1974"/>
            </a:avLst>
          </a:prstGeom>
          <a:solidFill>
            <a:srgbClr val="EEF0FC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2377440"/>
            <a:ext cx="457200" cy="457200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7" name="Image 0" descr="/home/claude/seo_course/icons/x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49631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2962656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Before — 기존 방식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86384" y="3456432"/>
            <a:ext cx="4956048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키워드를 반복하며 서론을 길게 쓰고, 핵심 답변은 본문 중반에 모호하게 등장한다. 출처나 구체적 숫자 없이 일반론으로 마무리된다.</a:t>
            </a:r>
            <a:endParaRPr lang="en-US" sz="1160" dirty="0"/>
          </a:p>
        </p:txBody>
      </p:sp>
      <p:sp>
        <p:nvSpPr>
          <p:cNvPr id="10" name="Text 7"/>
          <p:cNvSpPr/>
          <p:nvPr/>
        </p:nvSpPr>
        <p:spPr>
          <a:xfrm>
            <a:off x="786384" y="5760720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30" b="1" dirty="0">
                <a:solidFill>
                  <a:srgbClr val="C252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발췌할 명확한 지점이 없어 인용되지 않음</a:t>
            </a:r>
            <a:endParaRPr lang="en-US" sz="1130" dirty="0"/>
          </a:p>
        </p:txBody>
      </p:sp>
      <p:sp>
        <p:nvSpPr>
          <p:cNvPr id="11" name="Shape 8"/>
          <p:cNvSpPr/>
          <p:nvPr/>
        </p:nvSpPr>
        <p:spPr>
          <a:xfrm>
            <a:off x="6236208" y="2157984"/>
            <a:ext cx="5394960" cy="4169664"/>
          </a:xfrm>
          <a:prstGeom prst="roundRect">
            <a:avLst>
              <a:gd name="adj" fmla="val 1974"/>
            </a:avLst>
          </a:prstGeom>
          <a:solidFill>
            <a:srgbClr val="EEF0FC"/>
          </a:solidFill>
          <a:ln/>
        </p:spPr>
      </p:sp>
      <p:sp>
        <p:nvSpPr>
          <p:cNvPr id="12" name="Shape 9"/>
          <p:cNvSpPr/>
          <p:nvPr/>
        </p:nvSpPr>
        <p:spPr>
          <a:xfrm>
            <a:off x="6455664" y="2377440"/>
            <a:ext cx="457200" cy="457200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13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249631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55664" y="2962656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After — 오늘 배운 방식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55664" y="3456432"/>
            <a:ext cx="4956048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첫 문장에 완전한 답변과 구체적 숫자를 배치하고, FAQ로 연관 질문을 보강한다. 실제 경험과 출처를 명시해 E-E-A-T를 강화한다.</a:t>
            </a:r>
            <a:endParaRPr lang="en-US" sz="1160" dirty="0"/>
          </a:p>
        </p:txBody>
      </p:sp>
      <p:sp>
        <p:nvSpPr>
          <p:cNvPr id="16" name="Text 12"/>
          <p:cNvSpPr/>
          <p:nvPr/>
        </p:nvSpPr>
        <p:spPr>
          <a:xfrm>
            <a:off x="6455664" y="5760720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30" b="1" dirty="0">
                <a:solidFill>
                  <a:srgbClr val="C252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Featured Snippet 및 AI 답변 인용 가능성이 함께 상승</a:t>
            </a:r>
            <a:endParaRPr lang="en-US" sz="1130" dirty="0"/>
          </a:p>
        </p:txBody>
      </p:sp>
      <p:sp>
        <p:nvSpPr>
          <p:cNvPr id="17" name="Text 13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5 · 실무 마무리 질문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제작, 실무에서 자주 나오는 질문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233172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2331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외주 작가에게 콘텐츠 작성을 맡겨도 되나요?</a:t>
            </a:r>
            <a:endParaRPr lang="en-US" sz="1330" dirty="0"/>
          </a:p>
        </p:txBody>
      </p:sp>
      <p:sp>
        <p:nvSpPr>
          <p:cNvPr id="6" name="Text 4"/>
          <p:cNvSpPr/>
          <p:nvPr/>
        </p:nvSpPr>
        <p:spPr>
          <a:xfrm>
            <a:off x="566928" y="2752344"/>
            <a:ext cx="4206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752344"/>
            <a:ext cx="103327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가능하다. 다만 이번 회차의 체크리스트(검색 의도·역피라미드·E-E-A-T)를 작가에게 명확한 가이드라인으로 전달해야 일관된 품질을 유지할 수 있다.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566928" y="402336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4023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AI로 초안을 쓰고 사람이 다듬으면 괜찮은가요?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566928" y="4443984"/>
            <a:ext cx="4206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4443984"/>
            <a:ext cx="103327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괜찮다. 다만 '실제 경험·1차 데이터·구체적 사례'는 AI가 대체할 수 없는 부분이므로, 사람이 직접 그 부분을 보강하는 과정이 반드시 필요하다.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5 · 한눈에 보는 비교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 3단계 vs GEO 핵심 작업, 단계별 비교</a:t>
            </a:r>
            <a:endParaRPr lang="en-US" sz="25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76856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26280"/>
                <a:gridCol w="45262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단계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AEO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GEO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1단계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질문 중심 콘텐츠 구조 설계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독창적 관점·프레임워크 개발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2단계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역피라미드 즉답형 작성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Executive Summary + 심층 분석 균형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3단계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FAQ 형식·연관 질문 준비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E-E-A-T 요소 강화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분량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500~800자 간결한 답변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2,000~4,000자 심층 분석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시간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1주 완성 가능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1개월 단위로 누적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RECAP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오늘의 핵심 4가지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315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08760" y="1920240"/>
            <a:ext cx="950976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3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SEO는 검색 의도 분석 → 토픽 클러스터 → E-E-A-T → 최적화의 4단계로 진행된다.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3006090"/>
            <a:ext cx="7315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3006090"/>
            <a:ext cx="950976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3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 성공의 80%는 화려한 글쓰기가 아니라 올바른 질문을 찾는 것에서 시작된다.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4091940"/>
            <a:ext cx="7315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8760" y="4091940"/>
            <a:ext cx="950976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3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역피라미드 구조 — 첫 문장에 완전한 답을 담는 것이 AEO 작성의 핵심 원칙이다.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5177790"/>
            <a:ext cx="7315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5177790"/>
            <a:ext cx="950976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3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GEO는 Executive Summary와 심층 분석의 균형, 그리고 독창적 프레임워크가 핵심이다.</a:t>
            </a:r>
            <a:endParaRPr lang="en-US" sz="13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94360"/>
            <a:ext cx="10844784" cy="960120"/>
          </a:xfrm>
          <a:prstGeom prst="roundRect">
            <a:avLst>
              <a:gd name="adj" fmla="val 8571"/>
            </a:avLst>
          </a:prstGeom>
          <a:solidFill>
            <a:srgbClr val="EEF0FC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9436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콘텐츠를 만들었다면, 이제 신뢰를 외부로 확장할 시간이다.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66928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NEXT SESSION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224942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26060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링크빌딩 SEO &amp; GEO 실전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66928" y="3802380"/>
            <a:ext cx="365760" cy="365760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8" name="Image 0" descr="/home/claude/seo_course/icons/arrowrigh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026" y="3897478"/>
            <a:ext cx="175565" cy="1755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3520440"/>
            <a:ext cx="102412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화이트햇 링크빌딩 5대 전략과 좋은 백링크 vs 위험한 백링크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4732020"/>
            <a:ext cx="365760" cy="365760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11" name="Image 1" descr="/home/claude/seo_course/icons/arrowrigh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6" y="4827118"/>
            <a:ext cx="175565" cy="1755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4450080"/>
            <a:ext cx="102412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Entity SEO 7단계 실행법으로 브랜드를 하나의 '개체'로 만들기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66928" y="5661660"/>
            <a:ext cx="365760" cy="365760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14" name="Image 2" descr="/home/claude/seo_course/icons/arrowrigh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6" y="5756758"/>
            <a:ext cx="175565" cy="17556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5379720"/>
            <a:ext cx="102412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GEO 성과를 측정하는 KPI — 인용률·점유율·전환율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참고 자료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SEO 실무 가이드. 검색 의도 분석 및 토픽 클러스터 설계 방법론, 2026.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2240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 실전 적용 가이드. 질문 중심 설계 및 역피라미드 작성법, 2026.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697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26974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Google Search Central. Helpful Content 시스템 및 E-E-A-T 가이드라인.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3154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3154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GEO 콘텐츠 작성 프레임워크. Executive Summary 구조화 공식, 2026.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3611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3611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신뢰도 연구. 실패 사례 포함 콘텐츠의 AI 인용률 비교, 2025~2026.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3 · 콘텐츠 SEO &amp; AEO 실전</dc:title>
  <dc:subject>PptxGenJS Presentation</dc:subject>
  <dc:creator>SEO·AEO·GEO 5주 과정</dc:creator>
  <cp:lastModifiedBy>SEO·AEO·GEO 5주 과정</cp:lastModifiedBy>
  <cp:revision>1</cp:revision>
  <dcterms:created xsi:type="dcterms:W3CDTF">2026-06-18T12:35:39Z</dcterms:created>
  <dcterms:modified xsi:type="dcterms:W3CDTF">2026-06-18T12:35:39Z</dcterms:modified>
</cp:coreProperties>
</file>