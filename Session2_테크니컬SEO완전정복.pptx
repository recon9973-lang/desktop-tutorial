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1.png"/><Relationship Id="rId5" Type="http://schemas.openxmlformats.org/officeDocument/2006/relationships/image" Target="../media/image-2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image" Target="../media/image-2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1.png"/><Relationship Id="rId5" Type="http://schemas.openxmlformats.org/officeDocument/2006/relationships/image" Target="../media/image-25-1.png"/><Relationship Id="rId6" Type="http://schemas.openxmlformats.org/officeDocument/2006/relationships/image" Target="../media/image-2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image" Target="../media/image-31-1.png"/><Relationship Id="rId4" Type="http://schemas.openxmlformats.org/officeDocument/2006/relationships/image" Target="../media/image-3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1.png"/><Relationship Id="rId3" Type="http://schemas.openxmlformats.org/officeDocument/2006/relationships/image" Target="../media/image-32-1.png"/><Relationship Id="rId4" Type="http://schemas.openxmlformats.org/officeDocument/2006/relationships/image" Target="../media/image-3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image" Target="../media/image-33-1.png"/><Relationship Id="rId4" Type="http://schemas.openxmlformats.org/officeDocument/2006/relationships/image" Target="../media/image-33-1.png"/><Relationship Id="rId5" Type="http://schemas.openxmlformats.org/officeDocument/2006/relationships/image" Target="../media/image-33-1.png"/><Relationship Id="rId6" Type="http://schemas.openxmlformats.org/officeDocument/2006/relationships/image" Target="../media/image-3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1.png"/><Relationship Id="rId3" Type="http://schemas.openxmlformats.org/officeDocument/2006/relationships/image" Target="../media/image-39-1.png"/><Relationship Id="rId4" Type="http://schemas.openxmlformats.org/officeDocument/2006/relationships/image" Target="../media/image-3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2.png"/><Relationship Id="rId4" Type="http://schemas.openxmlformats.org/officeDocument/2006/relationships/image" Target="../media/image-4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1.png"/><Relationship Id="rId3" Type="http://schemas.openxmlformats.org/officeDocument/2006/relationships/image" Target="../media/image-45-1.png"/><Relationship Id="rId4" Type="http://schemas.openxmlformats.org/officeDocument/2006/relationships/image" Target="../media/image-45-1.png"/><Relationship Id="rId5" Type="http://schemas.openxmlformats.org/officeDocument/2006/relationships/image" Target="../media/image-45-1.png"/><Relationship Id="rId6" Type="http://schemas.openxmlformats.org/officeDocument/2006/relationships/image" Target="../media/image-4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image" Target="../media/image-49-1.png"/><Relationship Id="rId4" Type="http://schemas.openxmlformats.org/officeDocument/2006/relationships/image" Target="../media/image-4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1.png"/><Relationship Id="rId3" Type="http://schemas.openxmlformats.org/officeDocument/2006/relationships/image" Target="../media/image-5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1.png"/><Relationship Id="rId3" Type="http://schemas.openxmlformats.org/officeDocument/2006/relationships/image" Target="../media/image-5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1.png"/><Relationship Id="rId3" Type="http://schemas.openxmlformats.org/officeDocument/2006/relationships/image" Target="../media/image-56-1.png"/><Relationship Id="rId4" Type="http://schemas.openxmlformats.org/officeDocument/2006/relationships/image" Target="../media/image-5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1.png"/><Relationship Id="rId3" Type="http://schemas.openxmlformats.org/officeDocument/2006/relationships/image" Target="../media/image-6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14400"/>
            <a:ext cx="2377440" cy="2377440"/>
          </a:xfrm>
          <a:prstGeom prst="ellipse">
            <a:avLst/>
          </a:prstGeom>
          <a:solidFill>
            <a:srgbClr val="FF7A4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/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완전정복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AI도 읽을 수 있는 사이트 만들기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콘텐츠가 아무리 좋아도 검색엔진과 AI가 사이트에 접근조차 못 하면 의미가 없다. 모든 SEO·AEO·GEO 성과의 기초 인프라를 처음부터 끝까지 점검한다.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791456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645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검색엔진의 수집-정제-색인-랭킹 4단계 작동 원리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5212080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06577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크롤링·색인·Core Web Vitals·구조화 데이터·보안 5대 영역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" y="5632704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486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robots.txt·sitemap.xml·llms.txt 3종 크롤 거버넌스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" y="6053328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90702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실전 7단계 테크니컬 SEO 감사 프로세스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5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 시대 마케팅 — SEO·AEO·GEO 5주 완성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다루는 5가지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78308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검색엔진 작동 원리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49240" y="1783080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 → 정제 → 색인 → 랭킹, 테크니컬 SEO가 왜 모든 것의 기초인지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642616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79192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크롤링과 색인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49240" y="2679192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robots.txt·sitemap.xml·llms.txt, AI도 읽을 수 있는 크롤 거버넌스 설계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538728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575304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57530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Core Web Vitals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9240" y="3575304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LCP·INP·CLS 3대 지표와 이미지·JS·서버 최적화 실무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434840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471416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47141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구조화 데이터와 보안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49240" y="4471416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schema.org로 AI에게 의미를 전달하고, HTTPS로 신뢰를 확보하는 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330952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3675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536752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실전 감사 프로세스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49240" y="5367528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7단계 테크니컬 SEO 감사와 빈출 오류 조치 가이드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ge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검색엔진은 어떻게 작동하는가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콘텐츠를 쓰기 전에, 검색엔진이 그 콘텐츠를 어떤 절차로 받아들이는지부터 이해해야 한다.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검색엔진 작동 원리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 → 정제 → 색인 → 랭킹, 4단계가 품질을 결정한다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검색엔진은 이 네 단계를 거쳐 웹사이트의 품질을 결정한다. 테크니컬 SEO는 이 중 앞 두 단계, 콘텐츠 SEO와 링크빌딩은 이후 단계에 영향을 준다.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수집 (Crawling)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 로봇이 웹사이트의 모든 페이지를 탐색하며 콘텐츠를 가져오는 과정이다.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정제 (Refining)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가져온 콘텐츠를 유사·중복·가비지 데이터로 판별해 저품질을 걸러내고 고품질만 선별한다.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색인 (Indexing)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판별이 끝난 콘텐츠를 주제별로 데이터베이스에 저장해 검색엔진이 이해할 수 있는 형태로 보관한다.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53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랭킹 (Ranking)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의도에 맞춰 색인된 콘텐츠에 순위를 부여하고, 검색어에 따라 결과를 제공한다.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오늘의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Technical SEO — 뼈대 구축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검색엔진과 AI가 웹사이트를 발견·접근·이해·색인할 수 있도록 사이트의 기술적 기반을 최적화하는 작업이다.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크롤링·색인·페이지 속도(Core Web Vitals)·구조화 데이터·보안(HTTPS)이 5대 핵심 영역이며, 콘텐츠 SEO·링크빌딩 SEO·GEO 성과 전체의 인프라 역할을 한다.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wre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규모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웹사이트 규모에 따라 30~50개의 중요 HTML 요소를 점검·보완하는 과정이다.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5대 핵심 영역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SEO를 구성하는 5가지 점검 영역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크롤링 — 검색엔진이 주요 페이지에 접근할 수 있는가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색인 — 의도한 페이지만 검색 결과에 노출되는가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Web Vitals — 실사용자 경험이 구글 기준을 충족하는가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 — 검색엔진과 AI가 콘텐츠를 구조적으로 이해하는가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— 사이트가 안전하고 신뢰할 수 있는가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한국 시장 특수성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네이버와 구글, 테크니컬 평가 기준이 다르다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원리는 유사하지만 평가 항목과 반영 방식에 뚜렷한 차이가 있다. 한쪽에만 맞춘 최적화는 나머지 절반의 트래픽을 놓친다.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8316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51960"/>
                <a:gridCol w="42519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네이버 (NAVER)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구글 코리아 (GOOGLE)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핵심 알고리즘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C-Rank · D.I.A 기반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PageRank · E-E-A-T 기반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속도 평가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크롤러가 읽기 쉬운 HTML 구조 중시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Core Web Vitals 공식 순위 요소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등록 절차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서치어드바이저 정식 등록 필수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모바일 우선 색인(Mobile-First)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구조화 데이터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접근성 중심 평가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Rich Results 적극 반영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반응 신호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플랫폼 내 사용자 반응 신호 반영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사이트 구조·링크·UX 종합 평가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자주 묻는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SEO, 가장 많이 묻는 질문들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SEO란 정확히 무엇인가요?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11226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검색엔진이 웹사이트를 발견·읽고·이해·색인할 수 있도록 기술적 기반을 최적화하는 것이다. 크롤링·색인·속도·구조화 데이터·보안이 5대 영역이며, 콘텐츠·링크·GEO 성과의 기초 인프라다.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Web Vitals 점수가 낮으면 순위에 영향이 있나요?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366674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있다. 2026년 기준 LCP 2.5초·INP 200ms·CLS 0.1이 합격선이며, 특히 INP의 중요도가 높아지고 있다. 콘텐츠 품질이 비슷하다면 페이지 경험이 순위 경쟁의 변수가 된다.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" y="480060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SEO와 GEO는 어떤 관계인가요?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66928" y="522122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SEO는 GEO의 기초다. AI가 사이트를 인용하려면 먼저 크롤링·색인이 가능해야 하고 정보가 구조화되어야 한다. 2026년 기준 GEO는 사실상 '시맨틱 테크니컬 SEO'에 가깝다.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자주 묻는 질문 (계속)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주기와 사이트 규모에 관한 질문들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네이버와 구글의 테크니컬 기준은 같은가요?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11226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원리는 유사하나 세부 기준이 다르다. 구글은 Core Web Vitals·모바일 우선·구조화 데이터를, 네이버는 title 고유성·HTML 접근성·서치어드바이저 등록을 중시한다. 양쪽을 모두 커버해야 한다.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감사는 얼마나 자주 해야 하나요?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366674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색인 급감·크롤링 오류 같은 경보성 지표는 매주 모니터링하고, 전체 감사는 매월 1회가 권장된다. 사이트 개편·CMS 변경·서버 이전 시에는 반드시 사전·사후 점검이 필요하다.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" y="480060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소규모 사이트도 점검이 꼭 필요한가요?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66928" y="522122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그렇다. robots.txt 오류 하나로 전체 색인이 차단될 수 있다. 오히려 소규모일수록 페이지 수가 적어 점검이 빠르고, 기초를 잡으면 콘텐츠 추가 시 효과가 바로 나타난다.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권장 감사 주기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규모별 권장 테크니컬 SEO 감사 주기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6개월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소규모 사이트 (100페이지 이하) 권장 전체 감사 주기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경보성 지표는 규모와 무관하게 매주 확인해야 한다.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실무 기준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3개월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활성 사이트 (100~1,000페이지) 권장 주기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발행량이 늘수록 점검 빈도도 늘려야 한다.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실무 기준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매월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대형 이커머스·미디어 (1,000페이지 이상) 권장 주기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 수가 많을수록 오류가 누적될 위험도 커진다.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실무 기준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5952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규모와 관계없이 색인 급감·5xx 급증·보안 경고 같은 경보성 지표는 매주 모니터링해야 한다.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AI 시대의 우선순위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시대, 검색엔진이 가장 중요하게 보는 요소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요소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중요도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브랜드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매우 높음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실제 경험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매우 높음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구조화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매우 높음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엔티티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매우 높음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Core Web Vitals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높음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내부 링크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높음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권위 링크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높음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최신성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높음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801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항목(CWV·내부 링크)도 중요하지만, 브랜드·경험·구조화·엔티티가 최상위로 올라온 점이 AI 시대의 특징이다.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실무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감사를 시작하기 전, 4가지를 먼저 준비하라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idc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Search Console 권한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 뷰어 권한으로 구글 서치콘솔 접근 권한을 확보한다.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idc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서치어드바이저 등록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서치어드바이저에 사이트가 정상 등록되어 있는지 확인한다.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hart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도구 연동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GA4·네이버 애널리틱스가 정상적으로 데이터를 수집하고 있는지 점검한다.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filetex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파일 확보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운영 중인 robots.txt·sitemap.xml 파일을 미리 확보해 비교 기준을 만든다.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실행 주체 결정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SEO, 누가 맡아야 하는가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사업주·마케팅 실무자가 가장 먼저 마주치는 현실적 질문이다.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285232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395728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내부팀이 직접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9536" y="2798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IN-HOUSE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311810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개발팀이 이미 있다면 빠른 실행이 가능하다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43448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구조를 가장 잘 아는 사람이 직접 고친다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783787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장기적으로 외주비를 절감할 수 있다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59536" y="405627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단, 전문 지식 학습에 초기 시간이 필요하다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263640" y="2157984"/>
            <a:ext cx="5285232" cy="4169664"/>
          </a:xfrm>
          <a:prstGeom prst="roundRect">
            <a:avLst>
              <a:gd name="adj" fmla="val 1974"/>
            </a:avLst>
          </a:prstGeom>
          <a:solidFill>
            <a:srgbClr val="FFE9DC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2395728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외주·대행사 활용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56248" y="2798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6248" y="311810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 인력 없이도 빠르게 시작할 수 있다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42351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다양한 산업 경험에서 나온 노하우를 활용한다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75086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진단·우선순위 도출에 특히 유용하다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556248" y="405627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5회차에서 다룰 '좋은 대행사 판별법'이 중요해지는 지점이다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크롤링과 색인: AI도 읽을 수 있는 기반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robots.txt부터 llms.txt까지, 검색엔진과 AI 크롤러에게 사이트를 어떻게 안내할지 결정하는 영역이다.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크롤링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크롤링 (Crawling)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검색엔진이 사이트를 발견하는 과정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 로봇이 사이트의 페이지를 읽고 저장하는 과정으로, 구글과 네이버 모두에게 동일하게 중요하다.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서치어드바이저 공식 가이드에 따르면 robots.txt는 반드시 루트(root) 경로에 위치해야 하며, 그렇지 않으면 크롤러가 규칙을 인식하지 못한다.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014216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114068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1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 차단 오류 없음 — 주요 경로가 막혀 있지 않은가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636008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2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XML Sitemap이 유효하고 최신 상태로 유지되는가</a:t>
            </a:r>
            <a:endParaRPr lang="en-US" sz="1260" dirty="0"/>
          </a:p>
        </p:txBody>
      </p:sp>
      <p:sp>
        <p:nvSpPr>
          <p:cNvPr id="16" name="Shape 11"/>
          <p:cNvSpPr/>
          <p:nvPr/>
        </p:nvSpPr>
        <p:spPr>
          <a:xfrm>
            <a:off x="566928" y="5733288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7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583314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5495544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3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링크 구조가 건강해 Crawl Budget 낭비를 방지하는가</a:t>
            </a:r>
            <a:endParaRPr lang="en-US" sz="1260" dirty="0"/>
          </a:p>
        </p:txBody>
      </p:sp>
      <p:sp>
        <p:nvSpPr>
          <p:cNvPr id="19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색인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색인 (Indexing)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결과에 등록되는 과정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크롤링된 페이지 중 의도한 페이지만 검색 결과에 노출되도록 관리하는 과정이다.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색인 단계에서 가장 흔한 실수는 canonical 태그 오류와 noindex 정책 충돌로, 의도하지 않게 페이지가 검색에서 사라지는 결과를 낳는다.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014216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114068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1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canonical 태그가 정확한 대표 URL을 가리키는가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636008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2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noindex 정책과 실제 노출 의도가 충돌하지 않는가</a:t>
            </a:r>
            <a:endParaRPr lang="en-US" sz="1260" dirty="0"/>
          </a:p>
        </p:txBody>
      </p:sp>
      <p:sp>
        <p:nvSpPr>
          <p:cNvPr id="16" name="Shape 11"/>
          <p:cNvSpPr/>
          <p:nvPr/>
        </p:nvSpPr>
        <p:spPr>
          <a:xfrm>
            <a:off x="566928" y="5733288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7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583314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5495544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3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콘텐츠·URL 문제와 Soft 404가 해결되어 있는가</a:t>
            </a:r>
            <a:endParaRPr lang="en-US" sz="1260" dirty="0"/>
          </a:p>
        </p:txBody>
      </p:sp>
      <p:sp>
        <p:nvSpPr>
          <p:cNvPr id="19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크롤 거버넌스 기초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robots.txt와 sitemap.xml, 역할이 다르다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접근을 '제한'하는 파일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크롤러에게 어디를 들어가지 말지 알려준다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9316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반드시 도메인 루트 경로에 위치해야 한다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9857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잘못 설정하면 전체 사이트 색인이 차단될 수 있다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55884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네이버는 특히 robots.txt 위치·문법 오류에 엄격하다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sitemap.xml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존재를 '알리는' 파일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크롤러에게 어떤 페이지들이 존재하는지 알려준다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292608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콘텐츠의 발견·색인 속도를 크게 높여준다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25343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네이버는 사이트맵 제출 여부의 영향이 특히 크다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60273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정기적으로 최신 상태로 갱신해야 효과가 유지된다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새로운 표준 후보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llms.txt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크롤러를 위한 안내 파일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2024년 제레미 하워드가 제안한 파일로, AI 모델에게 사이트의 핵심 콘텐츠를 마크다운 형태로 안내하는 것을 목표로 한다.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다만 공식 웹 표준(W3C·IETF)으로 채택된 것은 아니며, 구글의 존 뮬러는 이를 과거의 메타 키워드 태그와 비슷한 위치라고 언급한 바 있다 — 즉 구글은 명시적으로 활용하지 않는다. 반면 Anthropic·Perplexity 등 일부 AI 기업은 이를 참조한다고 밝혔다.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22910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32895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장점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비용이 거의 들지 않는 '옵션 가치'로, 손해볼 일이 적은 선택이다.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5518404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561825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5065776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1분기 기준 상위 10만 사이트의 약 12%만 도입했으며, 직접적인 인용 효과는 아직 제한적이다.</a:t>
            </a:r>
            <a:endParaRPr lang="en-US" sz="126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3종 크롤 거버넌스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 vs sitemap.xml vs llms.txt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90088"/>
                <a:gridCol w="2990088"/>
                <a:gridCol w="298094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robots.txt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sitemap.xml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llms.txt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목적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접근 제한 안내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페이지 존재 안내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AI용 콘텐츠 요약 안내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표준 여부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공식 웹 표준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공식 웹 표준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비공식 제안 (2024~)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구글 지원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지원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지원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명시적 미지원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기업 지원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크롤러별 상이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해당 없음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Anthropic·Perplexity 등 일부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구현 비용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낮음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낮음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매우 낮음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59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llms.txt는 '해서 손해볼 일은 없는' 저비용 옵션 가치 — 의무는 아니지만 검토할 가치는 있다.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LLMS.TXT 도입 현황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초기 단계, 그러나 무시할 수는 없는 흐름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12%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1분기 기준 상위 10만 사이트 중 llms.txt 도입 비율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소수지만 빠르게 늘고 있다.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Limy.ai, 5억건+ 봇 트래픽 분석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미지원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구글의 llms.txt 활용 여부 (존 뮬러 공식 언급)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 메타 키워드 태그와 비슷한 취급을 받는다.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Search Central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B2A 인프라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에이전틱 웹 시대, llms.txt의 새로운 역할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Cursor·Claude Code 같은 AI 코딩 도구가 routinely 참조한다.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업계 관찰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크롤러 구분 실무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학습봇과 인용봇, robots.txt에서 다르게 다뤄야 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1회차에서 다룬 학습봇(ai_crawl)과 인용봇(ai_cite) 구분은 실제로 robots.txt 설정에 반영할 수 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학습봇 차단 시 트레이드오프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GPTBot 같은 학습용 크롤러를 차단하면 미래 모델 학습 데이터에서는 빠지지만, 현재 운영 중인 서비스의 실시간 인용에는 영향이 없을 수 있다.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인용봇은 대부분 허용이 유리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ChatGPT-User 같은 실시간 참조형 크롤러를 막으면 사용자가 직접 질문할 때 내 콘텐츠가 답변에 인용될 기회 자체가 사라진다.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wre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User-agent별 개별 설정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robots.txt는 User-agent 단위로 다른 규칙을 줄 수 있어, 학습봇과 인용봇에 다른 정책을 적용하는 것이 기술적으로 가능하다.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53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정책은 주기적으로 재검토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기업들의 크롤러 정책과 User-agent 목록은 계속 추가되므로, 분기 단위로 robots.txt를 재확인하는 것이 안전하다.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메타 정보 최적화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Title·메타 디스크립션, 글자 수까지 정확히 맞춰라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Title Tag — 공백 포함 50~60자가 이상적인 길이다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Meta Description — 120~160자 사이로 작성해 잘리지 않게 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태그는 페이지당 1개만 사용하고 중복을 제거한다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키워드는 Title과 H1·H2에 자연스럽게 배치한다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이미지에 Alt 태그로 콘텐츠 정보를 명시한다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제목 태그 계층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→ H2 → H3, 레벨을 건너뛰지 마라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올바른 구조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GOOD 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(페이지 제목) 1개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0537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└ H2 (대주제) 여러 개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03397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└ H3 (소주제) 필요한 만큼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30647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검색엔진이 문서의 논리 구조를 정확히 파악한다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잘못된 구조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BAD EXAMPLE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없이 H2부터 시작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279440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→ H3로 H2를 건너뜀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03397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페이지에 H1 태그 2개 이상 사용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32841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검색엔진이 문서 구조를 혼란스럽게 해석한다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성능 추가 점검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놓치기 쉬운 성능 최적화 4가지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페이지 파일 크기를 최소화한다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사용하지 않는 HTML 태그를 제거한다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인라인 스타일을 제거하고 외부 CSS로 분리한다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 힌트(preload·prefetch)로 핵심 자원을 미리 불러온다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사용성 점검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사용성(Usability) 점검 6가지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93851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5374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iframe을 제거하거나 최소화한다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285292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293851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25374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Flash 콘텐츠를 완전히 제거한다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4975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파비콘을 명확히 지정한다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389863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4975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기기에서 읽기 가능한 폰트 크기를 사용한다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4858756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4457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버튼·링크가 터치하기에 충분한 탭 타겟 크기를 갖는다</a:t>
            </a:r>
            <a:endParaRPr lang="en-US" sz="1260" dirty="0"/>
          </a:p>
        </p:txBody>
      </p:sp>
      <p:sp>
        <p:nvSpPr>
          <p:cNvPr id="19" name="Shape 12"/>
          <p:cNvSpPr/>
          <p:nvPr/>
        </p:nvSpPr>
        <p:spPr>
          <a:xfrm>
            <a:off x="6099048" y="477316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5" descr="/home/claude/seo_cours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636" y="4858756"/>
            <a:ext cx="158008" cy="1580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56248" y="4457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 뷰포트 메타태그를 정확히 설정한다</a:t>
            </a:r>
            <a:endParaRPr lang="en-US" sz="1260" dirty="0"/>
          </a:p>
        </p:txBody>
      </p:sp>
      <p:sp>
        <p:nvSpPr>
          <p:cNvPr id="22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균형 잡힌 시각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AMP (Accelerated Mobile Pages)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한때의 표준, 지금은 선택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구글이 모바일 페이지 속도 개선을 위해 주도했던 기술로, 한때는 사실상 권장 표준처럼 취급되었다.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그러나 구글은 2021년 이후 AMP를 검색 순위의 필수 요건에서 제외했다. Core Web Vitals 자체가 충족된다면 AMP 없이도 동일한 평가를 받을 수 있어, 지금은 '여러 선택지 중 하나'로 보는 것이 정확하다.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입장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AMP를 새로 도입할 필요는 없으며, 기존에 쓰고 있다면 유지하되 신규 투자 우선순위는 낮춰도 된다.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헷갈리기 쉬운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Canonical 태그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페이지의 '대표' 지정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내용이 같거나 비슷한 여러 URL 중 검색엔진이 색인해야 할 '대표 URL'을 명시적으로 지정하는 태그다.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예를 들어 같은 상품이 ?color=red, ?color=blue 같은 파라미터로 여러 URL을 갖는다면, 모든 변형 페이지가 기본 URL을 canonical로 가리키게 해야 중복 콘텐츠로 평가받지 않는다.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흔한 실수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canonical이 자기 자신이 아닌 다른 페이지를 잘못 가리켜, 의도한 페이지가 색인에서 누락되는 경우가 많다.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Web Vitals와 페이지 속도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1초를 기다리는 동안 떠나버리는 시대다. 구글이 공식 순위 요소로 채택한 3대 속도 지표를 완전히 이해한다.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Web Vitals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구글의 페이지 경험 평가 지표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사용자가 페이지를 이용할 때 느끼는 로딩 속도·반응성·시각적 안정성을 정량화한 구글의 공식 순위 요소다.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품질과 검색 의도 충족도가 경쟁사와 비슷한 경우, Core Web Vitals 점수가 우수한 페이지가 순위 경쟁에서 유리하게 작용할 수 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014216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114068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LCP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Largest Contentful Paint — 가장 큰 콘텐츠가 화면에 나타나는 로딩 속도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636008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Interaction to Next Paint — 클릭 등 상호작용에 반응하는 속도</a:t>
            </a:r>
            <a:endParaRPr lang="en-US" sz="1260" dirty="0"/>
          </a:p>
        </p:txBody>
      </p:sp>
      <p:sp>
        <p:nvSpPr>
          <p:cNvPr id="16" name="Shape 11"/>
          <p:cNvSpPr/>
          <p:nvPr/>
        </p:nvSpPr>
        <p:spPr>
          <a:xfrm>
            <a:off x="566928" y="5733288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7" name="Image 3" descr="/home/claude/seo_course/icons/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583314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5495544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CLS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Cumulative Layout Shift — 레이아웃이 갑자기 흔들리는 정도</a:t>
            </a:r>
            <a:endParaRPr lang="en-US" sz="1260" dirty="0"/>
          </a:p>
        </p:txBody>
      </p:sp>
      <p:sp>
        <p:nvSpPr>
          <p:cNvPr id="19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2026년 합격 기준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LCP · INP · CLS, 정확한 합격선을 외워두자</a:t>
            </a:r>
            <a:endParaRPr lang="en-US" sz="2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15184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지표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의미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2026 합격 기준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LCP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가장 큰 콘텐츠가 표시되는 로딩 속도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2.5초 이하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INP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상호작용에 반응하는 속도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200ms 이하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CLS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레이아웃이 흔들리는 정도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0.1 이하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9926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지표 중 INP(반응성)의 중요도가 2026년 기준 가장 빠르게 높아지고 있다.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이미지 최적화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최적화 4가지 실무 항목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WebP 포맷 사용 — 동일 품질에서 파일 크기를 크게 줄인다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Lazy Loading 적용 — 화면에 보이지 않는 이미지는 나중에 불러온다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압축 — 불필요한 메타데이터와 용량을 제거한다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width·height 속성 명시 — 레이아웃이 갑자기 흔들리는 것(CLS)을 막는다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JS·CSS 최적화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JS·CSS 최적화 4가지 실무 항목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Minify — 코드의 불필요한 공백·줄바꿈을 제거해 용량을 줄인다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불필요한 JS 제거 — 사용하지 않는 스크립트는 과감히 삭제한다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defer·async 속성 활용 — 스크립트 로딩이 렌더링을 막지 않게 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CDN 사용 — 정적 파일을 사용자와 가까운 서버에서 전달한다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서버 최적화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최적화 6가지 실무 항목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93851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5374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CDN(Cloudflare 등) — 전 세계 어디서든 빠르게 콘텐츠를 전달한다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285292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293851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25374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캐싱 전략 — 반복 요청에 대해 서버 부담을 줄인다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4975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Brotli·Gzip 압축 — 전송 데이터량을 줄여 로딩을 단축한다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381304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389863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4975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HTTP/2 — 여러 요청을 동시에 처리해 속도를 높인다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4858756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4457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HTTP/3 — 더 빠른 연결 설정으로 초기 로딩을 개선한다</a:t>
            </a:r>
            <a:endParaRPr lang="en-US" sz="1260" dirty="0"/>
          </a:p>
        </p:txBody>
      </p:sp>
      <p:sp>
        <p:nvSpPr>
          <p:cNvPr id="19" name="Shape 12"/>
          <p:cNvSpPr/>
          <p:nvPr/>
        </p:nvSpPr>
        <p:spPr>
          <a:xfrm>
            <a:off x="6099048" y="477316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20" name="Image 5" descr="/home/claude/seo_cours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636" y="4858756"/>
            <a:ext cx="158008" cy="1580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56248" y="4457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응답 시간 모니터링 — 병목 구간을 지속적으로 추적한다</a:t>
            </a:r>
            <a:endParaRPr lang="en-US" sz="1260" dirty="0"/>
          </a:p>
        </p:txBody>
      </p:sp>
      <p:sp>
        <p:nvSpPr>
          <p:cNvPr id="22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모바일 우선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 우선 색인, 선택이 아닌 기본값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구글은 데스크톱이 아닌 모바일 버전 페이지를 기준으로 색인하고 평가한다.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기준 자체가 모바일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데스크톱에서만 완벽한 사이트는 실제 평가에서 불리하다.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속도 격차가 더 크게 작용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 네트워크 환경에서는 속도 차이가 사용자 경험에 더 크게 반영된다.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한국은 특히 모바일 비중이 높다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트래픽의 75% 이상이 모바일에서 발생한다(1회차 참고).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53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테스트는 항상 모바일 기준으로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PageSpeed Insights에서 모바일 점수를 우선 확인하는 것이 실무 원칙이다.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실무 우선순위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Core Web Vitals 중 중요도가 가장 빠르게 높아지는 지표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INP(Interaction to Next Paint)는 사용자가 클릭·탭한 직후 화면이 얼마나 빨리 반응하는지를 측정한다. 트래픽 많은 템플릿(메인·상품 상세 페이지 등)을 우선 개선하는 것이 효율적이다.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Web Vitals 실무 가이드, 2026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측정 방식의 차이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실험실 데이터 vs 현장 데이터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Data vs Field Data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Web Vitals를 측정하는 방식에는 시뮬레이션 기반과 실사용자 기반, 두 가지가 있으며 결과가 다르게 나올 수 있다.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PageSpeed Insights의 '실험실 데이터'는 통제된 환경에서의 1회성 시뮬레이션이고, 구글 서치콘솔의 'Core Web Vitals 보고서'는 실제 사용자(CrUX)의 누적 데이터다. 실무에서는 두 데이터를 함께 봐야 정확한 그림을 얻는다.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22910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ge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32895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실험실 데이터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조건에서의 1회 측정값으로, 디버깅에 유용하다.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5518404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561825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5065776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데이터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방문자들의 누적 경험치로, 순위에 직접 반영되는 값이다.</a:t>
            </a:r>
            <a:endParaRPr lang="en-US" sz="126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우선순위 전략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페이지를 동시에 고칠 수는 없다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리소스는 한정적이다. 다음 기준으로 개선 순서를 정하는 것이 효율적이다.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트래픽이 많은 템플릿 우선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방문자가 가장 많이 보는 페이지 유형(메인·상품 상세 등)을 먼저 개선한다.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전환에 직결되는 페이지 우선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구매·문의·가입 페이지의 속도는 매출과 직접 연결된다.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wre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템플릿 단위로 개선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개별 페이지가 아니라 템플릿을 고치면 수백 개 페이지에 동시에 효과가 퍼진다.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53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후 반드시 재측정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수정이 실제로 지표를 개선했는지 PageSpeed Insights로 다시 확인한다.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속도와 이탈률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53%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 페이지 로딩이 3초를 넘기면 이탈하는 사용자 비율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속도는 SEO 지표를 넘어 실제 매출과 직결되는 문제다. Core Web Vitals 개선은 검색 순위뿐 아니라 전환율 자체를 끌어올리는 투자다.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Google·SOASTA Research, 모바일 사용자 행동 연구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이미지 최적화 심화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반응형 이미지로 한 단계 더 최적화하기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srcset 속성으로 화면 크기별 다른 해상도 이미지를 제공한다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sizes 속성으로 브라우저가 적절한 이미지를 선택하게 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모바일에는 불필요하게 큰 데스크톱용 이미지를 보내지 않는다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사용하는 CMS·플러그인이 반응형 이미지를 자동 생성하는지 확인한다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데이터와 보안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검색엔진과 AI에게 콘텐츠의 '의미'를 명시적으로 전달하고, 사이트의 신뢰를 기술적으로 보장하는 영역이다.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 (Structured Data)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Schema.org · JSON-LD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검색엔진과 AI가 콘텐츠의 성격과 구조를 명확히 파악할 수 있도록 표준화된 형식으로 정보를 표시하는 것이다.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AI 검색 시대로 접어들면서 구조화 데이터의 중요도가 폭증했다. AI가 답변을 합성할 때 구조화된 정보를 우선적으로 참조하기 때문이다.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체크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JSON-LD 형식으로 적용하고, 실제 콘텐츠와 스키마 내용이 정확히 일치해야 한다.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구조화 데이터 종류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콘텐츠에 어떤 스키마를 쓰는가</a:t>
            </a:r>
            <a:endParaRPr lang="en-US" sz="2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93392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스키마 종류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용도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Article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블로그·뉴스 등 일반 기사형 콘텐츠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FAQ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질문-답변 형태로 정리된 콘텐츠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LocalBusiness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오프라인 매장·지역 업체 정보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Product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판매 상품의 가격·재고·옵션 정보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Review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사용자 리뷰·평점 정보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Breadcrumb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사이트 내 페이지 경로 정보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구조화 데이터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데이터를 제대로 적용하면 생기는 4가지 효과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리치 스니펫 노출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별점·가격·이미지 등이 검색 결과에 추가로 표시되어 시각적으로 눈에 띈다.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trending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CTR 증가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정보가 풍부하게 보이는 결과는 일반 텍스트 링크보다 클릭률이 높다.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Overview 인용 가능성 증가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구조화된 정보는 AI가 답변을 합성할 때 우선적으로 참조하기 쉽다.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fingerprin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엔티티 이해 향상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검색엔진이 브랜드·상품·인물을 명확한 개체로 인식하는 데 도움을 준다.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보안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(Security)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신뢰의 기술적 기반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 적용을 비롯한 기술적 보안 조치로, 사이트가 안전하고 신뢰할 수 있음을 검증하는 영역이다.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보안은 사용자 신뢰뿐 아니라 검색엔진의 신뢰 평가에도 직결된다. HTTPS가 적용되지 않은 사이트는 브라우저에 경고가 표시되고 검색 노출에도 불리하다.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014216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114068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1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HTTPS를 사이트 전체에 적용하고 Mixed Content를 제거한다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636008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2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SSL 인증서 만료를 사전에 관리하고 자동 갱신을 설정한다</a:t>
            </a:r>
            <a:endParaRPr lang="en-US" sz="1260" dirty="0"/>
          </a:p>
        </p:txBody>
      </p:sp>
      <p:sp>
        <p:nvSpPr>
          <p:cNvPr id="16" name="Shape 11"/>
          <p:cNvSpPr/>
          <p:nvPr/>
        </p:nvSpPr>
        <p:spPr>
          <a:xfrm>
            <a:off x="566928" y="5733288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7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583314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5495544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3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악성 코드·해킹 시도를 정기적으로 모니터링한다</a:t>
            </a:r>
            <a:endParaRPr lang="en-US" sz="1260" dirty="0"/>
          </a:p>
        </p:txBody>
      </p:sp>
      <p:sp>
        <p:nvSpPr>
          <p:cNvPr id="19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보안 헤더 실무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놓치기 쉬운 보안 헤더 6가지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93851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5374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X-Frame-Options — 클릭재킹 공격을 방지한다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285292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293851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25374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X-Content-Type-Options — MIME 타입 스니핑을 방지한다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4975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HSTS — HTTPS 연결을 강제해 평문 통신을 막는다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381304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389863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4975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Referrer-Policy — 참조 정보 유출 범위를 제한한다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4858756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4457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DMARC — 메일 발신 인증으로 스푸핑을 방지한다</a:t>
            </a:r>
            <a:endParaRPr lang="en-US" sz="1260" dirty="0"/>
          </a:p>
        </p:txBody>
      </p:sp>
      <p:sp>
        <p:nvSpPr>
          <p:cNvPr id="19" name="Shape 12"/>
          <p:cNvSpPr/>
          <p:nvPr/>
        </p:nvSpPr>
        <p:spPr>
          <a:xfrm>
            <a:off x="6099048" y="477316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20" name="Image 5" descr="/home/claude/seo_cours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636" y="4858756"/>
            <a:ext cx="158008" cy="1580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56248" y="4457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 lang 속성 — 언어를 명시해 검색엔진의 이해를 돕는다</a:t>
            </a:r>
            <a:endParaRPr lang="en-US" sz="1260" dirty="0"/>
          </a:p>
        </p:txBody>
      </p:sp>
      <p:sp>
        <p:nvSpPr>
          <p:cNvPr id="22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내부 링크 구조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내부 링크 vs 고아 페이지 문제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내부 링크의 특징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구글이 높이 평가하는 구조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문맥상 자연스럽게 연결되는 링크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3829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페이지와 하위 페이지가 명확히 연결됨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5468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주제끼리 묶여서 연결됨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38328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중요 페이지가 최소 한 곳 이상에서 링크됨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고아 페이지 문제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ORPHAN PAGE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어디에서도 링크되지 않아 크롤러가 발견 못 함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292608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사이트맵에만 있고 내부 링크가 없는 경우가 흔함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27538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콘텐츠가 색인되지 않는 주요 원인이 됨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60273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정기적인 내부 링크 점검으로 사전에 발견해야 함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통합 실전 전략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당장, 구글과 네이버를 동시에 잡는 체크</a:t>
            </a:r>
            <a:endParaRPr lang="en-US" sz="25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64240" cy="914400"/>
        </p:xfrm>
        <a:graphic>
          <a:graphicData uri="http://schemas.openxmlformats.org/drawingml/2006/table">
            <a:tbl>
              <a:tblPr/>
              <a:tblGrid>
                <a:gridCol w="3685032"/>
                <a:gridCol w="3685032"/>
                <a:gridCol w="369417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테크니컬 필수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대응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GEO 대응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HTTPS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실제 경험 기반 서술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FAQ 섹션 추가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sitemap.xml 제출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사례 중심 작성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서두 요약 박스 배치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robots.txt 정비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같은 느낌 제거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비교표로 구조화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모바일 최적화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엔티티 명확화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명확한 정의문 배치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빠른 속도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질문형 소제목 구조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브랜드 엔티티 구축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59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열을 동시에 채우면 테크니컬·콘텐츠·GEO 세 마리 토끼를 한 번의 작업으로 잡을 수 있다.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다국어·다지역 사이트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Hreflang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언어·지역 버전 안내 태그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언어·국가 버전의 페이지가 있을 때, 검색엔진에게 어떤 버전을 어떤 사용자에게 보여줄지 알려주는 태그다.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한국어·영어 등 다국어 사이트를 운영한다면 필수적으로 설정해야 하며, 누락 시 잘못된 언어 버전이 검색 결과에 노출될 수 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대상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언어·단일 국가만 대상으로 한다면 적용하지 않아도 무방하다.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적용 우선순위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데이터, 어떤 페이지부터 적용할까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1순위 · 홈페이지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Organization 스키마로 브랜드 정체성을 가장 먼저 명확히 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28346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fl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535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79806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2순위 · FAQ·질문형 콘텐츠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145536"/>
            <a:ext cx="10186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FAQ 스키마는 구현이 쉽고 리치 결과 효과가 빠르게 나타난다.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fl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3순위 · 글 목록·블로그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10186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Article 스키마로 작성자·발행일 등 신뢰 신호를 명시한다.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566928" y="517550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fla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9437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513892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4순위 · 상품·서비스 페이지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70432" y="5486400"/>
            <a:ext cx="10186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Product·LocalBusiness 스키마로 가격·재고·위치 정보를 구조화한다.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흔한 실수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데이터, 이 3가지 실수만 피하면 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콘텐츠와 불일치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스키마에 적은 정보와 실제 페이지 내용이 다르면 리치 결과에서 제외되거나 수동 조치를 받을 수 있다.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보이지 않는 정보까지 마크업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사용자에게 실제로 보이지 않는 정보를 스키마에만 추가하는 것은 스팸성 마크업으로 간주될 수 있다.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없이 바로 배포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Rich Results Test로 사전 검증 없이 배포하면 문법 오류로 마크업 전체가 무효화될 위험이 있다.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list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실전 테크니컬 SEO 감사 프로세스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지금까지 배운 5대 영역을 실제 프로젝트에서 어떤 순서로, 어떻게 점검하고 고치는지 정리한다.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실전 감사 7단계 (1/2)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등록 확인부터 성능 점검까지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46604" cy="4160520"/>
          </a:xfrm>
          <a:prstGeom prst="roundRect">
            <a:avLst>
              <a:gd name="adj" fmla="val 3232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84248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624328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 · 등록 확인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3319272"/>
            <a:ext cx="21808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Search Console·서치어드바이저에 정상 등록되어 있는지, 소유권 인증이 유효한지 확인한다.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3095244" y="35707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06140" y="1783080"/>
            <a:ext cx="2546604" cy="4160520"/>
          </a:xfrm>
          <a:prstGeom prst="roundRect">
            <a:avLst>
              <a:gd name="adj" fmla="val 3232"/>
            </a:avLst>
          </a:prstGeom>
          <a:solidFill>
            <a:srgbClr val="342F8C"/>
          </a:solidFill>
          <a:ln/>
        </p:spPr>
      </p:sp>
      <p:sp>
        <p:nvSpPr>
          <p:cNvPr id="10" name="Text 8"/>
          <p:cNvSpPr/>
          <p:nvPr/>
        </p:nvSpPr>
        <p:spPr>
          <a:xfrm>
            <a:off x="3589020" y="1984248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89020" y="2624328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 · 접근성 점검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89020" y="3319272"/>
            <a:ext cx="21808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robots.txt와 sitemap.xml에 크롤러가 정상적으로 접근 가능한지, 최신 상태인지 점검한다.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5934456" y="35707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45352" y="1783080"/>
            <a:ext cx="2546604" cy="4160520"/>
          </a:xfrm>
          <a:prstGeom prst="roundRect">
            <a:avLst>
              <a:gd name="adj" fmla="val 3232"/>
            </a:avLst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984248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28232" y="2624328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 · 상태 코드 점검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28232" y="3319272"/>
            <a:ext cx="21808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URL을 크롤링해 404·5xx 오류와 리다이렉트 체인 등 크롤링 실패 원인을 찾는다.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8773668" y="35707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084564" y="1783080"/>
            <a:ext cx="2546604" cy="4160520"/>
          </a:xfrm>
          <a:prstGeom prst="roundRect">
            <a:avLst>
              <a:gd name="adj" fmla="val 3232"/>
            </a:avLst>
          </a:prstGeom>
          <a:solidFill>
            <a:srgbClr val="342F8C"/>
          </a:solidFill>
          <a:ln/>
        </p:spPr>
      </p:sp>
      <p:sp>
        <p:nvSpPr>
          <p:cNvPr id="20" name="Text 18"/>
          <p:cNvSpPr/>
          <p:nvPr/>
        </p:nvSpPr>
        <p:spPr>
          <a:xfrm>
            <a:off x="9267444" y="1984248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67444" y="2624328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4 · 색인 점검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67444" y="3319272"/>
            <a:ext cx="21808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canonical·noindex 설정과 중복 URL 문제로 인한 의도치 않은 색인 차단을 해결한다.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실전 감사 7단계 (2/2)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속도 확인부터 개선안 도출까지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8424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6243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5 · 속도 점검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3319272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PageSpeed Insights로 LCP·INP·CLS 실측 데이터를 확인하고 모바일 우선 최적화 상태를 점검한다.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4041648" y="35707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352544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342F8C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98424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35424" y="26243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6 · 구조화 데이터 점검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35424" y="3319272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Rich Results Test로 JSON-LD 유효성을 검증하고 실제 본문과 스키마 내용 일치 여부를 확인한다.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7827264" y="35707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98424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21040" y="26243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7 · 개선안 도출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21040" y="3319272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발견된 이슈를 영향도(P0~P2)와 수정 난이도 기준으로 정렬해 담당자와 예상 효과를 함께 정리한다.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빈출 오류 조치 가이드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감사에서 자주 발견되는 오류와 즉시 실행 가능한 해결책</a:t>
            </a:r>
            <a:endParaRPr lang="en-US" sz="25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93392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4480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오류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영향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조치 방법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robots.txt 주요 경로 차단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색인 불가 — 검색 결과에서 완전 제외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차단 규칙 제거 후 URL 검사로 재크롤링 요청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canonical 대상 오류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잘못된 URL이 대표로 색인됨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대표 URL을 명확히 지정하고 올바른 canonical 삽입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5xx 서버 오류 증가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크롤링 실패, Crawl Budget 낭비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서버 로그 분석 후 호스팅·애플리케이션 오류 점검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리다이렉트 체인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크롤링 지연, 링크 주스 손실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최종 URL로 직접 연결하도록 단순화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CLS 높음 (0.1 초과)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사용자 이탈, CWV 미달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이미지 width·height 명시, 동적 요소 영역 예약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Schema 내용 불일치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리치 결과 제외, 수동 조치 위험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실제 본문과 JSON-LD 내용을 정확히 일치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우선순위 분류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발견된 이슈, 어떤 순서로 고칠 것인가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93851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5374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— 색인 차단급 이슈, 가장 먼저 해결해야 이후 작업이 의미를 가진다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4975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P1 — 트래픽에 직접 영향을 주는 이슈, P0 해결 후 즉시 진행한다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85875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44577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P2 — 장기적 개선 항목, 여유가 있을 때 순차적으로 처리한다</a:t>
            </a:r>
            <a:endParaRPr lang="en-US" sz="1260" dirty="0"/>
          </a:p>
        </p:txBody>
      </p:sp>
      <p:sp>
        <p:nvSpPr>
          <p:cNvPr id="13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무료 실전 도구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바로 써볼 수 있는 무료 점검 도구 4가지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37286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45845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0574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PageSpeed Insights — Core Web Vitals 실험실·현장 데이터를 모두 확인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0175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서치콘솔 — 색인 상태·검색 성과·구조화 데이터 오류를 한눈에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서치어드바이저 — 네이버 전용 크롤링·색인 상태 점검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525322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533881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9377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Rich Results Test — 구조화 데이터가 실제로 유효한지 즉시 검증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실무 마무리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 이후 자주 나오는 질문들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워드프레스·카페24 등 CMS마다 점검 방법이 다른가요?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75234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75234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원칙은 동일하지만 설정 위치가 다르다. 대부분의 CMS는 SEO 플러그인으로 메타태그·sitemap·구조화 데이터를 비교적 쉽게 관리할 수 있다.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402336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도메인을 이전할 때 가장 조심해야 할 것은?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444398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44398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301 리다이렉트를 모든 기존 URL에 정확히 매핑하고, 이전 전후로 Search Console·서치어드바이저에 모두 등록해 색인 손실을 모니터링해야 한다.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다음 단계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무료 도구로 충분하지 않다면, 유료 도구를 고려할 시점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규모가 커지면 무료 도구만으로는 점검 속도가 따라가지 못한다.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Screaming Frog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수천 개 페이지를 한 번에 크롤링해 기술적 오류를 자동으로 찾아주는 대표적인 데스크톱 도구다.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29768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Ahrefs·Semrush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70432" y="464515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백링크·키워드·기술적 이슈를 통합적으로 추적하는 유료 SEO 플랫폼으로, 4회차 링크빌딩에서 다시 다룬다.</a:t>
            </a:r>
            <a:endParaRPr lang="en-US" sz="123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핵심 4가지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9202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검색엔진은 수집 → 정제 → 색인 → 랭킹의 4단계로 사이트 품질을 결정한다.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30060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30060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5대 영역(크롤링·색인·속도·구조화 데이터·보안)은 모든 SEO·GEO의 기초다.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0919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40919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robots.txt·sitemap.xml은 필수, llms.txt는 저비용 옵션 가치로 검토할 만하다.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51777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51777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감사는 7단계로 진행하며, P0 이슈부터 우선 해결해야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844784" cy="960120"/>
          </a:xfrm>
          <a:prstGeom prst="roundRect">
            <a:avLst>
              <a:gd name="adj" fmla="val 8571"/>
            </a:avLst>
          </a:prstGeom>
          <a:solidFill>
            <a:srgbClr val="EEF0F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943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사이트의 기초를 다졌다면, 이제 콘텐츠로 채울 시간이다.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SESSION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249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 &amp; AEO 실전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80238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8" name="Image 0" descr="/home/claude/seo_course/icons/arrowr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3897478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52044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 분석부터 토픽 클러스터 설계까지, 콘텐츠 SEO 4대 전략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73202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1" name="Image 1" descr="/home/claude/seo_course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4827118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45008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중심 설계와 역피라미드 작성법으로 AEO 콘텐츠 직접 만들기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566166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4" name="Image 2" descr="/home/claude/seo_course/icons/arrowr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5756758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537972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예시·나쁜 예시로 비교하는 즉답형 콘텐츠 작성 원칙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자료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서치어드바이저 공식 가이드. robots.txt·sitemap.xml 운영 정책.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Search Central. Core Web Vitals 및 페이지 경험 가이드.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Limy.ai (2026). llms.txt 도입률 및 봇 트래픽 분석 리포트.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for Developers. 구조화 데이터(Schema.org) 가이드.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넥스트티 (next-t.co.kr). 학습봇·인용봇 및 GEO 실무 인사이트.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4069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실무 감사 체크리스트, 2026년 기준.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· 테크니컬 SEO 완전정복</dc:title>
  <dc:subject>PptxGenJS Presentation</dc:subject>
  <dc:creator>SEO·AEO·GEO 5주 과정</dc:creator>
  <cp:lastModifiedBy>SEO·AEO·GEO 5주 과정</cp:lastModifiedBy>
  <cp:revision>1</cp:revision>
  <dcterms:created xsi:type="dcterms:W3CDTF">2026-06-18T12:27:20Z</dcterms:created>
  <dcterms:modified xsi:type="dcterms:W3CDTF">2026-06-18T12:27:20Z</dcterms:modified>
</cp:coreProperties>
</file>